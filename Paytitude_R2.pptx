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 1</c:v>
                </c:pt>
              </c:strCache>
            </c:strRef>
          </c:tx>
          <c:dPt>
            <c:idx val="0"/>
            <c:spPr>
              <a:solidFill>
                <a:srgbClr val="C9D3DE"/>
              </a:solidFill>
              <a:ln>
                <a:noFill/>
              </a:ln>
            </c:spPr>
          </c:dPt>
          <c:dPt>
            <c:idx val="1"/>
            <c:spPr>
              <a:solidFill>
                <a:srgbClr val="C9D3DE"/>
              </a:solidFill>
              <a:ln>
                <a:noFill/>
              </a:ln>
            </c:spPr>
          </c:dPt>
          <c:dPt>
            <c:idx val="2"/>
            <c:spPr>
              <a:solidFill>
                <a:srgbClr val="1D4F96"/>
              </a:solidFill>
              <a:ln>
                <a:noFill/>
              </a:ln>
            </c:spPr>
          </c:dPt>
          <c:dPt>
            <c:idx val="3"/>
            <c:spPr>
              <a:solidFill>
                <a:srgbClr val="002E6E"/>
              </a:solidFill>
              <a:ln>
                <a:noFill/>
              </a:ln>
            </c:spPr>
          </c:dPt>
          <c:dPt>
            <c:idx val="4"/>
            <c:spPr>
              <a:solidFill>
                <a:srgbClr val="00BAF2"/>
              </a:solidFill>
              <a:ln>
                <a:noFill/>
              </a:ln>
            </c:spPr>
          </c:dPt>
          <c:cat>
            <c:strRef>
              <c:f>Sheet1!$A$2:$A$6</c:f>
              <c:strCache>
                <c:ptCount val="5"/>
                <c:pt idx="0">
                  <c:v>Eligible</c:v>
                </c:pt>
                <c:pt idx="1">
                  <c:v>Exposed</c:v>
                </c:pt>
                <c:pt idx="2">
                  <c:v>Activated</c:v>
                </c:pt>
                <c:pt idx="3">
                  <c:v>Repeat</c:v>
                </c:pt>
                <c:pt idx="4">
                  <c:v>Incremental MTU</c:v>
                </c:pt>
              </c:strCache>
            </c:strRef>
          </c:cat>
          <c:val>
            <c:numRef>
              <c:f>Sheet1!$B$2:$B$6</c:f>
              <c:numCache>
                <c:formatCode>General</c:formatCode>
                <c:ptCount val="5"/>
                <c:pt idx="0">
                  <c:v>29.9</c:v>
                </c:pt>
                <c:pt idx="1">
                  <c:v>12.0</c:v>
                </c:pt>
                <c:pt idx="2">
                  <c:v>2.77</c:v>
                </c:pt>
                <c:pt idx="3">
                  <c:v>1.38</c:v>
                </c:pt>
                <c:pt idx="4">
                  <c:v>0.78</c:v>
                </c:pt>
              </c:numCache>
            </c:numRef>
          </c:val>
        </c:ser>
        <c:dLbls>
          <c:numFmt formatCode="0.0#" sourceLinked="0"/>
          <c:txPr>
            <a:bodyPr/>
            <a:lstStyle/>
            <a:p>
              <a:pPr>
                <a:defRPr sz="1200" b="1">
                  <a:solidFill>
                    <a:srgbClr val="1B2733"/>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9D3DE"/>
            </a:solidFill>
          </a:ln>
        </c:spPr>
        <c:txPr>
          <a:bodyPr/>
          <a:lstStyle/>
          <a:p>
            <a:pPr>
              <a:defRPr sz="1100">
                <a:solidFill>
                  <a:srgbClr val="1B2733"/>
                </a:solidFill>
                <a:latin typeface="Calibri"/>
              </a:defRPr>
            </a:pPr>
          </a:p>
        </c:txPr>
        <c:crossAx val="-2113994440"/>
        <c:crosses val="autoZero"/>
        <c:auto val="1"/>
        <c:lblAlgn val="ctr"/>
        <c:lblOffset val="100"/>
        <c:noMultiLvlLbl val="0"/>
      </c:catAx>
      <c:valAx>
        <c:axId val="-2113994440"/>
        <c:scaling>
          <c:max val="36.0"/>
          <c:min val="0.0"/>
        </c:scaling>
        <c:delete/>
        <c:axPos val="b"/>
        <c:majorTickMark val="out"/>
        <c:minorTickMark val="none"/>
        <c:tickLblPos val="nextTo"/>
        <c:crossAx val="-2068027336"/>
        <c:crosses val="autoZero"/>
      </c:valAx>
    </c:plotArea>
    <c:dispBlanksAs val="gap"/>
  </c:chart>
  <c:txPr>
    <a:bodyPr/>
    <a:lstStyle/>
    <a:p>
      <a:pPr>
        <a:defRPr sz="11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 1</c:v>
                </c:pt>
              </c:strCache>
            </c:strRef>
          </c:tx>
          <c:dPt>
            <c:idx val="0"/>
            <c:spPr>
              <a:solidFill>
                <a:srgbClr val="002E6E"/>
              </a:solidFill>
              <a:ln>
                <a:noFill/>
              </a:ln>
            </c:spPr>
          </c:dPt>
          <c:dPt>
            <c:idx val="1"/>
            <c:spPr>
              <a:solidFill>
                <a:srgbClr val="1D4F96"/>
              </a:solidFill>
              <a:ln>
                <a:noFill/>
              </a:ln>
            </c:spPr>
          </c:dPt>
          <c:dPt>
            <c:idx val="2"/>
            <c:spPr>
              <a:solidFill>
                <a:srgbClr val="00BAF2"/>
              </a:solidFill>
              <a:ln>
                <a:noFill/>
              </a:ln>
            </c:spPr>
          </c:dPt>
          <c:dPt>
            <c:idx val="3"/>
            <c:spPr>
              <a:solidFill>
                <a:srgbClr val="00BAF2"/>
              </a:solidFill>
              <a:ln>
                <a:noFill/>
              </a:ln>
            </c:spPr>
          </c:dPt>
          <c:dPt>
            <c:idx val="4"/>
            <c:spPr>
              <a:solidFill>
                <a:srgbClr val="00BAF2"/>
              </a:solidFill>
              <a:ln>
                <a:noFill/>
              </a:ln>
            </c:spPr>
          </c:dPt>
          <c:cat>
            <c:strRef>
              <c:f>Sheet1!$A$2:$A$6</c:f>
              <c:strCache>
                <c:ptCount val="5"/>
                <c:pt idx="0">
                  <c:v>Base case</c:v>
                </c:pt>
                <c:pt idx="1">
                  <c:v>Gap-days-only floor</c:v>
                </c:pt>
                <c:pt idx="2">
                  <c:v>Settlement share ½</c:v>
                </c:pt>
                <c:pt idx="3">
                  <c:v>Activation ½</c:v>
                </c:pt>
                <c:pt idx="4">
                  <c:v>Repeat rate ½</c:v>
                </c:pt>
              </c:strCache>
            </c:strRef>
          </c:cat>
          <c:val>
            <c:numRef>
              <c:f>Sheet1!$B$2:$B$6</c:f>
              <c:numCache>
                <c:formatCode>General</c:formatCode>
                <c:ptCount val="5"/>
                <c:pt idx="0">
                  <c:v>2660.0</c:v>
                </c:pt>
                <c:pt idx="1">
                  <c:v>1860.0</c:v>
                </c:pt>
                <c:pt idx="2">
                  <c:v>1330.0</c:v>
                </c:pt>
                <c:pt idx="3">
                  <c:v>1330.0</c:v>
                </c:pt>
                <c:pt idx="4">
                  <c:v>1330.0</c:v>
                </c:pt>
              </c:numCache>
            </c:numRef>
          </c:val>
        </c:ser>
        <c:dLbls>
          <c:numFmt formatCode="#,##0" sourceLinked="0"/>
          <c:txPr>
            <a:bodyPr/>
            <a:lstStyle/>
            <a:p>
              <a:pPr>
                <a:defRPr sz="1200" b="1">
                  <a:solidFill>
                    <a:srgbClr val="1B2733"/>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9D3DE"/>
            </a:solidFill>
          </a:ln>
        </c:spPr>
        <c:txPr>
          <a:bodyPr/>
          <a:lstStyle/>
          <a:p>
            <a:pPr>
              <a:defRPr sz="1000">
                <a:solidFill>
                  <a:srgbClr val="1B2733"/>
                </a:solidFill>
                <a:latin typeface="Calibri"/>
              </a:defRPr>
            </a:pPr>
          </a:p>
        </c:txPr>
        <c:crossAx val="-2113994440"/>
        <c:crosses val="autoZero"/>
        <c:auto val="1"/>
        <c:lblAlgn val="ctr"/>
        <c:lblOffset val="100"/>
        <c:noMultiLvlLbl val="0"/>
      </c:catAx>
      <c:valAx>
        <c:axId val="-2113994440"/>
        <c:scaling>
          <c:max val="3500.0"/>
          <c:min val="0.0"/>
        </c:scaling>
        <c:delete/>
        <c:axPos val="b"/>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day, merchants open Paytm to see their money arrive, then open another app to spend it. We are Team Paytitude, and our Round 2 submission is about that second moment. We stayed on Track B and on the same base of merchants we studied in Round 1: Paytm-collecting merchants who pay suppliers by UPI. What changed is how precisely we define them and how simply we solve for them. Our proposal is Settle &amp; Pay: a Pay supplier button on the screen where the merchant already watches today's collections. It settles the money into the merchant's own account and pays the supplier by UPI in one flow. It has no loan and no cashback. In the next fifteen slides we show why the switch happens only when a step disappears, which merchants feel that step most, how the flow works within RBI's payout rules, how we will validate it, and the 90-day pilot that tells Paytm whether to scale, fix or stop.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argument on one page. The problem: 1.57 crore merchants collect on Paytm devices, but their supplier payments, the business UPI they actually choose an app for, go through PhonePe or Google Pay. The insight: merchants don't switch apps for parity. They switch when a step disappears, and the step that hurts is waiting for settlement or moving money between accounts. The solution is Settle &amp; Pay: settle today's collections into the merchant's own account and pay the supplier by UPI, in one flow, free when it funds a supplier payment, with no credit and no cashback. Validation: the twenty-user prototype test is being run now and its results go on slide ten. The only data so far is a synthetic stress-test set, which we label as such everywhere. Impact: our base case is a 1.6-point rise in Paytm's share of the segment's vendor UPI value, about ₹2,660 crore a year, at roughly ₹3,200 per extra active merchant, inside a very wide range. That range is why our ask is a 90-day randomised pilot rather than a launch. The band at the bottom shows what we changed since Round 1 and why.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one merchant and one rupee. On the left, the merchant opens Paytm for Business and watches today's collections arrive: twelve thousand four hundred rupees. Paytm owns that moment. 1.57 crore merchants now pay for Paytm devices, and every Soundbox announcement reinforces it. [click] But when the supplier wants six thousand eight hundred rupees, the merchant opens a different app. Paytm for Business is built to collect: its listing shows collections, settlements, statements and loans, but no supplier payments. So the outgoing business payment, the one where the merchant chooses the app, goes to PhonePe or Google Pay. That is part of why Paytm sits at about eight per cent of UPI volume while PhonePe has forty-six and Google Pay thirty-two. In our synthetic stress-test data, not one of fifty merchants used Paytm as their main business-payment app. [click] Same merchant. Same money. Different app. The rest of the deck is about closing that gap.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thing to get right is what kind of problem this is. It is not UPI adoption. In our stress-test data, forty-one of fifty merchants already pay vendors by UPI at least two or three times a week. And because any UPI app can pay any QR, the merchant, not the supplier, decides which app gets the payment. So Paytm is competing with a habit, mostly PhonePe and Google Pay. [click] Why do merchants stay where they are? Because every app has the same steps, staff already know the app, and the supplier's QR arrives on WhatsApp and opens in whatever app is already there. 'Same steps hain toh app kyun badlu?' Parity features can't beat that. [click] But two causes are different, because Paytm can remove them: waiting for collections to settle before paying the supplier, and moving money from the settlement account to the account the merchant pays from. [click] That is the design rule for everything that follows. Remove a step, and merchants have a reason to switch. Match a step, and they don't.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that step looks like today, for a merchant whose collections settle the next day or into a separate current account. [click] Step one: open Paytm for Business and see twelve thousand four hundred rupees collected. [click] Step two: settle it. Paytm does offer manual instant settlement, but in our stress-test data many merchants complaining about the wait don't seem to know it exists. The default, in Paytm's own words, is 'usually within T+1 days'. So the merchant either triggers settlement or waits. [click] Step three: if the money lands in a current account that the UPI app doesn't pay from, move it. [click] Step four: switch to PhonePe or Google Pay, scan the supplier's QR and enter the PIN. Four steps, two apps, and sometimes a wait. Note the competitor: PhonePe charges one to three rupees for Settle Now, once an hour, not after eleven at night, and only for selected merchants. And then its merchant still has to pay from another screen. Nobody joins the two halves of this journey.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should Paytm start with? Not everyone. We sort Paytm collectors on two things Paytm can observe or ask: when and where their collections settle, and whether they state a real friction. [click] Three quadrants are weak. Same-day merchants with no friction mostly say no: 'my settlement comes the same day, so what's the problem?' Next-day merchants without a friction say they'd try it but keep their current app. The same-day-with-friction box looks interesting, but seven of its nine rows are contradictory in the dataset, so we don't build on it. [click] The target is the top-right quadrant: money arrives the next day or lands in a separate account, and the merchant feels it. Sixteen of fifty rows; seven yes, nine maybe, and not a single no. Compare Group 3: one yes, thirteen no. These are synthetic counts, so they show the logic, not the market size. The good news is that the first two rules are already in Paytm's settlement data. Our first data request is the share of device merchants on next-day or separate-account settlement, and how many already use manual instant settlement.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product. On the left are collections Paytm has already received for the merchant today: twelve thousand four hundred rupees. [click] Leg one: Paytm settles exactly what the supplier needs, six thousand eight hundred rupees, into the merchant's own current account. No PIN is needed for a settlement, and it is free when it funds a supplier payment. [click] Leg two: the merchant pays the supplier by UPI from that account with one PIN. The supplier sees an ordinary UPI credit. [click] Notice what we do not do. Paytm does not pay the supplier straight out of collections. Under RBI's 2025 payment aggregator directions, as summarised by two law firms, third-party payouts are only for merchants above forty lakh turnover, and only to the customer-facing payee. Most of our merchants don't qualify, so the money always becomes the merchant's first. Because we only settle money already received, the design avoids pre-funding; compliance still has to confirm that treatment and the conditional free pricing. And there is no loan, no cashback, and the merchant's personal UPI stays untouched.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journey, before and after. The top row is today: four steps, two apps, and a wait. [click] The bottom row is Settle &amp; Pay. The merchant taps 'Pay supplier' on the collections screen they already have open. They pick or scan the supplier, see the verified name, and choose 'Settle &amp; Pay from today's collections, free'. Then one UPI PIN. Behind that PIN, Paytm settles the amount into the merchant's own account and the payment goes out once the credit is confirmed. [click] Two apps become one. Four steps become one flow of three taps. And the wait for settlement drops from up to a working day to seconds or minutes, which we still have to confirm bank by bank. One honest caveat: the pilot's light build reaches the same outcome with a hand-off to the Paytm UPI app, supplier prefilled. The fully in-app flow comes only after the scale gate.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it looks like. The transition you just saw is the after-flow collapsing into this strip: one flow, three screens. [click] Screen one is the collections screen merchants already open many times a day. The only new element is the Pay supplier button. [click] Screen two is the funding choice. The merchant has scanned the supplier's QR from WhatsApp; Paytm shows the verified name before anything moves. The default is 'Settle &amp; Pay from today's collections: twelve thousand four hundred available, free, into current account ending forty-eight twenty-one'. Paying from the bank balance stays available. Then one PIN. [click] Screen three confirms the payment and, importantly, shows the settlement summary: collected, paid to suppliers, still to settle. The merchant sees one ledger of their own money. [click] And the next morning, the notification that restarts the habit: yesterday's collections are ready for supplier payments. Everything here is a concept prototype with fictional names; it is what we put in front of merchants in the validation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would this hold without cashback? Start with what is not different. [click] Early settlement on its own is table stakes: Paytm has it, PhonePe sells it. Paying from a current account, saved suppliers, name checks and history are in every app. We build them because merchants expect them, but they are not the pitch. What is different today is settlement and supplier payment in one flow, free when it funds a supplier, at the moment the merchant needs it. [click] And the trigger repeats every day. Each morning, yesterday's collections are ready: that is the prompt. The merchant pays in one flow, the settlement notice records it, and the saved supplier makes the next payment one tap. No reward is needed because the trigger is the merchant's own business rhythm. [click] Can PhonePe copy it? Yes, within months, but only for merchants whose collections PhonePe handles. For Paytm's merchants, only Paytm holds the unsettled collections. That turns the contest into one about who handles collections, which is Paytm's core business. It is a head start, not a moat, so speed matters.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[Rewrite this talk track once results are in.] This slide reports our solution validation, and today it is deliberately a template. We will not show results we don't have. The method: a prototype walkthrough of the three screens you just saw, a concept test where each merchant looks at their own last five vendor payments and says which they would make with Settle &amp; Pay, and three commitment asks. We recruit owners or whoever chooses the payment app, who collect on Paytm and pay vendors by UPI weekly, and we record their settlement profile. [click] We report behaviour, not liking: the share who completed the task unaided, the share who named a specific supplier payment they would move, the share who agreed to a follow-up trial, and the share who switched on instant settlement in the session. [click] We also show context, how many already used instant settlement and the top objections, and the limits: a small, non-random sample and a prototype without real money movement. The synthetic dataset and our exploratory conversations sit below, clearly separated from this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it buildable? Almost every piece exists. [click] The collections screen exists; we add a button. Manual instant settlement exists and has since 2018; we settle the exact amount and waive the fee when it funds a supplier. Paytm already runs a UPI payer app with name checks and QR scanning; for the pilot we hand off to it with the supplier prefilled, and only after the scale gate do we build the payer flow inside Paytm for Business. The new engineering is the one-PIN sequencing, waiting for the settlement credit before the payment goes out, and the morning prompt. Staff access for multi-payer shops is a pilot arm, not core scope. [click] So the pilot build is small, weeks not months; the scale build is medium to large. The real work is four dependencies, marked in red: compliance on conditional free settlement, partner banks supporting UPI on settlement current accounts, settlement-to-credit time by bank, and whether manual instant settlement is live for every eligible device merchant.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Go-to-market uses channels Paytm already controls. The segment comes straight from settlement data, starting in two cities with dense Soundbox coverage. [click] Acquire: the Soundbox field force visits a list built from that data, and the collections screen carries a banner. The message names the removed step and the price: 'Aaj ki collection se aaj ka supplier, bina charge.' Our base case assumes forty per cent of eligible merchants are reached in year one. [click] Activate: the first payment is made together during the visit, and the prompt appears at the moment of payment. The message answers the biggest worry: 'Personal UPI wahi rahega', your personal UPI stays as it is. Target: fifteen to twenty-five per cent make a first payment within thirty days. [click] Retain: the morning push, the settlement notice and the WhatsApp receipt. Target: half of activated merchants pay twice or more in each of months two and three. Partners are settlement banks now and billing software later, and field incentives pay on repeat use, never on sign-ups.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pilot is how Paytm buys certainty cheaply. [click] Days zero to fourteen: pull settlement data, build the eligible list, randomise by field-agent territory so neighbouring shops don't contaminate each other, pull a sixty-day baseline, and ship the light build. Days fifteen to thirty: the treatment group goes live and gets field visits. Days thirty-one to sixty: the visits stop, so repeat use is measured without a person in the shop. Days sixty-one to ninety: durability, including an optional sub-arm where free settlement goes back to standard pricing. About three thousand merchants in treatment, three thousand in control; arm B adds staff access for multi-payer shops. The main metric is the intention-to-treat change in Paytm's share of business UPI value, measured on a consented Account Aggregator panel of about three hundred merchants per arm; target, four to six points. [click] The gates are fixed in advance. Scale if activation is at least fifteen per cent, repeat at least forty, and the share lift is significant. Revise if activation is fine but the habit guard is under fifteen per cent. Stop if activation is under eight.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it worth? Everything here is a projection, not a forecast. [click] The funnel: about 29.9 lakh eligible merchants, 12.0 lakh reached in year one, about 2.77 lakh activating, 1.38 lakh repeating, and about 78,000 who are new Paytm business payers, net of those who already sometimes pay through Paytm. [click] The main metric: Paytm's share of the segment's vendor UPI value rises by about 1.6 points by the end of year one, or 3.9 points across the merchants we actually reach. That is about ₹2,660 crore a year of incremental GMV, out of a ₹1.7 lakh crore pool that we treat as addressable, not as ours. It costs about ₹3,200 per incremental active merchant, mostly field visits, or under a paisa per rupee of GMV. [click] The range is wide, ₹240 to 19,400 crore, because three assumptions multiply: the settlement share, activation and repeat. Halve any one and every output halves. If only payments made on settlement-gap days move, we keep about ₹1,860 crore. And durability is designed in: no cashback, and three pilot tests of whether use holds once the visits and the free price stop.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should Paytm decide today? Not a launch. A 90-day pilot, with the gates fixed before it starts. The risks are real, and each has a response. The segment may be smaller than our proxy, so we size it from settlement data in the first two weeks. Habit may win even when the step is gone, which is why the habit-guard metric and the 'revise' gate exist. PhonePe can copy the feature, and we expect it to, but only for merchants whose collections it handles. And compliance may read free conditional settlement differently, so we settle only received funds and confirm before launch. [click] Remember the merchant from slide two: money in on Paytm, money out somewhere else. With Settle &amp; Pay, both phones are Paytm. Same merchant, same money, same app. [click] The roadmap: two weeks of data and compliance checks to gate zero, which needs at least a quarter of device merchants on next-day or separate-account settlement, the ninety-day pilot to gate one, and only then the full payer flow and city waves. The ask is simple: approve the pilot, three thousand against three thousand merchants in two cities.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annexures carry the evidence, model and design detail behind every number. They are not part of the fifteen-slide deck.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Annexure A1 lists every type of evidence we use and its status.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Annexure A2: full segment tables from the synthetic dataset.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Annexure A3: the full flow and how it fails safely.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Annexure A4: pilot metrics and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Annexure A5: the model behind slide 14.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Annexure A6: dependencies and risks.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Annexure A7: what changed since Round 1 and why.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Annexure A8: the guide for the validation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E6E"/>
        </a:solidFill>
        <a:effectLst/>
      </p:bgPr>
    </p:bg>
    <p:spTree>
      <p:nvGrpSpPr>
        <p:cNvPr id="1" name=""/>
        <p:cNvGrpSpPr/>
        <p:nvPr/>
      </p:nvGrpSpPr>
      <p:grpSpPr/>
      <p:sp>
        <p:nvSpPr>
          <p:cNvPr id="2" name="Eyebrow"/>
          <p:cNvSpPr txBox="1"/>
          <p:nvPr/>
        </p:nvSpPr>
        <p:spPr>
          <a:xfrm>
            <a:off x="731520" y="777240"/>
            <a:ext cx="7315200" cy="274320"/>
          </a:xfrm>
          <a:prstGeom prst="rect">
            <a:avLst/>
          </a:prstGeom>
          <a:noFill/>
        </p:spPr>
        <p:txBody>
          <a:bodyPr wrap="square" lIns="36576" rIns="36576" tIns="36576" bIns="36576" anchor="t">
            <a:noAutofit/>
          </a:bodyPr>
          <a:lstStyle/>
          <a:p>
            <a:pPr algn="l"/>
            <a:r>
              <a:rPr sz="1200" b="1" i="0">
                <a:solidFill>
                  <a:srgbClr val="A9C1E0"/>
                </a:solidFill>
                <a:latin typeface="Calibri"/>
              </a:rPr>
              <a:t>PAYTM UPI GROWTH CHALLENGE  ·  TRACK B  ·  ROUND 2 FINAL SUBMISSION</a:t>
            </a:r>
          </a:p>
        </p:txBody>
      </p:sp>
      <p:sp>
        <p:nvSpPr>
          <p:cNvPr id="3" name="Title"/>
          <p:cNvSpPr txBox="1"/>
          <p:nvPr/>
        </p:nvSpPr>
        <p:spPr>
          <a:xfrm>
            <a:off x="731520" y="1325880"/>
            <a:ext cx="7040880" cy="2651760"/>
          </a:xfrm>
          <a:prstGeom prst="rect">
            <a:avLst/>
          </a:prstGeom>
          <a:noFill/>
        </p:spPr>
        <p:txBody>
          <a:bodyPr wrap="square" lIns="36576" rIns="36576" tIns="36576" bIns="36576" anchor="t">
            <a:noAutofit/>
          </a:bodyPr>
          <a:lstStyle/>
          <a:p>
            <a:pPr algn="l">
              <a:lnSpc>
                <a:spcPct val="95000"/>
              </a:lnSpc>
            </a:pPr>
            <a:r>
              <a:rPr sz="5200" b="1" i="0">
                <a:solidFill>
                  <a:srgbClr val="FFFFFF"/>
                </a:solidFill>
                <a:latin typeface="Calibri"/>
              </a:rPr>
              <a:t>Settle &amp; Pay:</a:t>
            </a:r>
          </a:p>
          <a:p>
            <a:pPr algn="l">
              <a:lnSpc>
                <a:spcPct val="95000"/>
              </a:lnSpc>
              <a:spcBef>
                <a:spcPts val="600"/>
              </a:spcBef>
            </a:pPr>
            <a:r>
              <a:rPr sz="3200" b="1" i="0">
                <a:solidFill>
                  <a:srgbClr val="FFFFFF"/>
                </a:solidFill>
                <a:latin typeface="Calibri"/>
              </a:rPr>
              <a:t>making Paytm the place merchants spend the money they see arrive</a:t>
            </a:r>
          </a:p>
        </p:txBody>
      </p:sp>
      <p:sp>
        <p:nvSpPr>
          <p:cNvPr id="4" name="Subtitle"/>
          <p:cNvSpPr txBox="1"/>
          <p:nvPr/>
        </p:nvSpPr>
        <p:spPr>
          <a:xfrm>
            <a:off x="731520" y="4160520"/>
            <a:ext cx="6858000" cy="365760"/>
          </a:xfrm>
          <a:prstGeom prst="rect">
            <a:avLst/>
          </a:prstGeom>
          <a:noFill/>
        </p:spPr>
        <p:txBody>
          <a:bodyPr wrap="square" lIns="36576" rIns="36576" tIns="36576" bIns="36576" anchor="t">
            <a:noAutofit/>
          </a:bodyPr>
          <a:lstStyle/>
          <a:p>
            <a:pPr algn="l"/>
            <a:r>
              <a:rPr sz="1800" b="0" i="0">
                <a:solidFill>
                  <a:srgbClr val="A9C1E0"/>
                </a:solidFill>
                <a:latin typeface="Calibri"/>
              </a:rPr>
              <a:t>Growing Paytm usage among merchants as UPI payers</a:t>
            </a:r>
          </a:p>
        </p:txBody>
      </p:sp>
      <p:sp>
        <p:nvSpPr>
          <p:cNvPr id="5" name="Team"/>
          <p:cNvSpPr txBox="1"/>
          <p:nvPr/>
        </p:nvSpPr>
        <p:spPr>
          <a:xfrm>
            <a:off x="731520" y="4983480"/>
            <a:ext cx="6858000" cy="868680"/>
          </a:xfrm>
          <a:prstGeom prst="rect">
            <a:avLst/>
          </a:prstGeom>
          <a:noFill/>
        </p:spPr>
        <p:txBody>
          <a:bodyPr wrap="square" lIns="36576" rIns="36576" tIns="36576" bIns="36576" anchor="t">
            <a:noAutofit/>
          </a:bodyPr>
          <a:lstStyle/>
          <a:p>
            <a:pPr algn="l"/>
            <a:r>
              <a:rPr sz="2200" b="1" i="0">
                <a:solidFill>
                  <a:srgbClr val="FFFFFF"/>
                </a:solidFill>
                <a:latin typeface="Calibri"/>
              </a:rPr>
              <a:t>Team Paytitude</a:t>
            </a:r>
          </a:p>
          <a:p>
            <a:pPr algn="l">
              <a:spcBef>
                <a:spcPts val="400"/>
              </a:spcBef>
            </a:pPr>
            <a:r>
              <a:rPr sz="1400" b="0" i="0">
                <a:solidFill>
                  <a:srgbClr val="A9C1E0"/>
                </a:solidFill>
                <a:latin typeface="Calibri"/>
              </a:rPr>
              <a:t>9 October 2026</a:t>
            </a:r>
          </a:p>
        </p:txBody>
      </p:sp>
      <p:sp>
        <p:nvSpPr>
          <p:cNvPr id="6" name="cover_body"/>
          <p:cNvSpPr/>
          <p:nvPr/>
        </p:nvSpPr>
        <p:spPr>
          <a:xfrm>
            <a:off x="8366760" y="777240"/>
            <a:ext cx="2743200" cy="5257800"/>
          </a:xfrm>
          <a:prstGeom prst="roundRect">
            <a:avLst>
              <a:gd name="adj" fmla="val 9000"/>
            </a:avLst>
          </a:prstGeom>
          <a:solidFill>
            <a:srgbClr val="1A223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7" name="cover_screen"/>
          <p:cNvSpPr/>
          <p:nvPr/>
        </p:nvSpPr>
        <p:spPr>
          <a:xfrm>
            <a:off x="8449056" y="958291"/>
            <a:ext cx="2578608" cy="4912156"/>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8" name="cover_speaker"/>
          <p:cNvSpPr/>
          <p:nvPr/>
        </p:nvSpPr>
        <p:spPr>
          <a:xfrm>
            <a:off x="9509760" y="841247"/>
            <a:ext cx="457200" cy="54864"/>
          </a:xfrm>
          <a:prstGeom prst="roundRect">
            <a:avLst>
              <a:gd name="adj" fmla="val 50000"/>
            </a:avLst>
          </a:prstGeom>
          <a:solidFill>
            <a:srgbClr val="3A45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cover_header"/>
          <p:cNvSpPr/>
          <p:nvPr/>
        </p:nvSpPr>
        <p:spPr>
          <a:xfrm>
            <a:off x="8449056" y="958291"/>
            <a:ext cx="2578608" cy="384048"/>
          </a:xfrm>
          <a:prstGeom prst="rect">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100" b="1" i="0">
                <a:solidFill>
                  <a:srgbClr val="FFFFFF"/>
                </a:solidFill>
                <a:latin typeface="Calibri"/>
              </a:rPr>
              <a:t>Paytm for Business</a:t>
            </a:r>
          </a:p>
        </p:txBody>
      </p:sp>
      <p:sp>
        <p:nvSpPr>
          <p:cNvPr id="10" name="TextBox 9"/>
          <p:cNvSpPr txBox="1"/>
          <p:nvPr/>
        </p:nvSpPr>
        <p:spPr>
          <a:xfrm>
            <a:off x="8558784" y="1479499"/>
            <a:ext cx="2359152" cy="274320"/>
          </a:xfrm>
          <a:prstGeom prst="rect">
            <a:avLst/>
          </a:prstGeom>
          <a:noFill/>
        </p:spPr>
        <p:txBody>
          <a:bodyPr wrap="square" lIns="36576" rIns="36576" tIns="36576" bIns="36576" anchor="t">
            <a:noAutofit/>
          </a:bodyPr>
          <a:lstStyle/>
          <a:p>
            <a:pPr algn="l"/>
            <a:r>
              <a:rPr sz="1100" b="0" i="0">
                <a:solidFill>
                  <a:srgbClr val="5B6B7C"/>
                </a:solidFill>
                <a:latin typeface="Calibri"/>
              </a:rPr>
              <a:t>Today's collections</a:t>
            </a:r>
          </a:p>
        </p:txBody>
      </p:sp>
      <p:sp>
        <p:nvSpPr>
          <p:cNvPr id="11" name="TextBox 10"/>
          <p:cNvSpPr txBox="1"/>
          <p:nvPr/>
        </p:nvSpPr>
        <p:spPr>
          <a:xfrm>
            <a:off x="8558784" y="1753819"/>
            <a:ext cx="2359152" cy="502920"/>
          </a:xfrm>
          <a:prstGeom prst="rect">
            <a:avLst/>
          </a:prstGeom>
          <a:noFill/>
        </p:spPr>
        <p:txBody>
          <a:bodyPr wrap="square" lIns="36576" rIns="36576" tIns="36576" bIns="36576" anchor="t">
            <a:noAutofit/>
          </a:bodyPr>
          <a:lstStyle/>
          <a:p>
            <a:pPr algn="l"/>
            <a:r>
              <a:rPr sz="2800" b="1" i="0">
                <a:solidFill>
                  <a:srgbClr val="002E6E"/>
                </a:solidFill>
                <a:latin typeface="Calibri"/>
              </a:rPr>
              <a:t>₹12,400</a:t>
            </a:r>
          </a:p>
        </p:txBody>
      </p:sp>
      <p:sp>
        <p:nvSpPr>
          <p:cNvPr id="12" name="TextBox 11"/>
          <p:cNvSpPr txBox="1"/>
          <p:nvPr/>
        </p:nvSpPr>
        <p:spPr>
          <a:xfrm>
            <a:off x="8558784" y="2393899"/>
            <a:ext cx="2359152" cy="365760"/>
          </a:xfrm>
          <a:prstGeom prst="rect">
            <a:avLst/>
          </a:prstGeom>
          <a:noFill/>
        </p:spPr>
        <p:txBody>
          <a:bodyPr wrap="square" lIns="36576" rIns="36576" tIns="36576" bIns="36576" anchor="t">
            <a:noAutofit/>
          </a:bodyPr>
          <a:lstStyle/>
          <a:p>
            <a:pPr algn="l"/>
            <a:r>
              <a:rPr sz="1200" b="1" i="0">
                <a:solidFill>
                  <a:srgbClr val="1B2733"/>
                </a:solidFill>
                <a:latin typeface="Calibri"/>
              </a:rPr>
              <a:t>+₹350  </a:t>
            </a:r>
            <a:r>
              <a:rPr sz="1200" b="0" i="0">
                <a:solidFill>
                  <a:srgbClr val="5B6B7C"/>
                </a:solidFill>
                <a:latin typeface="Calibri"/>
              </a:rPr>
              <a:t>Ravi K.</a:t>
            </a:r>
            <a:r>
              <a:rPr sz="1000" b="0" i="0">
                <a:solidFill>
                  <a:srgbClr val="5B6B7C"/>
                </a:solidFill>
                <a:latin typeface="Calibri"/>
              </a:rPr>
              <a:t>   10:42</a:t>
            </a:r>
          </a:p>
        </p:txBody>
      </p:sp>
      <p:cxnSp>
        <p:nvCxnSpPr>
          <p:cNvPr id="13" name="Connector 12"/>
          <p:cNvCxnSpPr/>
          <p:nvPr/>
        </p:nvCxnSpPr>
        <p:spPr>
          <a:xfrm>
            <a:off x="8558784" y="2777947"/>
            <a:ext cx="2359152" cy="0"/>
          </a:xfrm>
          <a:prstGeom prst="line">
            <a:avLst/>
          </a:prstGeom>
          <a:ln w="9525">
            <a:solidFill>
              <a:srgbClr val="F3F5F8"/>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8558784" y="2832811"/>
            <a:ext cx="2359152" cy="365760"/>
          </a:xfrm>
          <a:prstGeom prst="rect">
            <a:avLst/>
          </a:prstGeom>
          <a:noFill/>
        </p:spPr>
        <p:txBody>
          <a:bodyPr wrap="square" lIns="36576" rIns="36576" tIns="36576" bIns="36576" anchor="t">
            <a:noAutofit/>
          </a:bodyPr>
          <a:lstStyle/>
          <a:p>
            <a:pPr algn="l"/>
            <a:r>
              <a:rPr sz="1200" b="1" i="0">
                <a:solidFill>
                  <a:srgbClr val="1B2733"/>
                </a:solidFill>
                <a:latin typeface="Calibri"/>
              </a:rPr>
              <a:t>+₹1,200  </a:t>
            </a:r>
            <a:r>
              <a:rPr sz="1200" b="0" i="0">
                <a:solidFill>
                  <a:srgbClr val="5B6B7C"/>
                </a:solidFill>
                <a:latin typeface="Calibri"/>
              </a:rPr>
              <a:t>Anita S.</a:t>
            </a:r>
            <a:r>
              <a:rPr sz="1000" b="0" i="0">
                <a:solidFill>
                  <a:srgbClr val="5B6B7C"/>
                </a:solidFill>
                <a:latin typeface="Calibri"/>
              </a:rPr>
              <a:t>   10:15</a:t>
            </a:r>
          </a:p>
        </p:txBody>
      </p:sp>
      <p:cxnSp>
        <p:nvCxnSpPr>
          <p:cNvPr id="15" name="Connector 14"/>
          <p:cNvCxnSpPr/>
          <p:nvPr/>
        </p:nvCxnSpPr>
        <p:spPr>
          <a:xfrm>
            <a:off x="8558784" y="3216859"/>
            <a:ext cx="2359152" cy="0"/>
          </a:xfrm>
          <a:prstGeom prst="line">
            <a:avLst/>
          </a:prstGeom>
          <a:ln w="9525">
            <a:solidFill>
              <a:srgbClr val="F3F5F8"/>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8558784" y="3271723"/>
            <a:ext cx="2359152" cy="365760"/>
          </a:xfrm>
          <a:prstGeom prst="rect">
            <a:avLst/>
          </a:prstGeom>
          <a:noFill/>
        </p:spPr>
        <p:txBody>
          <a:bodyPr wrap="square" lIns="36576" rIns="36576" tIns="36576" bIns="36576" anchor="t">
            <a:noAutofit/>
          </a:bodyPr>
          <a:lstStyle/>
          <a:p>
            <a:pPr algn="l"/>
            <a:r>
              <a:rPr sz="1200" b="1" i="0">
                <a:solidFill>
                  <a:srgbClr val="1B2733"/>
                </a:solidFill>
                <a:latin typeface="Calibri"/>
              </a:rPr>
              <a:t>+₹2,150  </a:t>
            </a:r>
            <a:r>
              <a:rPr sz="1200" b="0" i="0">
                <a:solidFill>
                  <a:srgbClr val="5B6B7C"/>
                </a:solidFill>
                <a:latin typeface="Calibri"/>
              </a:rPr>
              <a:t>UPI</a:t>
            </a:r>
            <a:r>
              <a:rPr sz="1000" b="0" i="0">
                <a:solidFill>
                  <a:srgbClr val="5B6B7C"/>
                </a:solidFill>
                <a:latin typeface="Calibri"/>
              </a:rPr>
              <a:t>   09:58</a:t>
            </a:r>
          </a:p>
        </p:txBody>
      </p:sp>
      <p:cxnSp>
        <p:nvCxnSpPr>
          <p:cNvPr id="17" name="Connector 16"/>
          <p:cNvCxnSpPr/>
          <p:nvPr/>
        </p:nvCxnSpPr>
        <p:spPr>
          <a:xfrm>
            <a:off x="8558784" y="3655771"/>
            <a:ext cx="2359152" cy="0"/>
          </a:xfrm>
          <a:prstGeom prst="line">
            <a:avLst/>
          </a:prstGeom>
          <a:ln w="9525">
            <a:solidFill>
              <a:srgbClr val="F3F5F8"/>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8558784" y="3710635"/>
            <a:ext cx="2359152" cy="365760"/>
          </a:xfrm>
          <a:prstGeom prst="rect">
            <a:avLst/>
          </a:prstGeom>
          <a:noFill/>
        </p:spPr>
        <p:txBody>
          <a:bodyPr wrap="square" lIns="36576" rIns="36576" tIns="36576" bIns="36576" anchor="t">
            <a:noAutofit/>
          </a:bodyPr>
          <a:lstStyle/>
          <a:p>
            <a:pPr algn="l"/>
            <a:r>
              <a:rPr sz="1200" b="1" i="0">
                <a:solidFill>
                  <a:srgbClr val="1B2733"/>
                </a:solidFill>
                <a:latin typeface="Calibri"/>
              </a:rPr>
              <a:t>+₹640  </a:t>
            </a:r>
            <a:r>
              <a:rPr sz="1200" b="0" i="0">
                <a:solidFill>
                  <a:srgbClr val="5B6B7C"/>
                </a:solidFill>
                <a:latin typeface="Calibri"/>
              </a:rPr>
              <a:t>Soundbox</a:t>
            </a:r>
            <a:r>
              <a:rPr sz="1000" b="0" i="0">
                <a:solidFill>
                  <a:srgbClr val="5B6B7C"/>
                </a:solidFill>
                <a:latin typeface="Calibri"/>
              </a:rPr>
              <a:t>   09:31</a:t>
            </a:r>
          </a:p>
        </p:txBody>
      </p:sp>
      <p:cxnSp>
        <p:nvCxnSpPr>
          <p:cNvPr id="19" name="Connector 18"/>
          <p:cNvCxnSpPr/>
          <p:nvPr/>
        </p:nvCxnSpPr>
        <p:spPr>
          <a:xfrm>
            <a:off x="8558784" y="4094683"/>
            <a:ext cx="2359152" cy="0"/>
          </a:xfrm>
          <a:prstGeom prst="line">
            <a:avLst/>
          </a:prstGeom>
          <a:ln w="9525">
            <a:solidFill>
              <a:srgbClr val="F3F5F8"/>
            </a:solidFill>
          </a:ln>
        </p:spPr>
        <p:style>
          <a:lnRef idx="2">
            <a:schemeClr val="accent1"/>
          </a:lnRef>
          <a:fillRef idx="0">
            <a:schemeClr val="accent1"/>
          </a:fillRef>
          <a:effectRef idx="0">
            <a:schemeClr val="accent1"/>
          </a:effectRef>
          <a:fontRef idx="minor">
            <a:schemeClr val="tx1"/>
          </a:fontRef>
        </p:style>
      </p:cxnSp>
      <p:sp>
        <p:nvSpPr>
          <p:cNvPr id="20" name="cover_cta"/>
          <p:cNvSpPr/>
          <p:nvPr/>
        </p:nvSpPr>
        <p:spPr>
          <a:xfrm>
            <a:off x="8558784" y="4405579"/>
            <a:ext cx="2359152" cy="502920"/>
          </a:xfrm>
          <a:prstGeom prst="roundRect">
            <a:avLst>
              <a:gd name="adj" fmla="val 30000"/>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400" b="1" i="0">
                <a:solidFill>
                  <a:srgbClr val="002E6E"/>
                </a:solidFill>
                <a:latin typeface="Calibri"/>
              </a:rPr>
              <a:t>Pay supplier</a:t>
            </a:r>
          </a:p>
        </p:txBody>
      </p:sp>
      <p:sp>
        <p:nvSpPr>
          <p:cNvPr id="21" name="TextBox 20"/>
          <p:cNvSpPr txBox="1"/>
          <p:nvPr/>
        </p:nvSpPr>
        <p:spPr>
          <a:xfrm>
            <a:off x="8558784" y="4999939"/>
            <a:ext cx="2359152" cy="274320"/>
          </a:xfrm>
          <a:prstGeom prst="rect">
            <a:avLst/>
          </a:prstGeom>
          <a:noFill/>
        </p:spPr>
        <p:txBody>
          <a:bodyPr wrap="square" lIns="36576" rIns="36576" tIns="36576" bIns="36576" anchor="t">
            <a:noAutofit/>
          </a:bodyPr>
          <a:lstStyle/>
          <a:p>
            <a:pPr algn="ctr"/>
            <a:r>
              <a:rPr sz="900" b="0" i="0">
                <a:solidFill>
                  <a:srgbClr val="5B6B7C"/>
                </a:solidFill>
                <a:latin typeface="Calibri"/>
              </a:rPr>
              <a:t>Concept prototype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EXECUTIVE SUMMARY</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002E6E"/>
                </a:solidFill>
                <a:latin typeface="Calibri"/>
              </a:rPr>
              <a:t>Paytm can win merchants' supplier payments by letting them spend collections where they already see them; a 90-day pilot will prove it before scale</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Sources: Paytm Q1 FY27 release (S1); NPCI app-wise data, Aug 2026 (S2); synthetic VOC workbook (S16); model in annexure workbook (Funnel_Model, Share_Metric, Unit_Costs). Full source list: annexure A1 and 'Sources' sheet.</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1</a:t>
            </a:r>
          </a:p>
        </p:txBody>
      </p:sp>
      <p:grpSp>
        <p:nvGrpSpPr>
          <p:cNvPr id="7" name="band1"/>
          <p:cNvGrpSpPr/>
          <p:nvPr/>
        </p:nvGrpSpPr>
        <p:grpSpPr>
          <a:xfrm>
            <a:off x="548640" y="1664208"/>
            <a:ext cx="11091671" cy="768096"/>
            <a:chOff x="548640" y="1664208"/>
            <a:chExt cx="11091671" cy="768096"/>
          </a:xfrm>
        </p:grpSpPr>
        <p:sp>
          <p:nvSpPr>
            <p:cNvPr id="8" name="Rectangle 7"/>
            <p:cNvSpPr/>
            <p:nvPr/>
          </p:nvSpPr>
          <p:spPr>
            <a:xfrm>
              <a:off x="548640" y="1664208"/>
              <a:ext cx="1600200" cy="768096"/>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109728" bIns="109728">
              <a:noAutofit/>
            </a:bodyPr>
            <a:lstStyle/>
            <a:p>
              <a:pPr algn="l"/>
              <a:r>
                <a:rPr sz="1200" b="1" i="0">
                  <a:solidFill>
                    <a:srgbClr val="FFFFFF"/>
                  </a:solidFill>
                  <a:latin typeface="Calibri"/>
                </a:rPr>
                <a:t>PROBLEM</a:t>
              </a:r>
            </a:p>
            <a:p>
              <a:pPr algn="l"/>
              <a:r>
                <a:rPr sz="1200" b="1" i="0">
                  <a:solidFill>
                    <a:srgbClr val="FFFFFF"/>
                  </a:solidFill>
                  <a:latin typeface="Calibri"/>
                </a:rPr>
                <a:t>&amp; INSIGHT</a:t>
              </a:r>
            </a:p>
          </p:txBody>
        </p:sp>
        <p:sp>
          <p:nvSpPr>
            <p:cNvPr id="9" name="Rectangle 8"/>
            <p:cNvSpPr/>
            <p:nvPr/>
          </p:nvSpPr>
          <p:spPr>
            <a:xfrm>
              <a:off x="2212848" y="1664208"/>
              <a:ext cx="7818120" cy="768096"/>
            </a:xfrm>
            <a:prstGeom prst="rect">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8016" rIns="128016" tIns="128016" bIns="128016">
              <a:noAutofit/>
            </a:bodyPr>
            <a:lstStyle/>
            <a:p>
              <a:pPr algn="l"/>
              <a:r>
                <a:rPr sz="1300" b="1" i="0">
                  <a:solidFill>
                    <a:srgbClr val="1B2733"/>
                  </a:solidFill>
                  <a:latin typeface="Calibri"/>
                </a:rPr>
                <a:t>1.57 crore merchants collect on Paytm devices, but pay suppliers on PhonePe or Google Pay. </a:t>
              </a:r>
              <a:r>
                <a:rPr sz="1300" b="0" i="0">
                  <a:solidFill>
                    <a:srgbClr val="1B2733"/>
                  </a:solidFill>
                  <a:latin typeface="Calibri"/>
                </a:rPr>
                <a:t>Merchants won't switch apps for parity. They switch when a step disappears: waiting for settlement, or moving money between accounts.</a:t>
              </a:r>
            </a:p>
          </p:txBody>
        </p:sp>
        <p:sp>
          <p:nvSpPr>
            <p:cNvPr id="10" name="Rounded Rectangle 9"/>
            <p:cNvSpPr/>
            <p:nvPr/>
          </p:nvSpPr>
          <p:spPr>
            <a:xfrm>
              <a:off x="11207579" y="1824228"/>
              <a:ext cx="432732" cy="201168"/>
            </a:xfrm>
            <a:prstGeom prst="roundRect">
              <a:avLst>
                <a:gd name="adj" fmla="val 50000"/>
              </a:avLst>
            </a:prstGeom>
            <a:solidFill>
              <a:srgbClr val="1E8E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FACT</a:t>
              </a:r>
            </a:p>
          </p:txBody>
        </p:sp>
        <p:sp>
          <p:nvSpPr>
            <p:cNvPr id="11" name="Rounded Rectangle 10"/>
            <p:cNvSpPr/>
            <p:nvPr/>
          </p:nvSpPr>
          <p:spPr>
            <a:xfrm>
              <a:off x="10920597" y="2071116"/>
              <a:ext cx="719714" cy="201168"/>
            </a:xfrm>
            <a:prstGeom prst="roundRect">
              <a:avLst>
                <a:gd name="adj" fmla="val 50000"/>
              </a:avLst>
            </a:prstGeom>
            <a:solidFill>
              <a:srgbClr val="F2B20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1B2733"/>
                  </a:solidFill>
                  <a:latin typeface="Calibri"/>
                </a:rPr>
                <a:t>SYNTHETIC</a:t>
              </a:r>
            </a:p>
          </p:txBody>
        </p:sp>
      </p:grpSp>
      <p:grpSp>
        <p:nvGrpSpPr>
          <p:cNvPr id="12" name="band2"/>
          <p:cNvGrpSpPr/>
          <p:nvPr/>
        </p:nvGrpSpPr>
        <p:grpSpPr>
          <a:xfrm>
            <a:off x="548640" y="2523744"/>
            <a:ext cx="11091671" cy="768096"/>
            <a:chOff x="548640" y="2523744"/>
            <a:chExt cx="11091671" cy="768096"/>
          </a:xfrm>
        </p:grpSpPr>
        <p:sp>
          <p:nvSpPr>
            <p:cNvPr id="13" name="Rectangle 12"/>
            <p:cNvSpPr/>
            <p:nvPr/>
          </p:nvSpPr>
          <p:spPr>
            <a:xfrm>
              <a:off x="548640" y="2523744"/>
              <a:ext cx="1600200" cy="768096"/>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109728" bIns="109728">
              <a:noAutofit/>
            </a:bodyPr>
            <a:lstStyle/>
            <a:p>
              <a:pPr algn="l"/>
              <a:r>
                <a:rPr sz="1200" b="1" i="0">
                  <a:solidFill>
                    <a:srgbClr val="FFFFFF"/>
                  </a:solidFill>
                  <a:latin typeface="Calibri"/>
                </a:rPr>
                <a:t>SOLUTION</a:t>
              </a:r>
            </a:p>
          </p:txBody>
        </p:sp>
        <p:sp>
          <p:nvSpPr>
            <p:cNvPr id="14" name="Rectangle 13"/>
            <p:cNvSpPr/>
            <p:nvPr/>
          </p:nvSpPr>
          <p:spPr>
            <a:xfrm>
              <a:off x="2212848" y="2523744"/>
              <a:ext cx="7818120" cy="768096"/>
            </a:xfrm>
            <a:prstGeom prst="rect">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8016" rIns="128016" tIns="128016" bIns="128016">
              <a:noAutofit/>
            </a:bodyPr>
            <a:lstStyle/>
            <a:p>
              <a:pPr algn="l"/>
              <a:r>
                <a:rPr sz="1300" b="1" i="0">
                  <a:solidFill>
                    <a:srgbClr val="1B2733"/>
                  </a:solidFill>
                  <a:latin typeface="Calibri"/>
                </a:rPr>
                <a:t>Settle &amp; Pay </a:t>
              </a:r>
              <a:r>
                <a:rPr sz="1300" b="0" i="0">
                  <a:solidFill>
                    <a:srgbClr val="1B2733"/>
                  </a:solidFill>
                  <a:latin typeface="Calibri"/>
                </a:rPr>
                <a:t>on the Paytm for Business collections screen: settle today's collections into the merchant's own account (no PIN), then pay the supplier by UPI (one PIN). Free when it funds a supplier payment. No credit, no cashback.</a:t>
              </a:r>
            </a:p>
          </p:txBody>
        </p:sp>
        <p:sp>
          <p:nvSpPr>
            <p:cNvPr id="15" name="Rounded Rectangle 14"/>
            <p:cNvSpPr/>
            <p:nvPr/>
          </p:nvSpPr>
          <p:spPr>
            <a:xfrm>
              <a:off x="10407961" y="2807208"/>
              <a:ext cx="1232350" cy="201168"/>
            </a:xfrm>
            <a:prstGeom prst="roundRect">
              <a:avLst>
                <a:gd name="adj" fmla="val 50000"/>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CONCEPT PROTOTYPE</a:t>
              </a:r>
            </a:p>
          </p:txBody>
        </p:sp>
      </p:grpSp>
      <p:grpSp>
        <p:nvGrpSpPr>
          <p:cNvPr id="16" name="band3"/>
          <p:cNvGrpSpPr/>
          <p:nvPr/>
        </p:nvGrpSpPr>
        <p:grpSpPr>
          <a:xfrm>
            <a:off x="548640" y="3383280"/>
            <a:ext cx="11091671" cy="768096"/>
            <a:chOff x="548640" y="3383280"/>
            <a:chExt cx="11091671" cy="768096"/>
          </a:xfrm>
        </p:grpSpPr>
        <p:sp>
          <p:nvSpPr>
            <p:cNvPr id="17" name="Rectangle 16"/>
            <p:cNvSpPr/>
            <p:nvPr/>
          </p:nvSpPr>
          <p:spPr>
            <a:xfrm>
              <a:off x="548640" y="3383280"/>
              <a:ext cx="1600200" cy="768096"/>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109728" bIns="109728">
              <a:noAutofit/>
            </a:bodyPr>
            <a:lstStyle/>
            <a:p>
              <a:pPr algn="l"/>
              <a:r>
                <a:rPr sz="1200" b="1" i="0">
                  <a:solidFill>
                    <a:srgbClr val="FFFFFF"/>
                  </a:solidFill>
                  <a:latin typeface="Calibri"/>
                </a:rPr>
                <a:t>VALIDATION</a:t>
              </a:r>
            </a:p>
          </p:txBody>
        </p:sp>
        <p:sp>
          <p:nvSpPr>
            <p:cNvPr id="18" name="Rectangle 17"/>
            <p:cNvSpPr/>
            <p:nvPr/>
          </p:nvSpPr>
          <p:spPr>
            <a:xfrm>
              <a:off x="2212848" y="3383280"/>
              <a:ext cx="7818120" cy="768096"/>
            </a:xfrm>
            <a:prstGeom prst="rect">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8016" rIns="128016" tIns="128016" bIns="128016">
              <a:noAutofit/>
            </a:bodyPr>
            <a:lstStyle/>
            <a:p>
              <a:pPr algn="l"/>
              <a:r>
                <a:rPr sz="1300" b="1" i="0">
                  <a:solidFill>
                    <a:srgbClr val="1B2733"/>
                  </a:solidFill>
                  <a:latin typeface="Calibri"/>
                </a:rPr>
                <a:t>≥20-user prototype walkthrough with commitment asks: </a:t>
              </a:r>
              <a:r>
                <a:rPr sz="1300" b="1" i="0">
                  <a:solidFill>
                    <a:srgbClr val="D6249F"/>
                  </a:solidFill>
                  <a:latin typeface="Calibri"/>
                </a:rPr>
                <a:t>[results pending, n = __]</a:t>
              </a:r>
              <a:r>
                <a:rPr sz="1300" b="0" i="0">
                  <a:solidFill>
                    <a:srgbClr val="1B2733"/>
                  </a:solidFill>
                  <a:latin typeface="Calibri"/>
                </a:rPr>
                <a:t>. Evidence so far is a 50-row synthetic dataset (hypothesis only): high-potential group 16 of 50, 7 yes / 9 maybe / 0 no.</a:t>
              </a:r>
            </a:p>
          </p:txBody>
        </p:sp>
        <p:sp>
          <p:nvSpPr>
            <p:cNvPr id="19" name="Rounded Rectangle 18"/>
            <p:cNvSpPr/>
            <p:nvPr/>
          </p:nvSpPr>
          <p:spPr>
            <a:xfrm>
              <a:off x="10830844" y="3543300"/>
              <a:ext cx="809467" cy="201168"/>
            </a:xfrm>
            <a:prstGeom prst="roundRect">
              <a:avLst>
                <a:gd name="adj" fmla="val 50000"/>
              </a:avLst>
            </a:prstGeom>
            <a:solidFill>
              <a:srgbClr val="6B77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TO VALIDATE</a:t>
              </a:r>
            </a:p>
          </p:txBody>
        </p:sp>
        <p:sp>
          <p:nvSpPr>
            <p:cNvPr id="20" name="Rounded Rectangle 19"/>
            <p:cNvSpPr/>
            <p:nvPr/>
          </p:nvSpPr>
          <p:spPr>
            <a:xfrm>
              <a:off x="10920597" y="3790187"/>
              <a:ext cx="719714" cy="201168"/>
            </a:xfrm>
            <a:prstGeom prst="roundRect">
              <a:avLst>
                <a:gd name="adj" fmla="val 50000"/>
              </a:avLst>
            </a:prstGeom>
            <a:solidFill>
              <a:srgbClr val="F2B20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1B2733"/>
                  </a:solidFill>
                  <a:latin typeface="Calibri"/>
                </a:rPr>
                <a:t>SYNTHETIC</a:t>
              </a:r>
            </a:p>
          </p:txBody>
        </p:sp>
      </p:grpSp>
      <p:grpSp>
        <p:nvGrpSpPr>
          <p:cNvPr id="21" name="band4"/>
          <p:cNvGrpSpPr/>
          <p:nvPr/>
        </p:nvGrpSpPr>
        <p:grpSpPr>
          <a:xfrm>
            <a:off x="548640" y="4242816"/>
            <a:ext cx="11091671" cy="768096"/>
            <a:chOff x="548640" y="4242816"/>
            <a:chExt cx="11091671" cy="768096"/>
          </a:xfrm>
        </p:grpSpPr>
        <p:sp>
          <p:nvSpPr>
            <p:cNvPr id="22" name="Rectangle 21"/>
            <p:cNvSpPr/>
            <p:nvPr/>
          </p:nvSpPr>
          <p:spPr>
            <a:xfrm>
              <a:off x="548640" y="4242816"/>
              <a:ext cx="1600200" cy="768096"/>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109728" bIns="109728">
              <a:noAutofit/>
            </a:bodyPr>
            <a:lstStyle/>
            <a:p>
              <a:pPr algn="l"/>
              <a:r>
                <a:rPr sz="1200" b="1" i="0">
                  <a:solidFill>
                    <a:srgbClr val="FFFFFF"/>
                  </a:solidFill>
                  <a:latin typeface="Calibri"/>
                </a:rPr>
                <a:t>IMPACT</a:t>
              </a:r>
            </a:p>
            <a:p>
              <a:pPr algn="l"/>
              <a:r>
                <a:rPr sz="1200" b="1" i="0">
                  <a:solidFill>
                    <a:srgbClr val="FFFFFF"/>
                  </a:solidFill>
                  <a:latin typeface="Calibri"/>
                </a:rPr>
                <a:t>&amp; ASK</a:t>
              </a:r>
            </a:p>
          </p:txBody>
        </p:sp>
        <p:sp>
          <p:nvSpPr>
            <p:cNvPr id="23" name="Rectangle 22"/>
            <p:cNvSpPr/>
            <p:nvPr/>
          </p:nvSpPr>
          <p:spPr>
            <a:xfrm>
              <a:off x="2212848" y="4242816"/>
              <a:ext cx="7818120" cy="768096"/>
            </a:xfrm>
            <a:prstGeom prst="rect">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8016" rIns="128016" tIns="128016" bIns="128016">
              <a:noAutofit/>
            </a:bodyPr>
            <a:lstStyle/>
            <a:p>
              <a:pPr algn="l"/>
              <a:r>
                <a:rPr sz="1300" b="1" i="0">
                  <a:solidFill>
                    <a:srgbClr val="1B2733"/>
                  </a:solidFill>
                  <a:latin typeface="Calibri"/>
                </a:rPr>
                <a:t>Base case +1.6 pts Paytm share of segment vendor-UPI value in year one </a:t>
              </a:r>
              <a:r>
                <a:rPr sz="1300" b="0" i="0">
                  <a:solidFill>
                    <a:srgbClr val="1B2733"/>
                  </a:solidFill>
                  <a:latin typeface="Calibri"/>
                </a:rPr>
                <a:t>(+3.9 pts among exposed merchants); ₹2,660 crore annual run-rate (range ₹240–19,400 crore); ≈₹3,200 per extra active merchant. </a:t>
              </a:r>
              <a:r>
                <a:rPr sz="1300" b="1" i="0">
                  <a:solidFill>
                    <a:srgbClr val="1B2733"/>
                  </a:solidFill>
                  <a:latin typeface="Calibri"/>
                </a:rPr>
                <a:t>Ask: approve a 90-day randomised pilot, 3,000 vs 3,000 merchants.</a:t>
              </a:r>
            </a:p>
          </p:txBody>
        </p:sp>
        <p:sp>
          <p:nvSpPr>
            <p:cNvPr id="24" name="Rounded Rectangle 23"/>
            <p:cNvSpPr/>
            <p:nvPr/>
          </p:nvSpPr>
          <p:spPr>
            <a:xfrm>
              <a:off x="10846248" y="4526279"/>
              <a:ext cx="794063" cy="201168"/>
            </a:xfrm>
            <a:prstGeom prst="roundRect">
              <a:avLst>
                <a:gd name="adj" fmla="val 50000"/>
              </a:avLst>
            </a:prstGeom>
            <a:solidFill>
              <a:srgbClr val="2F6FD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PROJECTION</a:t>
              </a:r>
            </a:p>
          </p:txBody>
        </p:sp>
      </p:grpSp>
      <p:grpSp>
        <p:nvGrpSpPr>
          <p:cNvPr id="25" name="changed"/>
          <p:cNvGrpSpPr/>
          <p:nvPr/>
        </p:nvGrpSpPr>
        <p:grpSpPr>
          <a:xfrm>
            <a:off x="548640" y="5138928"/>
            <a:ext cx="11091672" cy="731520"/>
            <a:chOff x="548640" y="5138928"/>
            <a:chExt cx="11091672" cy="731520"/>
          </a:xfrm>
        </p:grpSpPr>
        <p:sp>
          <p:nvSpPr>
            <p:cNvPr id="26" name="Rounded Rectangle 25"/>
            <p:cNvSpPr/>
            <p:nvPr/>
          </p:nvSpPr>
          <p:spPr>
            <a:xfrm>
              <a:off x="548640" y="5138928"/>
              <a:ext cx="11091672" cy="731520"/>
            </a:xfrm>
            <a:prstGeom prst="roundRect">
              <a:avLst>
                <a:gd name="adj" fmla="val 12000"/>
              </a:avLst>
            </a:prstGeom>
            <a:noFill/>
            <a:ln w="15875">
              <a:solidFill>
                <a:srgbClr val="00BAF2"/>
              </a:solidFill>
            </a:ln>
            <a:effectLst/>
          </p:spPr>
          <p:style>
            <a:lnRef idx="1">
              <a:schemeClr val="accent1"/>
            </a:lnRef>
            <a:fillRef idx="3">
              <a:schemeClr val="accent1"/>
            </a:fillRef>
            <a:effectRef idx="0">
              <a:schemeClr val="accent1"/>
            </a:effectRef>
            <a:fontRef idx="minor">
              <a:schemeClr val="lt1"/>
            </a:fontRef>
          </p:style>
          <p:txBody>
            <a:bodyPr rtlCol="0" anchor="ctr" wrap="square" lIns="128016" rIns="128016" tIns="128016" bIns="128016">
              <a:noAutofit/>
            </a:bodyPr>
            <a:lstStyle/>
            <a:p>
              <a:pPr algn="l"/>
              <a:r>
                <a:rPr sz="1100" b="1" i="0">
                  <a:solidFill>
                    <a:srgbClr val="0077B6"/>
                  </a:solidFill>
                  <a:latin typeface="Calibri"/>
                </a:rPr>
                <a:t>WHAT CHANGED SINCE ROUND 1   </a:t>
              </a:r>
              <a:r>
                <a:rPr sz="1200" b="0" i="0">
                  <a:solidFill>
                    <a:srgbClr val="1B2733"/>
                  </a:solidFill>
                  <a:latin typeface="Calibri"/>
                </a:rPr>
                <a:t>Same track and merchant base, re-cut by settlement behaviour · Supplier Pay → Settle &amp; Pay · Dropped partner credit, supplier ledger, MDR framing and the ₹27,000 crore estimate · 500-merchant Andheri pilot → 90-day randomised pilot with scale and stop gates · Detail: annexure A7</a:t>
              </a:r>
            </a:p>
          </p:txBody>
        </p:sp>
      </p:grpSp>
      <p:sp>
        <p:nvSpPr>
          <p:cNvPr id="27" name="TextBox 26"/>
          <p:cNvSpPr txBox="1"/>
          <p:nvPr/>
        </p:nvSpPr>
        <p:spPr>
          <a:xfrm>
            <a:off x="548640" y="5989320"/>
            <a:ext cx="1234440" cy="228600"/>
          </a:xfrm>
          <a:prstGeom prst="rect">
            <a:avLst/>
          </a:prstGeom>
          <a:noFill/>
        </p:spPr>
        <p:txBody>
          <a:bodyPr wrap="square" lIns="36576" rIns="36576" tIns="36576" bIns="36576" anchor="ctr">
            <a:noAutofit/>
          </a:bodyPr>
          <a:lstStyle/>
          <a:p>
            <a:pPr algn="l"/>
            <a:r>
              <a:rPr sz="1000" b="1" i="0">
                <a:solidFill>
                  <a:srgbClr val="5B6B7C"/>
                </a:solidFill>
                <a:latin typeface="Calibri"/>
              </a:rPr>
              <a:t>Evidence status:</a:t>
            </a:r>
          </a:p>
        </p:txBody>
      </p:sp>
      <p:sp>
        <p:nvSpPr>
          <p:cNvPr id="28" name="Rounded Rectangle 27"/>
          <p:cNvSpPr/>
          <p:nvPr/>
        </p:nvSpPr>
        <p:spPr>
          <a:xfrm>
            <a:off x="1783080" y="6003036"/>
            <a:ext cx="805180" cy="201168"/>
          </a:xfrm>
          <a:prstGeom prst="roundRect">
            <a:avLst>
              <a:gd name="adj" fmla="val 50000"/>
            </a:avLst>
          </a:prstGeom>
          <a:solidFill>
            <a:srgbClr val="1E8E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FACT (CITED)</a:t>
            </a:r>
          </a:p>
        </p:txBody>
      </p:sp>
      <p:sp>
        <p:nvSpPr>
          <p:cNvPr id="29" name="Rounded Rectangle 28"/>
          <p:cNvSpPr/>
          <p:nvPr/>
        </p:nvSpPr>
        <p:spPr>
          <a:xfrm>
            <a:off x="2679700" y="6003036"/>
            <a:ext cx="1334541" cy="201168"/>
          </a:xfrm>
          <a:prstGeom prst="roundRect">
            <a:avLst>
              <a:gd name="adj" fmla="val 50000"/>
            </a:avLst>
          </a:prstGeom>
          <a:solidFill>
            <a:srgbClr val="F2B20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1B2733"/>
                </a:solidFill>
                <a:latin typeface="Calibri"/>
              </a:rPr>
              <a:t>SYNTHETIC HYPOTHESIS</a:t>
            </a:r>
          </a:p>
        </p:txBody>
      </p:sp>
      <p:sp>
        <p:nvSpPr>
          <p:cNvPr id="30" name="Rounded Rectangle 29"/>
          <p:cNvSpPr/>
          <p:nvPr/>
        </p:nvSpPr>
        <p:spPr>
          <a:xfrm>
            <a:off x="4105682" y="6003036"/>
            <a:ext cx="1568499" cy="201168"/>
          </a:xfrm>
          <a:prstGeom prst="roundRect">
            <a:avLst>
              <a:gd name="adj" fmla="val 50000"/>
            </a:avLst>
          </a:prstGeom>
          <a:solidFill>
            <a:srgbClr val="2F6FD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PROJECTION, NOT FORECAST</a:t>
            </a:r>
          </a:p>
        </p:txBody>
      </p:sp>
      <p:sp>
        <p:nvSpPr>
          <p:cNvPr id="31" name="Rounded Rectangle 30"/>
          <p:cNvSpPr/>
          <p:nvPr/>
        </p:nvSpPr>
        <p:spPr>
          <a:xfrm>
            <a:off x="5765622" y="6003036"/>
            <a:ext cx="809467" cy="201168"/>
          </a:xfrm>
          <a:prstGeom prst="roundRect">
            <a:avLst>
              <a:gd name="adj" fmla="val 50000"/>
            </a:avLst>
          </a:prstGeom>
          <a:solidFill>
            <a:srgbClr val="6B77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TO VALIDATE</a:t>
            </a:r>
          </a:p>
        </p:txBody>
      </p:sp>
      <p:sp>
        <p:nvSpPr>
          <p:cNvPr id="32" name="Rounded Rectangle 31"/>
          <p:cNvSpPr/>
          <p:nvPr/>
        </p:nvSpPr>
        <p:spPr>
          <a:xfrm>
            <a:off x="6666529" y="6003036"/>
            <a:ext cx="1105727" cy="201168"/>
          </a:xfrm>
          <a:prstGeom prst="roundRect">
            <a:avLst>
              <a:gd name="adj" fmla="val 50000"/>
            </a:avLst>
          </a:prstGeom>
          <a:solidFill>
            <a:srgbClr val="0077B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VALIDATED (n = __)</a:t>
            </a:r>
          </a:p>
        </p:txBody>
      </p:sp>
      <p:sp>
        <p:nvSpPr>
          <p:cNvPr id="33" name="Rounded Rectangle 32"/>
          <p:cNvSpPr/>
          <p:nvPr/>
        </p:nvSpPr>
        <p:spPr>
          <a:xfrm>
            <a:off x="7863697" y="6003036"/>
            <a:ext cx="1568660" cy="201168"/>
          </a:xfrm>
          <a:prstGeom prst="roundRect">
            <a:avLst>
              <a:gd name="adj" fmla="val 50000"/>
            </a:avLst>
          </a:prstGeom>
          <a:solidFill>
            <a:srgbClr val="D6249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MAGENTA = AWAITING DATA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grpId="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par>
                          <p:cTn id="8" fill="hold">
                            <p:stCondLst>
                              <p:cond delay="450"/>
                            </p:stCondLst>
                            <p:childTnLst>
                              <p:par>
                                <p:cTn id="9" presetID="10" presetClass="entr" presetSubtype="0" grpId="0" fill="hold" nodeType="afterEffect">
                                  <p:stCondLst>
                                    <p:cond delay="2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50"/>
                                        <p:tgtEl>
                                          <p:spTgt spid="12"/>
                                        </p:tgtEl>
                                      </p:cBhvr>
                                    </p:animEffect>
                                  </p:childTnLst>
                                </p:cTn>
                              </p:par>
                            </p:childTnLst>
                          </p:cTn>
                        </p:par>
                        <p:par>
                          <p:cTn id="12" fill="hold">
                            <p:stCondLst>
                              <p:cond delay="1100"/>
                            </p:stCondLst>
                            <p:childTnLst>
                              <p:par>
                                <p:cTn id="13" presetID="10" presetClass="entr" presetSubtype="0" grpId="0" fill="hold" nodeType="afterEffect">
                                  <p:stCondLst>
                                    <p:cond delay="2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50"/>
                                        <p:tgtEl>
                                          <p:spTgt spid="16"/>
                                        </p:tgtEl>
                                      </p:cBhvr>
                                    </p:animEffect>
                                  </p:childTnLst>
                                </p:cTn>
                              </p:par>
                            </p:childTnLst>
                          </p:cTn>
                        </p:par>
                        <p:par>
                          <p:cTn id="16" fill="hold">
                            <p:stCondLst>
                              <p:cond delay="1750"/>
                            </p:stCondLst>
                            <p:childTnLst>
                              <p:par>
                                <p:cTn id="17" presetID="10" presetClass="entr" presetSubtype="0" grpId="0" fill="hold" nodeType="afterEffect">
                                  <p:stCondLst>
                                    <p:cond delay="2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50"/>
                                        <p:tgtEl>
                                          <p:spTgt spid="21"/>
                                        </p:tgtEl>
                                      </p:cBhvr>
                                    </p:animEffect>
                                  </p:childTnLst>
                                </p:cTn>
                              </p:par>
                            </p:childTnLst>
                          </p:cTn>
                        </p:par>
                        <p:par>
                          <p:cTn id="20" fill="hold">
                            <p:stCondLst>
                              <p:cond delay="2400"/>
                            </p:stCondLst>
                            <p:childTnLst>
                              <p:par>
                                <p:cTn id="21" presetID="10" presetClass="entr" presetSubtype="0" grpId="0" fill="hold" nodeType="afterEffect">
                                  <p:stCondLst>
                                    <p:cond delay="20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2E6E"/>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00BAF2"/>
                </a:solidFill>
                <a:latin typeface="Calibri"/>
              </a:rPr>
              <a:t>THE PROBLEM</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FFFFFF"/>
                </a:solidFill>
                <a:latin typeface="Calibri"/>
              </a:rPr>
              <a:t>Paytm owns the moment merchants' money arrives, and hands the moment they spend it to another app</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A9C1E0"/>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A9C1E0"/>
                </a:solidFill>
                <a:latin typeface="Calibri"/>
              </a:rPr>
              <a:t>Sources: S1 Paytm Q1 FY27 release; S2 NPCI app-wise volume share, Aug 2026 (secondary report; confirm on npci.org.in); S3 Paytm for Business app listing; S16 synthetic VOC dataset. Screens are illustrative.</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A9C1E0"/>
                </a:solidFill>
                <a:latin typeface="Calibri"/>
              </a:rPr>
              <a:t>2</a:t>
            </a:r>
          </a:p>
        </p:txBody>
      </p:sp>
      <p:grpSp>
        <p:nvGrpSpPr>
          <p:cNvPr id="7" name="!!phoneL"/>
          <p:cNvGrpSpPr/>
          <p:nvPr/>
        </p:nvGrpSpPr>
        <p:grpSpPr>
          <a:xfrm>
            <a:off x="685800" y="1783080"/>
            <a:ext cx="2377440" cy="3520440"/>
            <a:chOff x="685800" y="1783080"/>
            <a:chExt cx="2377440" cy="3520440"/>
          </a:xfrm>
        </p:grpSpPr>
        <p:sp>
          <p:nvSpPr>
            <p:cNvPr id="8" name="pL_body"/>
            <p:cNvSpPr/>
            <p:nvPr/>
          </p:nvSpPr>
          <p:spPr>
            <a:xfrm>
              <a:off x="685800" y="1783080"/>
              <a:ext cx="2377440" cy="3520440"/>
            </a:xfrm>
            <a:prstGeom prst="roundRect">
              <a:avLst>
                <a:gd name="adj" fmla="val 9000"/>
              </a:avLst>
            </a:prstGeom>
            <a:solidFill>
              <a:srgbClr val="1A223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pL_screen"/>
            <p:cNvSpPr/>
            <p:nvPr/>
          </p:nvSpPr>
          <p:spPr>
            <a:xfrm>
              <a:off x="768096" y="1964131"/>
              <a:ext cx="2212848" cy="3174796"/>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pL_speaker"/>
            <p:cNvSpPr/>
            <p:nvPr/>
          </p:nvSpPr>
          <p:spPr>
            <a:xfrm>
              <a:off x="1645919" y="1847088"/>
              <a:ext cx="457200" cy="54864"/>
            </a:xfrm>
            <a:prstGeom prst="roundRect">
              <a:avLst>
                <a:gd name="adj" fmla="val 50000"/>
              </a:avLst>
            </a:prstGeom>
            <a:solidFill>
              <a:srgbClr val="3A45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1" name="pL_header"/>
            <p:cNvSpPr/>
            <p:nvPr/>
          </p:nvSpPr>
          <p:spPr>
            <a:xfrm>
              <a:off x="768096" y="1964131"/>
              <a:ext cx="2212848" cy="384048"/>
            </a:xfrm>
            <a:prstGeom prst="rect">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100" b="1" i="0">
                  <a:solidFill>
                    <a:srgbClr val="FFFFFF"/>
                  </a:solidFill>
                  <a:latin typeface="Calibri"/>
                </a:rPr>
                <a:t>Paytm for Business</a:t>
              </a:r>
            </a:p>
          </p:txBody>
        </p:sp>
        <p:sp>
          <p:nvSpPr>
            <p:cNvPr id="12" name="TextBox 11"/>
            <p:cNvSpPr txBox="1"/>
            <p:nvPr/>
          </p:nvSpPr>
          <p:spPr>
            <a:xfrm>
              <a:off x="877824" y="2439619"/>
              <a:ext cx="1993391" cy="365760"/>
            </a:xfrm>
            <a:prstGeom prst="rect">
              <a:avLst/>
            </a:prstGeom>
            <a:noFill/>
          </p:spPr>
          <p:txBody>
            <a:bodyPr wrap="square" lIns="36576" rIns="36576" tIns="36576" bIns="36576" anchor="t">
              <a:noAutofit/>
            </a:bodyPr>
            <a:lstStyle/>
            <a:p>
              <a:pPr algn="l"/>
              <a:r>
                <a:rPr sz="1100" b="0" i="0">
                  <a:solidFill>
                    <a:srgbClr val="5B6B7C"/>
                  </a:solidFill>
                  <a:latin typeface="Calibri"/>
                </a:rPr>
                <a:t>Today's collections</a:t>
              </a:r>
            </a:p>
          </p:txBody>
        </p:sp>
        <p:sp>
          <p:nvSpPr>
            <p:cNvPr id="13" name="TextBox 12"/>
            <p:cNvSpPr txBox="1"/>
            <p:nvPr/>
          </p:nvSpPr>
          <p:spPr>
            <a:xfrm>
              <a:off x="877824" y="2823667"/>
              <a:ext cx="1993391" cy="365760"/>
            </a:xfrm>
            <a:prstGeom prst="rect">
              <a:avLst/>
            </a:prstGeom>
            <a:noFill/>
          </p:spPr>
          <p:txBody>
            <a:bodyPr wrap="square" lIns="36576" rIns="36576" tIns="36576" bIns="36576" anchor="t">
              <a:noAutofit/>
            </a:bodyPr>
            <a:lstStyle/>
            <a:p>
              <a:pPr algn="l"/>
              <a:r>
                <a:rPr sz="2200" b="1" i="0">
                  <a:solidFill>
                    <a:srgbClr val="002E6E"/>
                  </a:solidFill>
                  <a:latin typeface="Calibri"/>
                </a:rPr>
                <a:t>₹12,400</a:t>
              </a:r>
            </a:p>
          </p:txBody>
        </p:sp>
        <p:sp>
          <p:nvSpPr>
            <p:cNvPr id="14" name="TextBox 13"/>
            <p:cNvSpPr txBox="1"/>
            <p:nvPr/>
          </p:nvSpPr>
          <p:spPr>
            <a:xfrm>
              <a:off x="877824" y="3207715"/>
              <a:ext cx="1993391" cy="365760"/>
            </a:xfrm>
            <a:prstGeom prst="rect">
              <a:avLst/>
            </a:prstGeom>
            <a:noFill/>
          </p:spPr>
          <p:txBody>
            <a:bodyPr wrap="square" lIns="36576" rIns="36576" tIns="36576" bIns="36576" anchor="t">
              <a:noAutofit/>
            </a:bodyPr>
            <a:lstStyle/>
            <a:p>
              <a:pPr algn="l"/>
              <a:r>
                <a:rPr sz="1200" b="0" i="0">
                  <a:solidFill>
                    <a:srgbClr val="1B2733"/>
                  </a:solidFill>
                  <a:latin typeface="Calibri"/>
                </a:rPr>
                <a:t/>
              </a:r>
            </a:p>
          </p:txBody>
        </p:sp>
        <p:sp>
          <p:nvSpPr>
            <p:cNvPr id="15" name="TextBox 14"/>
            <p:cNvSpPr txBox="1"/>
            <p:nvPr/>
          </p:nvSpPr>
          <p:spPr>
            <a:xfrm>
              <a:off x="877824" y="3591763"/>
              <a:ext cx="1993391" cy="365760"/>
            </a:xfrm>
            <a:prstGeom prst="rect">
              <a:avLst/>
            </a:prstGeom>
            <a:noFill/>
          </p:spPr>
          <p:txBody>
            <a:bodyPr wrap="square" lIns="36576" rIns="36576" tIns="36576" bIns="36576" anchor="t">
              <a:noAutofit/>
            </a:bodyPr>
            <a:lstStyle/>
            <a:p>
              <a:pPr algn="l"/>
              <a:r>
                <a:rPr sz="1200" b="1" i="0">
                  <a:solidFill>
                    <a:srgbClr val="1B2733"/>
                  </a:solidFill>
                  <a:latin typeface="Calibri"/>
                </a:rPr>
                <a:t>+₹1,200 </a:t>
              </a:r>
              <a:r>
                <a:rPr sz="1200" b="0" i="0">
                  <a:solidFill>
                    <a:srgbClr val="5B6B7C"/>
                  </a:solidFill>
                  <a:latin typeface="Calibri"/>
                </a:rPr>
                <a:t>Anita S.</a:t>
              </a:r>
            </a:p>
          </p:txBody>
        </p:sp>
        <p:sp>
          <p:nvSpPr>
            <p:cNvPr id="16" name="TextBox 15"/>
            <p:cNvSpPr txBox="1"/>
            <p:nvPr/>
          </p:nvSpPr>
          <p:spPr>
            <a:xfrm>
              <a:off x="877824" y="3975811"/>
              <a:ext cx="1993391" cy="365760"/>
            </a:xfrm>
            <a:prstGeom prst="rect">
              <a:avLst/>
            </a:prstGeom>
            <a:noFill/>
          </p:spPr>
          <p:txBody>
            <a:bodyPr wrap="square" lIns="36576" rIns="36576" tIns="36576" bIns="36576" anchor="t">
              <a:noAutofit/>
            </a:bodyPr>
            <a:lstStyle/>
            <a:p>
              <a:pPr algn="l"/>
              <a:r>
                <a:rPr sz="1200" b="1" i="0">
                  <a:solidFill>
                    <a:srgbClr val="1B2733"/>
                  </a:solidFill>
                  <a:latin typeface="Calibri"/>
                </a:rPr>
                <a:t>+₹350 </a:t>
              </a:r>
              <a:r>
                <a:rPr sz="1200" b="0" i="0">
                  <a:solidFill>
                    <a:srgbClr val="5B6B7C"/>
                  </a:solidFill>
                  <a:latin typeface="Calibri"/>
                </a:rPr>
                <a:t>Ravi K.</a:t>
              </a:r>
            </a:p>
          </p:txBody>
        </p:sp>
        <p:sp>
          <p:nvSpPr>
            <p:cNvPr id="17" name="Rounded Rectangle 16"/>
            <p:cNvSpPr/>
            <p:nvPr/>
          </p:nvSpPr>
          <p:spPr>
            <a:xfrm>
              <a:off x="877824" y="4679899"/>
              <a:ext cx="1993391" cy="411480"/>
            </a:xfrm>
            <a:prstGeom prst="roundRect">
              <a:avLst>
                <a:gd name="adj" fmla="val 30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200" b="1" i="0">
                  <a:solidFill>
                    <a:srgbClr val="5B6B7C"/>
                  </a:solidFill>
                  <a:latin typeface="Calibri"/>
                </a:rPr>
                <a:t>Settles next working day</a:t>
              </a:r>
            </a:p>
          </p:txBody>
        </p:sp>
      </p:grpSp>
      <p:sp>
        <p:nvSpPr>
          <p:cNvPr id="18" name="labelL"/>
          <p:cNvSpPr txBox="1"/>
          <p:nvPr/>
        </p:nvSpPr>
        <p:spPr>
          <a:xfrm>
            <a:off x="685800" y="5376672"/>
            <a:ext cx="2377440" cy="274320"/>
          </a:xfrm>
          <a:prstGeom prst="rect">
            <a:avLst/>
          </a:prstGeom>
          <a:noFill/>
        </p:spPr>
        <p:txBody>
          <a:bodyPr wrap="square" lIns="36576" rIns="36576" tIns="36576" bIns="36576" anchor="t">
            <a:noAutofit/>
          </a:bodyPr>
          <a:lstStyle/>
          <a:p>
            <a:pPr algn="ctr"/>
            <a:r>
              <a:rPr sz="1200" b="1" i="0">
                <a:solidFill>
                  <a:srgbClr val="00BAF2"/>
                </a:solidFill>
                <a:latin typeface="Calibri"/>
              </a:rPr>
              <a:t>MONEY IN  ·  PAYTM</a:t>
            </a:r>
          </a:p>
        </p:txBody>
      </p:sp>
      <p:grpSp>
        <p:nvGrpSpPr>
          <p:cNvPr id="19" name="!!phoneR"/>
          <p:cNvGrpSpPr/>
          <p:nvPr/>
        </p:nvGrpSpPr>
        <p:grpSpPr>
          <a:xfrm>
            <a:off x="3154680" y="1783080"/>
            <a:ext cx="3703320" cy="3867912"/>
            <a:chOff x="3154680" y="1783080"/>
            <a:chExt cx="3703320" cy="3867912"/>
          </a:xfrm>
        </p:grpSpPr>
        <p:sp>
          <p:nvSpPr>
            <p:cNvPr id="20" name="pR_body"/>
            <p:cNvSpPr/>
            <p:nvPr/>
          </p:nvSpPr>
          <p:spPr>
            <a:xfrm>
              <a:off x="4069080" y="1783080"/>
              <a:ext cx="2377440" cy="3520440"/>
            </a:xfrm>
            <a:prstGeom prst="roundRect">
              <a:avLst>
                <a:gd name="adj" fmla="val 9000"/>
              </a:avLst>
            </a:prstGeom>
            <a:solidFill>
              <a:srgbClr val="1A223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1" name="pR_screen"/>
            <p:cNvSpPr/>
            <p:nvPr/>
          </p:nvSpPr>
          <p:spPr>
            <a:xfrm>
              <a:off x="4151376" y="1964131"/>
              <a:ext cx="2212848" cy="3174796"/>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pR_speaker"/>
            <p:cNvSpPr/>
            <p:nvPr/>
          </p:nvSpPr>
          <p:spPr>
            <a:xfrm>
              <a:off x="5029200" y="1847088"/>
              <a:ext cx="457200" cy="54864"/>
            </a:xfrm>
            <a:prstGeom prst="roundRect">
              <a:avLst>
                <a:gd name="adj" fmla="val 50000"/>
              </a:avLst>
            </a:prstGeom>
            <a:solidFill>
              <a:srgbClr val="3A45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3" name="pR_header"/>
            <p:cNvSpPr/>
            <p:nvPr/>
          </p:nvSpPr>
          <p:spPr>
            <a:xfrm>
              <a:off x="4151376" y="1964131"/>
              <a:ext cx="2212848" cy="384048"/>
            </a:xfrm>
            <a:prstGeom prst="rect">
              <a:avLst/>
            </a:prstGeom>
            <a:solidFill>
              <a:srgbClr val="4A5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100" b="1" i="0">
                  <a:solidFill>
                    <a:srgbClr val="FFFFFF"/>
                  </a:solidFill>
                  <a:latin typeface="Calibri"/>
                </a:rPr>
                <a:t>Another UPI app</a:t>
              </a:r>
            </a:p>
          </p:txBody>
        </p:sp>
        <p:sp>
          <p:nvSpPr>
            <p:cNvPr id="24" name="TextBox 23"/>
            <p:cNvSpPr txBox="1"/>
            <p:nvPr/>
          </p:nvSpPr>
          <p:spPr>
            <a:xfrm>
              <a:off x="4261104" y="2439619"/>
              <a:ext cx="1993391" cy="365760"/>
            </a:xfrm>
            <a:prstGeom prst="rect">
              <a:avLst/>
            </a:prstGeom>
            <a:noFill/>
          </p:spPr>
          <p:txBody>
            <a:bodyPr wrap="square" lIns="36576" rIns="36576" tIns="36576" bIns="36576" anchor="t">
              <a:noAutofit/>
            </a:bodyPr>
            <a:lstStyle/>
            <a:p>
              <a:pPr algn="l"/>
              <a:r>
                <a:rPr sz="1100" b="0" i="0">
                  <a:solidFill>
                    <a:srgbClr val="5B6B7C"/>
                  </a:solidFill>
                  <a:latin typeface="Calibri"/>
                </a:rPr>
                <a:t>Pay</a:t>
              </a:r>
            </a:p>
          </p:txBody>
        </p:sp>
        <p:sp>
          <p:nvSpPr>
            <p:cNvPr id="25" name="TextBox 24"/>
            <p:cNvSpPr txBox="1"/>
            <p:nvPr/>
          </p:nvSpPr>
          <p:spPr>
            <a:xfrm>
              <a:off x="4261104" y="2823667"/>
              <a:ext cx="1993391" cy="365760"/>
            </a:xfrm>
            <a:prstGeom prst="rect">
              <a:avLst/>
            </a:prstGeom>
            <a:noFill/>
          </p:spPr>
          <p:txBody>
            <a:bodyPr wrap="square" lIns="36576" rIns="36576" tIns="36576" bIns="36576" anchor="t">
              <a:noAutofit/>
            </a:bodyPr>
            <a:lstStyle/>
            <a:p>
              <a:pPr algn="l"/>
              <a:r>
                <a:rPr sz="1400" b="1" i="0">
                  <a:solidFill>
                    <a:srgbClr val="1B2733"/>
                  </a:solidFill>
                  <a:latin typeface="Calibri"/>
                </a:rPr>
                <a:t>Sharma Traders</a:t>
              </a:r>
            </a:p>
          </p:txBody>
        </p:sp>
        <p:sp>
          <p:nvSpPr>
            <p:cNvPr id="26" name="TextBox 25"/>
            <p:cNvSpPr txBox="1"/>
            <p:nvPr/>
          </p:nvSpPr>
          <p:spPr>
            <a:xfrm>
              <a:off x="4261104" y="3207715"/>
              <a:ext cx="1993391" cy="365760"/>
            </a:xfrm>
            <a:prstGeom prst="rect">
              <a:avLst/>
            </a:prstGeom>
            <a:noFill/>
          </p:spPr>
          <p:txBody>
            <a:bodyPr wrap="square" lIns="36576" rIns="36576" tIns="36576" bIns="36576" anchor="t">
              <a:noAutofit/>
            </a:bodyPr>
            <a:lstStyle/>
            <a:p>
              <a:pPr algn="l"/>
              <a:r>
                <a:rPr sz="2200" b="1" i="0">
                  <a:solidFill>
                    <a:srgbClr val="1B2733"/>
                  </a:solidFill>
                  <a:latin typeface="Calibri"/>
                </a:rPr>
                <a:t>₹6,800</a:t>
              </a:r>
            </a:p>
          </p:txBody>
        </p:sp>
        <p:sp>
          <p:nvSpPr>
            <p:cNvPr id="27" name="TextBox 26"/>
            <p:cNvSpPr txBox="1"/>
            <p:nvPr/>
          </p:nvSpPr>
          <p:spPr>
            <a:xfrm>
              <a:off x="4261104" y="3591763"/>
              <a:ext cx="1993391" cy="365760"/>
            </a:xfrm>
            <a:prstGeom prst="rect">
              <a:avLst/>
            </a:prstGeom>
            <a:noFill/>
          </p:spPr>
          <p:txBody>
            <a:bodyPr wrap="square" lIns="36576" rIns="36576" tIns="36576" bIns="36576" anchor="t">
              <a:noAutofit/>
            </a:bodyPr>
            <a:lstStyle/>
            <a:p>
              <a:pPr algn="l"/>
              <a:r>
                <a:rPr sz="1100" b="0" i="0">
                  <a:solidFill>
                    <a:srgbClr val="5B6B7C"/>
                  </a:solidFill>
                  <a:latin typeface="Calibri"/>
                </a:rPr>
                <a:t>From personal a/c ••2210</a:t>
              </a:r>
            </a:p>
          </p:txBody>
        </p:sp>
        <p:sp>
          <p:nvSpPr>
            <p:cNvPr id="28" name="TextBox 27"/>
            <p:cNvSpPr txBox="1"/>
            <p:nvPr/>
          </p:nvSpPr>
          <p:spPr>
            <a:xfrm>
              <a:off x="4261104" y="3975811"/>
              <a:ext cx="1993391" cy="365760"/>
            </a:xfrm>
            <a:prstGeom prst="rect">
              <a:avLst/>
            </a:prstGeom>
            <a:noFill/>
          </p:spPr>
          <p:txBody>
            <a:bodyPr wrap="square" lIns="36576" rIns="36576" tIns="36576" bIns="36576" anchor="t">
              <a:noAutofit/>
            </a:bodyPr>
            <a:lstStyle/>
            <a:p>
              <a:pPr algn="l"/>
              <a:r>
                <a:rPr sz="1200" b="0" i="0">
                  <a:solidFill>
                    <a:srgbClr val="1B2733"/>
                  </a:solidFill>
                  <a:latin typeface="Calibri"/>
                </a:rPr>
                <a:t/>
              </a:r>
            </a:p>
          </p:txBody>
        </p:sp>
        <p:sp>
          <p:nvSpPr>
            <p:cNvPr id="29" name="Rounded Rectangle 28"/>
            <p:cNvSpPr/>
            <p:nvPr/>
          </p:nvSpPr>
          <p:spPr>
            <a:xfrm>
              <a:off x="4261104" y="4679899"/>
              <a:ext cx="1993391" cy="411480"/>
            </a:xfrm>
            <a:prstGeom prst="roundRect">
              <a:avLst>
                <a:gd name="adj" fmla="val 30000"/>
              </a:avLst>
            </a:prstGeom>
            <a:solidFill>
              <a:srgbClr val="4A5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200" b="1" i="0">
                  <a:solidFill>
                    <a:srgbClr val="FFFFFF"/>
                  </a:solidFill>
                  <a:latin typeface="Calibri"/>
                </a:rPr>
                <a:t>Enter UPI PIN</a:t>
              </a:r>
            </a:p>
          </p:txBody>
        </p:sp>
        <p:sp>
          <p:nvSpPr>
            <p:cNvPr id="30" name="TextBox 29"/>
            <p:cNvSpPr txBox="1"/>
            <p:nvPr/>
          </p:nvSpPr>
          <p:spPr>
            <a:xfrm>
              <a:off x="3657600" y="5376672"/>
              <a:ext cx="3200400" cy="274320"/>
            </a:xfrm>
            <a:prstGeom prst="rect">
              <a:avLst/>
            </a:prstGeom>
            <a:noFill/>
          </p:spPr>
          <p:txBody>
            <a:bodyPr wrap="square" lIns="36576" rIns="36576" tIns="36576" bIns="36576" anchor="t">
              <a:noAutofit/>
            </a:bodyPr>
            <a:lstStyle/>
            <a:p>
              <a:pPr algn="ctr"/>
              <a:r>
                <a:rPr sz="1200" b="1" i="0">
                  <a:solidFill>
                    <a:srgbClr val="FFFFFF"/>
                  </a:solidFill>
                  <a:latin typeface="Calibri"/>
                </a:rPr>
                <a:t>MONEY OUT  ·  PHONEPE OR GOOGLE PAY</a:t>
              </a:r>
            </a:p>
          </p:txBody>
        </p:sp>
        <p:cxnSp>
          <p:nvCxnSpPr>
            <p:cNvPr id="31" name="Connector 30"/>
            <p:cNvCxnSpPr/>
            <p:nvPr/>
          </p:nvCxnSpPr>
          <p:spPr>
            <a:xfrm>
              <a:off x="3154680" y="3520440"/>
              <a:ext cx="822959" cy="0"/>
            </a:xfrm>
            <a:prstGeom prst="line">
              <a:avLst/>
            </a:prstGeom>
            <a:ln w="25400">
              <a:solidFill>
                <a:srgbClr val="A9C1E0"/>
              </a:solidFill>
              <a:tailEnd type="triangle" w="med" len="med"/>
            </a:ln>
          </p:spPr>
          <p:style>
            <a:lnRef idx="2">
              <a:schemeClr val="accent1"/>
            </a:lnRef>
            <a:fillRef idx="0">
              <a:schemeClr val="accent1"/>
            </a:fillRef>
            <a:effectRef idx="0">
              <a:schemeClr val="accent1"/>
            </a:effectRef>
            <a:fontRef idx="minor">
              <a:schemeClr val="tx1"/>
            </a:fontRef>
          </p:style>
        </p:cxnSp>
      </p:grpSp>
      <p:sp>
        <p:nvSpPr>
          <p:cNvPr id="32" name="bridge"/>
          <p:cNvSpPr txBox="1"/>
          <p:nvPr/>
        </p:nvSpPr>
        <p:spPr>
          <a:xfrm>
            <a:off x="548640" y="5715000"/>
            <a:ext cx="6035040" cy="411480"/>
          </a:xfrm>
          <a:prstGeom prst="rect">
            <a:avLst/>
          </a:prstGeom>
          <a:noFill/>
        </p:spPr>
        <p:txBody>
          <a:bodyPr wrap="square" lIns="36576" rIns="36576" tIns="36576" bIns="36576" anchor="t">
            <a:noAutofit/>
          </a:bodyPr>
          <a:lstStyle/>
          <a:p>
            <a:pPr algn="ctr"/>
            <a:r>
              <a:rPr sz="1800" b="1" i="0">
                <a:solidFill>
                  <a:srgbClr val="00BAF2"/>
                </a:solidFill>
                <a:latin typeface="Calibri"/>
              </a:rPr>
              <a:t>Same merchant. Same money. Different app.</a:t>
            </a:r>
          </a:p>
        </p:txBody>
      </p:sp>
      <p:sp>
        <p:nvSpPr>
          <p:cNvPr id="33" name="Rounded Rectangle 32"/>
          <p:cNvSpPr/>
          <p:nvPr/>
        </p:nvSpPr>
        <p:spPr>
          <a:xfrm>
            <a:off x="7086600" y="1783080"/>
            <a:ext cx="4553712" cy="822960"/>
          </a:xfrm>
          <a:prstGeom prst="roundRect">
            <a:avLst>
              <a:gd name="adj" fmla="val 8000"/>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4" name="TextBox 33"/>
          <p:cNvSpPr txBox="1"/>
          <p:nvPr/>
        </p:nvSpPr>
        <p:spPr>
          <a:xfrm>
            <a:off x="7223760" y="1856231"/>
            <a:ext cx="1600200" cy="457200"/>
          </a:xfrm>
          <a:prstGeom prst="rect">
            <a:avLst/>
          </a:prstGeom>
          <a:noFill/>
        </p:spPr>
        <p:txBody>
          <a:bodyPr wrap="square" lIns="36576" rIns="36576" tIns="36576" bIns="36576" anchor="ctr">
            <a:noAutofit/>
          </a:bodyPr>
          <a:lstStyle/>
          <a:p>
            <a:pPr algn="l"/>
            <a:r>
              <a:rPr sz="1700" b="1" i="0">
                <a:solidFill>
                  <a:srgbClr val="00BAF2"/>
                </a:solidFill>
                <a:latin typeface="Calibri"/>
              </a:rPr>
              <a:t>1.57 crore</a:t>
            </a:r>
          </a:p>
        </p:txBody>
      </p:sp>
      <p:sp>
        <p:nvSpPr>
          <p:cNvPr id="35" name="Rounded Rectangle 34"/>
          <p:cNvSpPr/>
          <p:nvPr/>
        </p:nvSpPr>
        <p:spPr>
          <a:xfrm>
            <a:off x="7269480" y="2350008"/>
            <a:ext cx="407003" cy="173736"/>
          </a:xfrm>
          <a:prstGeom prst="roundRect">
            <a:avLst>
              <a:gd name="adj" fmla="val 50000"/>
            </a:avLst>
          </a:prstGeom>
          <a:solidFill>
            <a:srgbClr val="1E8E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800" b="1" i="0">
                <a:solidFill>
                  <a:srgbClr val="FFFFFF"/>
                </a:solidFill>
                <a:latin typeface="Calibri"/>
              </a:rPr>
              <a:t>FACT</a:t>
            </a:r>
          </a:p>
        </p:txBody>
      </p:sp>
      <p:sp>
        <p:nvSpPr>
          <p:cNvPr id="36" name="TextBox 35"/>
          <p:cNvSpPr txBox="1"/>
          <p:nvPr/>
        </p:nvSpPr>
        <p:spPr>
          <a:xfrm>
            <a:off x="8823960" y="1819656"/>
            <a:ext cx="2724912" cy="749808"/>
          </a:xfrm>
          <a:prstGeom prst="rect">
            <a:avLst/>
          </a:prstGeom>
          <a:noFill/>
        </p:spPr>
        <p:txBody>
          <a:bodyPr wrap="square" lIns="36576" rIns="36576" tIns="36576" bIns="36576" anchor="ctr">
            <a:noAutofit/>
          </a:bodyPr>
          <a:lstStyle/>
          <a:p>
            <a:pPr algn="l"/>
            <a:r>
              <a:rPr sz="1200" b="0" i="0">
                <a:solidFill>
                  <a:srgbClr val="FFFFFF"/>
                </a:solidFill>
                <a:latin typeface="Calibri"/>
              </a:rPr>
              <a:t>merchants pay for Paytm payment devices (Q1 FY27)</a:t>
            </a:r>
          </a:p>
        </p:txBody>
      </p:sp>
      <p:sp>
        <p:nvSpPr>
          <p:cNvPr id="37" name="Rounded Rectangle 36"/>
          <p:cNvSpPr/>
          <p:nvPr/>
        </p:nvSpPr>
        <p:spPr>
          <a:xfrm>
            <a:off x="7086600" y="2715768"/>
            <a:ext cx="4553712" cy="822960"/>
          </a:xfrm>
          <a:prstGeom prst="roundRect">
            <a:avLst>
              <a:gd name="adj" fmla="val 8000"/>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8" name="TextBox 37"/>
          <p:cNvSpPr txBox="1"/>
          <p:nvPr/>
        </p:nvSpPr>
        <p:spPr>
          <a:xfrm>
            <a:off x="7223760" y="2788920"/>
            <a:ext cx="1600200" cy="457200"/>
          </a:xfrm>
          <a:prstGeom prst="rect">
            <a:avLst/>
          </a:prstGeom>
          <a:noFill/>
        </p:spPr>
        <p:txBody>
          <a:bodyPr wrap="square" lIns="36576" rIns="36576" tIns="36576" bIns="36576" anchor="ctr">
            <a:noAutofit/>
          </a:bodyPr>
          <a:lstStyle/>
          <a:p>
            <a:pPr algn="l"/>
            <a:r>
              <a:rPr sz="2200" b="1" i="0">
                <a:solidFill>
                  <a:srgbClr val="00BAF2"/>
                </a:solidFill>
                <a:latin typeface="Calibri"/>
              </a:rPr>
              <a:t>8.0%</a:t>
            </a:r>
          </a:p>
        </p:txBody>
      </p:sp>
      <p:sp>
        <p:nvSpPr>
          <p:cNvPr id="39" name="Rounded Rectangle 38"/>
          <p:cNvSpPr/>
          <p:nvPr/>
        </p:nvSpPr>
        <p:spPr>
          <a:xfrm>
            <a:off x="7269480" y="3282696"/>
            <a:ext cx="407003" cy="173736"/>
          </a:xfrm>
          <a:prstGeom prst="roundRect">
            <a:avLst>
              <a:gd name="adj" fmla="val 50000"/>
            </a:avLst>
          </a:prstGeom>
          <a:solidFill>
            <a:srgbClr val="1E8E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800" b="1" i="0">
                <a:solidFill>
                  <a:srgbClr val="FFFFFF"/>
                </a:solidFill>
                <a:latin typeface="Calibri"/>
              </a:rPr>
              <a:t>FACT</a:t>
            </a:r>
          </a:p>
        </p:txBody>
      </p:sp>
      <p:sp>
        <p:nvSpPr>
          <p:cNvPr id="40" name="TextBox 39"/>
          <p:cNvSpPr txBox="1"/>
          <p:nvPr/>
        </p:nvSpPr>
        <p:spPr>
          <a:xfrm>
            <a:off x="8823960" y="2752344"/>
            <a:ext cx="2724912" cy="749808"/>
          </a:xfrm>
          <a:prstGeom prst="rect">
            <a:avLst/>
          </a:prstGeom>
          <a:noFill/>
        </p:spPr>
        <p:txBody>
          <a:bodyPr wrap="square" lIns="36576" rIns="36576" tIns="36576" bIns="36576" anchor="ctr">
            <a:noAutofit/>
          </a:bodyPr>
          <a:lstStyle/>
          <a:p>
            <a:pPr algn="l"/>
            <a:r>
              <a:rPr sz="1200" b="0" i="0">
                <a:solidFill>
                  <a:srgbClr val="FFFFFF"/>
                </a:solidFill>
                <a:latin typeface="Calibri"/>
              </a:rPr>
              <a:t>Paytm's share of UPI volume, vs PhonePe 45.6% and Google Pay 32.3% (NPCI, Aug 2026)</a:t>
            </a:r>
          </a:p>
        </p:txBody>
      </p:sp>
      <p:sp>
        <p:nvSpPr>
          <p:cNvPr id="41" name="Rounded Rectangle 40"/>
          <p:cNvSpPr/>
          <p:nvPr/>
        </p:nvSpPr>
        <p:spPr>
          <a:xfrm>
            <a:off x="7086600" y="3648456"/>
            <a:ext cx="4553712" cy="822960"/>
          </a:xfrm>
          <a:prstGeom prst="roundRect">
            <a:avLst>
              <a:gd name="adj" fmla="val 8000"/>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2" name="TextBox 41"/>
          <p:cNvSpPr txBox="1"/>
          <p:nvPr/>
        </p:nvSpPr>
        <p:spPr>
          <a:xfrm>
            <a:off x="7223760" y="3721608"/>
            <a:ext cx="1600200" cy="457200"/>
          </a:xfrm>
          <a:prstGeom prst="rect">
            <a:avLst/>
          </a:prstGeom>
          <a:noFill/>
        </p:spPr>
        <p:txBody>
          <a:bodyPr wrap="square" lIns="36576" rIns="36576" tIns="36576" bIns="36576" anchor="ctr">
            <a:noAutofit/>
          </a:bodyPr>
          <a:lstStyle/>
          <a:p>
            <a:pPr algn="l"/>
            <a:r>
              <a:rPr sz="1700" b="1" i="0">
                <a:solidFill>
                  <a:srgbClr val="00BAF2"/>
                </a:solidFill>
                <a:latin typeface="Calibri"/>
              </a:rPr>
              <a:t>Collect only</a:t>
            </a:r>
          </a:p>
        </p:txBody>
      </p:sp>
      <p:sp>
        <p:nvSpPr>
          <p:cNvPr id="43" name="Rounded Rectangle 42"/>
          <p:cNvSpPr/>
          <p:nvPr/>
        </p:nvSpPr>
        <p:spPr>
          <a:xfrm>
            <a:off x="7269480" y="4215384"/>
            <a:ext cx="407003" cy="173736"/>
          </a:xfrm>
          <a:prstGeom prst="roundRect">
            <a:avLst>
              <a:gd name="adj" fmla="val 50000"/>
            </a:avLst>
          </a:prstGeom>
          <a:solidFill>
            <a:srgbClr val="1E8E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800" b="1" i="0">
                <a:solidFill>
                  <a:srgbClr val="FFFFFF"/>
                </a:solidFill>
                <a:latin typeface="Calibri"/>
              </a:rPr>
              <a:t>FACT</a:t>
            </a:r>
          </a:p>
        </p:txBody>
      </p:sp>
      <p:sp>
        <p:nvSpPr>
          <p:cNvPr id="44" name="TextBox 43"/>
          <p:cNvSpPr txBox="1"/>
          <p:nvPr/>
        </p:nvSpPr>
        <p:spPr>
          <a:xfrm>
            <a:off x="8823960" y="3685032"/>
            <a:ext cx="2724912" cy="749808"/>
          </a:xfrm>
          <a:prstGeom prst="rect">
            <a:avLst/>
          </a:prstGeom>
          <a:noFill/>
        </p:spPr>
        <p:txBody>
          <a:bodyPr wrap="square" lIns="36576" rIns="36576" tIns="36576" bIns="36576" anchor="ctr">
            <a:noAutofit/>
          </a:bodyPr>
          <a:lstStyle/>
          <a:p>
            <a:pPr algn="l"/>
            <a:r>
              <a:rPr sz="1200" b="0" i="0">
                <a:solidFill>
                  <a:srgbClr val="FFFFFF"/>
                </a:solidFill>
                <a:latin typeface="Calibri"/>
              </a:rPr>
              <a:t>Paytm for Business lists collections, settlements, statements and loans; no supplier payments (app listing)</a:t>
            </a:r>
          </a:p>
        </p:txBody>
      </p:sp>
      <p:sp>
        <p:nvSpPr>
          <p:cNvPr id="45" name="Rounded Rectangle 44"/>
          <p:cNvSpPr/>
          <p:nvPr/>
        </p:nvSpPr>
        <p:spPr>
          <a:xfrm>
            <a:off x="7086600" y="4581144"/>
            <a:ext cx="4553712" cy="822960"/>
          </a:xfrm>
          <a:prstGeom prst="roundRect">
            <a:avLst>
              <a:gd name="adj" fmla="val 8000"/>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6" name="TextBox 45"/>
          <p:cNvSpPr txBox="1"/>
          <p:nvPr/>
        </p:nvSpPr>
        <p:spPr>
          <a:xfrm>
            <a:off x="7223760" y="4654296"/>
            <a:ext cx="1600200" cy="457200"/>
          </a:xfrm>
          <a:prstGeom prst="rect">
            <a:avLst/>
          </a:prstGeom>
          <a:noFill/>
        </p:spPr>
        <p:txBody>
          <a:bodyPr wrap="square" lIns="36576" rIns="36576" tIns="36576" bIns="36576" anchor="ctr">
            <a:noAutofit/>
          </a:bodyPr>
          <a:lstStyle/>
          <a:p>
            <a:pPr algn="l"/>
            <a:r>
              <a:rPr sz="2200" b="1" i="0">
                <a:solidFill>
                  <a:srgbClr val="00BAF2"/>
                </a:solidFill>
                <a:latin typeface="Calibri"/>
              </a:rPr>
              <a:t>0 of 50</a:t>
            </a:r>
          </a:p>
        </p:txBody>
      </p:sp>
      <p:sp>
        <p:nvSpPr>
          <p:cNvPr id="47" name="Rounded Rectangle 46"/>
          <p:cNvSpPr/>
          <p:nvPr/>
        </p:nvSpPr>
        <p:spPr>
          <a:xfrm>
            <a:off x="7269480" y="5148072"/>
            <a:ext cx="662098" cy="173736"/>
          </a:xfrm>
          <a:prstGeom prst="roundRect">
            <a:avLst>
              <a:gd name="adj" fmla="val 50000"/>
            </a:avLst>
          </a:prstGeom>
          <a:solidFill>
            <a:srgbClr val="F2B20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800" b="1" i="0">
                <a:solidFill>
                  <a:srgbClr val="1B2733"/>
                </a:solidFill>
                <a:latin typeface="Calibri"/>
              </a:rPr>
              <a:t>SYNTHETIC</a:t>
            </a:r>
          </a:p>
        </p:txBody>
      </p:sp>
      <p:sp>
        <p:nvSpPr>
          <p:cNvPr id="48" name="TextBox 47"/>
          <p:cNvSpPr txBox="1"/>
          <p:nvPr/>
        </p:nvSpPr>
        <p:spPr>
          <a:xfrm>
            <a:off x="8823960" y="4617720"/>
            <a:ext cx="2724912" cy="749808"/>
          </a:xfrm>
          <a:prstGeom prst="rect">
            <a:avLst/>
          </a:prstGeom>
          <a:noFill/>
        </p:spPr>
        <p:txBody>
          <a:bodyPr wrap="square" lIns="36576" rIns="36576" tIns="36576" bIns="36576" anchor="ctr">
            <a:noAutofit/>
          </a:bodyPr>
          <a:lstStyle/>
          <a:p>
            <a:pPr algn="l"/>
            <a:r>
              <a:rPr sz="1200" b="0" i="0">
                <a:solidFill>
                  <a:srgbClr val="FFFFFF"/>
                </a:solidFill>
                <a:latin typeface="Calibri"/>
              </a:rPr>
              <a:t>synthetic merchants use Paytm as their main business-payment app; 29 use PhonePe, 15 Google Pay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grpId="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grpId="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THE PROBLEM · ROOT CAUSE</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002E6E"/>
                </a:solidFill>
                <a:latin typeface="Calibri"/>
              </a:rPr>
              <a:t>The habit Paytm wants already exists. Merchants won't switch for a better button, only when a step disappears</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Source: S16 synthetic VOC dataset (counts of 50 rows; illustrative, not market prevalence). Quotes are dataset responses, not interviewed merchants.</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3</a:t>
            </a:r>
          </a:p>
        </p:txBody>
      </p:sp>
      <p:sp>
        <p:nvSpPr>
          <p:cNvPr id="7" name="TextBox 6"/>
          <p:cNvSpPr txBox="1"/>
          <p:nvPr/>
        </p:nvSpPr>
        <p:spPr>
          <a:xfrm>
            <a:off x="548640" y="1691640"/>
            <a:ext cx="4663440" cy="274320"/>
          </a:xfrm>
          <a:prstGeom prst="rect">
            <a:avLst/>
          </a:prstGeom>
          <a:noFill/>
        </p:spPr>
        <p:txBody>
          <a:bodyPr wrap="square" lIns="36576" rIns="36576" tIns="36576" bIns="36576" anchor="t">
            <a:noAutofit/>
          </a:bodyPr>
          <a:lstStyle/>
          <a:p>
            <a:pPr algn="l"/>
            <a:r>
              <a:rPr sz="1100" b="1" i="0">
                <a:solidFill>
                  <a:srgbClr val="5B6B7C"/>
                </a:solidFill>
                <a:latin typeface="Calibri"/>
              </a:rPr>
              <a:t>APP SWITCHING, NOT UPI ADOPTION</a:t>
            </a:r>
          </a:p>
        </p:txBody>
      </p:sp>
      <p:grpSp>
        <p:nvGrpSpPr>
          <p:cNvPr id="8" name="colA"/>
          <p:cNvGrpSpPr/>
          <p:nvPr/>
        </p:nvGrpSpPr>
        <p:grpSpPr>
          <a:xfrm>
            <a:off x="548640" y="2011680"/>
            <a:ext cx="4663440" cy="3246120"/>
            <a:chOff x="548640" y="2011680"/>
            <a:chExt cx="4663440" cy="3246120"/>
          </a:xfrm>
        </p:grpSpPr>
        <p:sp>
          <p:nvSpPr>
            <p:cNvPr id="9" name="Rounded Rectangle 8"/>
            <p:cNvSpPr/>
            <p:nvPr/>
          </p:nvSpPr>
          <p:spPr>
            <a:xfrm>
              <a:off x="548640" y="2011680"/>
              <a:ext cx="2240280" cy="324612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46304" rIns="146304" tIns="146304" bIns="146304">
              <a:noAutofit/>
            </a:bodyPr>
            <a:lstStyle/>
            <a:p>
              <a:pPr algn="l"/>
              <a:r>
                <a:rPr sz="1500" b="1" i="0">
                  <a:solidFill>
                    <a:srgbClr val="5B6B7C"/>
                  </a:solidFill>
                  <a:latin typeface="Calibri"/>
                </a:rPr>
                <a:t>UPI adoption</a:t>
              </a:r>
            </a:p>
            <a:p>
              <a:pPr algn="l">
                <a:spcBef>
                  <a:spcPts val="0"/>
                </a:spcBef>
              </a:pPr>
              <a:r>
                <a:rPr sz="1200" b="0" i="0">
                  <a:solidFill>
                    <a:srgbClr val="5B6B7C"/>
                  </a:solidFill>
                  <a:latin typeface="Calibri"/>
                </a:rPr>
                <a:t/>
              </a:r>
            </a:p>
            <a:p>
              <a:pPr algn="l">
                <a:spcBef>
                  <a:spcPts val="0"/>
                </a:spcBef>
              </a:pPr>
              <a:r>
                <a:rPr sz="1200" b="0" i="0">
                  <a:solidFill>
                    <a:srgbClr val="5B6B7C"/>
                  </a:solidFill>
                  <a:latin typeface="Calibri"/>
                </a:rPr>
                <a:t>Teach merchants to pay by UPI</a:t>
              </a:r>
            </a:p>
            <a:p>
              <a:pPr algn="l">
                <a:spcBef>
                  <a:spcPts val="0"/>
                </a:spcBef>
              </a:pPr>
              <a:r>
                <a:rPr sz="1200" b="0" i="0">
                  <a:solidFill>
                    <a:srgbClr val="5B6B7C"/>
                  </a:solidFill>
                  <a:latin typeface="Calibri"/>
                </a:rPr>
                <a:t/>
              </a:r>
            </a:p>
            <a:p>
              <a:pPr algn="l">
                <a:spcBef>
                  <a:spcPts val="0"/>
                </a:spcBef>
              </a:pPr>
              <a:r>
                <a:rPr sz="1200" b="0" i="0">
                  <a:solidFill>
                    <a:srgbClr val="5B6B7C"/>
                  </a:solidFill>
                  <a:latin typeface="Calibri"/>
                </a:rPr>
                <a:t>Get suppliers to accept UPI</a:t>
              </a:r>
            </a:p>
            <a:p>
              <a:pPr algn="l">
                <a:spcBef>
                  <a:spcPts val="0"/>
                </a:spcBef>
              </a:pPr>
              <a:r>
                <a:rPr sz="1200" b="0" i="0">
                  <a:solidFill>
                    <a:srgbClr val="5B6B7C"/>
                  </a:solidFill>
                  <a:latin typeface="Calibri"/>
                </a:rPr>
                <a:t/>
              </a:r>
            </a:p>
            <a:p>
              <a:pPr algn="l">
                <a:spcBef>
                  <a:spcPts val="0"/>
                </a:spcBef>
              </a:pPr>
              <a:r>
                <a:rPr sz="1200" b="0" i="0">
                  <a:solidFill>
                    <a:srgbClr val="5B6B7C"/>
                  </a:solidFill>
                  <a:latin typeface="Calibri"/>
                </a:rPr>
                <a:t>Move payments off cash and NEFT</a:t>
              </a:r>
            </a:p>
            <a:p>
              <a:pPr algn="l">
                <a:spcBef>
                  <a:spcPts val="0"/>
                </a:spcBef>
              </a:pPr>
              <a:r>
                <a:rPr sz="1200" b="0" i="0">
                  <a:solidFill>
                    <a:srgbClr val="5B6B7C"/>
                  </a:solidFill>
                  <a:latin typeface="Calibri"/>
                </a:rPr>
                <a:t/>
              </a:r>
            </a:p>
            <a:p>
              <a:pPr algn="l">
                <a:spcBef>
                  <a:spcPts val="0"/>
                </a:spcBef>
              </a:pPr>
              <a:r>
                <a:rPr sz="1200" b="1" i="0">
                  <a:solidFill>
                    <a:srgbClr val="5B6B7C"/>
                  </a:solidFill>
                  <a:latin typeface="Calibri"/>
                </a:rPr>
                <a:t>Not the problem</a:t>
              </a:r>
            </a:p>
          </p:txBody>
        </p:sp>
        <p:sp>
          <p:nvSpPr>
            <p:cNvPr id="10" name="Rounded Rectangle 9"/>
            <p:cNvSpPr/>
            <p:nvPr/>
          </p:nvSpPr>
          <p:spPr>
            <a:xfrm>
              <a:off x="2926080" y="2011680"/>
              <a:ext cx="2286000" cy="3246120"/>
            </a:xfrm>
            <a:prstGeom prst="roundRect">
              <a:avLst>
                <a:gd name="adj" fmla="val 6000"/>
              </a:avLst>
            </a:prstGeom>
            <a:solidFill>
              <a:srgbClr val="EEF5FC"/>
            </a:solidFill>
            <a:ln w="19050">
              <a:solidFill>
                <a:srgbClr val="00BAF2"/>
              </a:solidFill>
            </a:ln>
            <a:effectLst/>
          </p:spPr>
          <p:style>
            <a:lnRef idx="1">
              <a:schemeClr val="accent1"/>
            </a:lnRef>
            <a:fillRef idx="3">
              <a:schemeClr val="accent1"/>
            </a:fillRef>
            <a:effectRef idx="0">
              <a:schemeClr val="accent1"/>
            </a:effectRef>
            <a:fontRef idx="minor">
              <a:schemeClr val="lt1"/>
            </a:fontRef>
          </p:style>
          <p:txBody>
            <a:bodyPr rtlCol="0" anchor="t" wrap="square" lIns="146304" rIns="146304" tIns="146304" bIns="146304">
              <a:noAutofit/>
            </a:bodyPr>
            <a:lstStyle/>
            <a:p>
              <a:pPr algn="l"/>
              <a:r>
                <a:rPr sz="1500" b="1" i="0">
                  <a:solidFill>
                    <a:srgbClr val="002E6E"/>
                  </a:solidFill>
                  <a:latin typeface="Calibri"/>
                </a:rPr>
                <a:t>App switching</a:t>
              </a:r>
            </a:p>
            <a:p>
              <a:pPr algn="l">
                <a:spcBef>
                  <a:spcPts val="0"/>
                </a:spcBef>
              </a:pPr>
              <a:r>
                <a:rPr sz="1200" b="0" i="0">
                  <a:solidFill>
                    <a:srgbClr val="1B2733"/>
                  </a:solidFill>
                  <a:latin typeface="Calibri"/>
                </a:rPr>
                <a:t/>
              </a:r>
            </a:p>
            <a:p>
              <a:pPr algn="l">
                <a:spcBef>
                  <a:spcPts val="0"/>
                </a:spcBef>
              </a:pPr>
              <a:r>
                <a:rPr sz="1200" b="1" i="0">
                  <a:solidFill>
                    <a:srgbClr val="1B2733"/>
                  </a:solidFill>
                  <a:latin typeface="Calibri"/>
                </a:rPr>
                <a:t>41 of 50</a:t>
              </a:r>
              <a:r>
                <a:rPr sz="1200" b="0" i="0">
                  <a:solidFill>
                    <a:srgbClr val="1B2733"/>
                  </a:solidFill>
                  <a:latin typeface="Calibri"/>
                </a:rPr>
                <a:t> already pay vendors by UPI at least 2–3 times a week</a:t>
              </a:r>
            </a:p>
            <a:p>
              <a:pPr algn="l">
                <a:spcBef>
                  <a:spcPts val="0"/>
                </a:spcBef>
              </a:pPr>
              <a:r>
                <a:rPr sz="1200" b="0" i="0">
                  <a:solidFill>
                    <a:srgbClr val="1B2733"/>
                  </a:solidFill>
                  <a:latin typeface="Calibri"/>
                </a:rPr>
                <a:t/>
              </a:r>
            </a:p>
            <a:p>
              <a:pPr algn="l">
                <a:spcBef>
                  <a:spcPts val="0"/>
                </a:spcBef>
              </a:pPr>
              <a:r>
                <a:rPr sz="1200" b="0" i="0">
                  <a:solidFill>
                    <a:srgbClr val="1B2733"/>
                  </a:solidFill>
                  <a:latin typeface="Calibri"/>
                </a:rPr>
                <a:t>The merchant, not the supplier, picks the app: any UPI app pays any QR</a:t>
              </a:r>
            </a:p>
            <a:p>
              <a:pPr algn="l">
                <a:spcBef>
                  <a:spcPts val="0"/>
                </a:spcBef>
              </a:pPr>
              <a:r>
                <a:rPr sz="1200" b="0" i="0">
                  <a:solidFill>
                    <a:srgbClr val="1B2733"/>
                  </a:solidFill>
                  <a:latin typeface="Calibri"/>
                </a:rPr>
                <a:t/>
              </a:r>
            </a:p>
            <a:p>
              <a:pPr algn="l">
                <a:spcBef>
                  <a:spcPts val="0"/>
                </a:spcBef>
              </a:pPr>
              <a:r>
                <a:rPr sz="1200" b="1" i="0">
                  <a:solidFill>
                    <a:srgbClr val="1B2733"/>
                  </a:solidFill>
                  <a:latin typeface="Calibri"/>
                </a:rPr>
                <a:t>Habit to beat: </a:t>
              </a:r>
              <a:r>
                <a:rPr sz="1200" b="0" i="0">
                  <a:solidFill>
                    <a:srgbClr val="1B2733"/>
                  </a:solidFill>
                  <a:latin typeface="Calibri"/>
                </a:rPr>
                <a:t>PhonePe 29, Google Pay 15 of 50</a:t>
              </a:r>
            </a:p>
            <a:p>
              <a:pPr algn="l">
                <a:spcBef>
                  <a:spcPts val="0"/>
                </a:spcBef>
              </a:pPr>
              <a:r>
                <a:rPr sz="1200" b="0" i="0">
                  <a:solidFill>
                    <a:srgbClr val="1B2733"/>
                  </a:solidFill>
                  <a:latin typeface="Calibri"/>
                </a:rPr>
                <a:t/>
              </a:r>
            </a:p>
            <a:p>
              <a:pPr algn="l">
                <a:spcBef>
                  <a:spcPts val="0"/>
                </a:spcBef>
              </a:pPr>
              <a:r>
                <a:rPr sz="1200" b="1" i="0">
                  <a:solidFill>
                    <a:srgbClr val="0077B6"/>
                  </a:solidFill>
                  <a:latin typeface="Calibri"/>
                </a:rPr>
                <a:t>The problem</a:t>
              </a:r>
            </a:p>
          </p:txBody>
        </p:sp>
      </p:grpSp>
      <p:sp>
        <p:nvSpPr>
          <p:cNvPr id="11" name="Rounded Rectangle 10"/>
          <p:cNvSpPr/>
          <p:nvPr/>
        </p:nvSpPr>
        <p:spPr>
          <a:xfrm>
            <a:off x="3035808" y="5349240"/>
            <a:ext cx="719714" cy="201168"/>
          </a:xfrm>
          <a:prstGeom prst="roundRect">
            <a:avLst>
              <a:gd name="adj" fmla="val 50000"/>
            </a:avLst>
          </a:prstGeom>
          <a:solidFill>
            <a:srgbClr val="F2B20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1B2733"/>
                </a:solidFill>
                <a:latin typeface="Calibri"/>
              </a:rPr>
              <a:t>SYNTHETIC</a:t>
            </a:r>
          </a:p>
        </p:txBody>
      </p:sp>
      <p:sp>
        <p:nvSpPr>
          <p:cNvPr id="12" name="symptom"/>
          <p:cNvSpPr/>
          <p:nvPr/>
        </p:nvSpPr>
        <p:spPr>
          <a:xfrm>
            <a:off x="6583680" y="1691640"/>
            <a:ext cx="4023360" cy="502920"/>
          </a:xfrm>
          <a:prstGeom prst="roundRect">
            <a:avLst>
              <a:gd name="adj" fmla="val 20000"/>
            </a:avLst>
          </a:prstGeom>
          <a:solidFill>
            <a:srgbClr val="D5DCE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300" b="1" i="0">
                <a:solidFill>
                  <a:srgbClr val="1B2733"/>
                </a:solidFill>
                <a:latin typeface="Calibri"/>
              </a:rPr>
              <a:t>Paytm collectors pay suppliers on another app</a:t>
            </a:r>
          </a:p>
        </p:txBody>
      </p:sp>
      <p:grpSp>
        <p:nvGrpSpPr>
          <p:cNvPr id="13" name="causes_navy"/>
          <p:cNvGrpSpPr/>
          <p:nvPr/>
        </p:nvGrpSpPr>
        <p:grpSpPr>
          <a:xfrm>
            <a:off x="5577840" y="2194560"/>
            <a:ext cx="3017520" cy="2231136"/>
            <a:chOff x="5577840" y="2194560"/>
            <a:chExt cx="3017520" cy="2231136"/>
          </a:xfrm>
        </p:grpSpPr>
        <p:cxnSp>
          <p:nvCxnSpPr>
            <p:cNvPr id="14" name="Connector 13"/>
            <p:cNvCxnSpPr/>
            <p:nvPr/>
          </p:nvCxnSpPr>
          <p:spPr>
            <a:xfrm flipH="1">
              <a:off x="6995160" y="2194560"/>
              <a:ext cx="1600200" cy="320040"/>
            </a:xfrm>
            <a:prstGeom prst="line">
              <a:avLst/>
            </a:prstGeom>
            <a:ln w="15875">
              <a:solidFill>
                <a:srgbClr val="C9D3DE"/>
              </a:solidFill>
            </a:ln>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5577840" y="2542032"/>
              <a:ext cx="2834640" cy="274320"/>
            </a:xfrm>
            <a:prstGeom prst="rect">
              <a:avLst/>
            </a:prstGeom>
            <a:noFill/>
          </p:spPr>
          <p:txBody>
            <a:bodyPr wrap="square" lIns="36576" rIns="36576" tIns="36576" bIns="36576" anchor="t">
              <a:noAutofit/>
            </a:bodyPr>
            <a:lstStyle/>
            <a:p>
              <a:pPr algn="l"/>
              <a:r>
                <a:rPr sz="1000" b="1" i="0">
                  <a:solidFill>
                    <a:srgbClr val="002E6E"/>
                  </a:solidFill>
                  <a:latin typeface="Calibri"/>
                </a:rPr>
                <a:t>WHAT KEEPS THEM WHERE THEY ARE</a:t>
              </a:r>
            </a:p>
          </p:txBody>
        </p:sp>
        <p:sp>
          <p:nvSpPr>
            <p:cNvPr id="16" name="Rounded Rectangle 15"/>
            <p:cNvSpPr/>
            <p:nvPr/>
          </p:nvSpPr>
          <p:spPr>
            <a:xfrm>
              <a:off x="5577840" y="2852928"/>
              <a:ext cx="2834640" cy="475488"/>
            </a:xfrm>
            <a:prstGeom prst="roundRect">
              <a:avLst>
                <a:gd name="adj" fmla="val 12000"/>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0" i="0">
                  <a:solidFill>
                    <a:srgbClr val="FFFFFF"/>
                  </a:solidFill>
                  <a:latin typeface="Calibri"/>
                </a:rPr>
                <a:t>Same steps on every app (parity)</a:t>
              </a:r>
            </a:p>
          </p:txBody>
        </p:sp>
        <p:sp>
          <p:nvSpPr>
            <p:cNvPr id="17" name="Rounded Rectangle 16"/>
            <p:cNvSpPr/>
            <p:nvPr/>
          </p:nvSpPr>
          <p:spPr>
            <a:xfrm>
              <a:off x="5577840" y="3401568"/>
              <a:ext cx="2834640" cy="475488"/>
            </a:xfrm>
            <a:prstGeom prst="roundRect">
              <a:avLst>
                <a:gd name="adj" fmla="val 12000"/>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0" i="0">
                  <a:solidFill>
                    <a:srgbClr val="FFFFFF"/>
                  </a:solidFill>
                  <a:latin typeface="Calibri"/>
                </a:rPr>
                <a:t>Habit and staff familiarity</a:t>
              </a:r>
            </a:p>
          </p:txBody>
        </p:sp>
        <p:sp>
          <p:nvSpPr>
            <p:cNvPr id="18" name="Rounded Rectangle 17"/>
            <p:cNvSpPr/>
            <p:nvPr/>
          </p:nvSpPr>
          <p:spPr>
            <a:xfrm>
              <a:off x="5577840" y="3950208"/>
              <a:ext cx="2834640" cy="475488"/>
            </a:xfrm>
            <a:prstGeom prst="roundRect">
              <a:avLst>
                <a:gd name="adj" fmla="val 12000"/>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0" i="0">
                  <a:solidFill>
                    <a:srgbClr val="FFFFFF"/>
                  </a:solidFill>
                  <a:latin typeface="Calibri"/>
                </a:rPr>
                <a:t>Supplier's QR on WhatsApp opens in the current app</a:t>
              </a:r>
            </a:p>
          </p:txBody>
        </p:sp>
      </p:grpSp>
      <p:grpSp>
        <p:nvGrpSpPr>
          <p:cNvPr id="19" name="causes_cyan"/>
          <p:cNvGrpSpPr/>
          <p:nvPr/>
        </p:nvGrpSpPr>
        <p:grpSpPr>
          <a:xfrm>
            <a:off x="8595360" y="2194560"/>
            <a:ext cx="3044952" cy="2212848"/>
            <a:chOff x="8595360" y="2194560"/>
            <a:chExt cx="3044952" cy="2212848"/>
          </a:xfrm>
        </p:grpSpPr>
        <p:cxnSp>
          <p:nvCxnSpPr>
            <p:cNvPr id="20" name="Connector 19"/>
            <p:cNvCxnSpPr/>
            <p:nvPr/>
          </p:nvCxnSpPr>
          <p:spPr>
            <a:xfrm>
              <a:off x="8595360" y="2194560"/>
              <a:ext cx="1600200" cy="320040"/>
            </a:xfrm>
            <a:prstGeom prst="line">
              <a:avLst/>
            </a:prstGeom>
            <a:ln w="19050">
              <a:solidFill>
                <a:srgbClr val="00BAF2"/>
              </a:solidFill>
            </a:ln>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8732520" y="2542032"/>
              <a:ext cx="2907792" cy="274320"/>
            </a:xfrm>
            <a:prstGeom prst="rect">
              <a:avLst/>
            </a:prstGeom>
            <a:noFill/>
          </p:spPr>
          <p:txBody>
            <a:bodyPr wrap="square" lIns="36576" rIns="36576" tIns="36576" bIns="36576" anchor="t">
              <a:noAutofit/>
            </a:bodyPr>
            <a:lstStyle/>
            <a:p>
              <a:pPr algn="l"/>
              <a:r>
                <a:rPr sz="1000" b="1" i="0">
                  <a:solidFill>
                    <a:srgbClr val="0077B6"/>
                  </a:solidFill>
                  <a:latin typeface="Calibri"/>
                </a:rPr>
                <a:t>STEPS PAYTM CAN REMOVE</a:t>
              </a:r>
            </a:p>
          </p:txBody>
        </p:sp>
        <p:sp>
          <p:nvSpPr>
            <p:cNvPr id="22" name="Rounded Rectangle 21"/>
            <p:cNvSpPr/>
            <p:nvPr/>
          </p:nvSpPr>
          <p:spPr>
            <a:xfrm>
              <a:off x="8732520" y="2852928"/>
              <a:ext cx="2907792" cy="731520"/>
            </a:xfrm>
            <a:prstGeom prst="roundRect">
              <a:avLst>
                <a:gd name="adj" fmla="val 12000"/>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0">
                  <a:solidFill>
                    <a:srgbClr val="002E6E"/>
                  </a:solidFill>
                  <a:latin typeface="Calibri"/>
                </a:rPr>
                <a:t>Waiting for collections to settle before paying</a:t>
              </a:r>
            </a:p>
          </p:txBody>
        </p:sp>
        <p:sp>
          <p:nvSpPr>
            <p:cNvPr id="23" name="Rounded Rectangle 22"/>
            <p:cNvSpPr/>
            <p:nvPr/>
          </p:nvSpPr>
          <p:spPr>
            <a:xfrm>
              <a:off x="8732520" y="3675888"/>
              <a:ext cx="2907792" cy="731520"/>
            </a:xfrm>
            <a:prstGeom prst="roundRect">
              <a:avLst>
                <a:gd name="adj" fmla="val 12000"/>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0">
                  <a:solidFill>
                    <a:srgbClr val="002E6E"/>
                  </a:solidFill>
                  <a:latin typeface="Calibri"/>
                </a:rPr>
                <a:t>Moving money from the settlement account to the paying account</a:t>
              </a:r>
            </a:p>
          </p:txBody>
        </p:sp>
      </p:grpSp>
      <p:sp>
        <p:nvSpPr>
          <p:cNvPr id="24" name="Rounded Rectangle 23"/>
          <p:cNvSpPr/>
          <p:nvPr/>
        </p:nvSpPr>
        <p:spPr>
          <a:xfrm>
            <a:off x="5577840" y="4617720"/>
            <a:ext cx="2971800" cy="777240"/>
          </a:xfrm>
          <a:prstGeom prst="roundRect">
            <a:avLst>
              <a:gd name="adj" fmla="val 8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1">
                <a:solidFill>
                  <a:srgbClr val="002E6E"/>
                </a:solidFill>
                <a:latin typeface="Calibri"/>
              </a:rPr>
              <a:t>“Same steps hain toh app kyun badlu?”</a:t>
            </a:r>
          </a:p>
          <a:p>
            <a:pPr algn="l"/>
            <a:r>
              <a:rPr sz="1000" b="0" i="0">
                <a:solidFill>
                  <a:srgbClr val="5B6B7C"/>
                </a:solidFill>
                <a:latin typeface="Calibri"/>
              </a:rPr>
              <a:t>If the steps are the same, why change apps?</a:t>
            </a:r>
          </a:p>
        </p:txBody>
      </p:sp>
      <p:sp>
        <p:nvSpPr>
          <p:cNvPr id="25" name="Rounded Rectangle 24"/>
          <p:cNvSpPr/>
          <p:nvPr/>
        </p:nvSpPr>
        <p:spPr>
          <a:xfrm>
            <a:off x="8641080" y="4617720"/>
            <a:ext cx="2971800" cy="777240"/>
          </a:xfrm>
          <a:prstGeom prst="roundRect">
            <a:avLst>
              <a:gd name="adj" fmla="val 8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1">
                <a:solidFill>
                  <a:srgbClr val="002E6E"/>
                </a:solidFill>
                <a:latin typeface="Calibri"/>
              </a:rPr>
              <a:t>“Subah supplier ko paisa chahiye, collection baad mein settle hota hai.”</a:t>
            </a:r>
          </a:p>
          <a:p>
            <a:pPr algn="l"/>
            <a:r>
              <a:rPr sz="1000" b="0" i="0">
                <a:solidFill>
                  <a:srgbClr val="5B6B7C"/>
                </a:solidFill>
                <a:latin typeface="Calibri"/>
              </a:rPr>
              <a:t>The supplier wants money in the morning; collections settle later.</a:t>
            </a:r>
          </a:p>
        </p:txBody>
      </p:sp>
      <p:sp>
        <p:nvSpPr>
          <p:cNvPr id="26" name="TextBox 25"/>
          <p:cNvSpPr txBox="1"/>
          <p:nvPr/>
        </p:nvSpPr>
        <p:spPr>
          <a:xfrm>
            <a:off x="5577840" y="5422392"/>
            <a:ext cx="6035040" cy="228600"/>
          </a:xfrm>
          <a:prstGeom prst="rect">
            <a:avLst/>
          </a:prstGeom>
          <a:noFill/>
        </p:spPr>
        <p:txBody>
          <a:bodyPr wrap="square" lIns="36576" rIns="36576" tIns="36576" bIns="36576" anchor="t">
            <a:noAutofit/>
          </a:bodyPr>
          <a:lstStyle/>
          <a:p>
            <a:pPr algn="l"/>
            <a:r>
              <a:rPr sz="900" b="0" i="1">
                <a:solidFill>
                  <a:srgbClr val="5B6B7C"/>
                </a:solidFill>
                <a:latin typeface="Calibri"/>
              </a:rPr>
              <a:t>Synthetic-dataset verbatims: illustrations only, never counted as evidence</a:t>
            </a:r>
          </a:p>
        </p:txBody>
      </p:sp>
      <p:sp>
        <p:nvSpPr>
          <p:cNvPr id="27" name="resolve"/>
          <p:cNvSpPr txBox="1"/>
          <p:nvPr/>
        </p:nvSpPr>
        <p:spPr>
          <a:xfrm>
            <a:off x="548640" y="5760720"/>
            <a:ext cx="11091672" cy="411480"/>
          </a:xfrm>
          <a:prstGeom prst="rect">
            <a:avLst/>
          </a:prstGeom>
          <a:noFill/>
        </p:spPr>
        <p:txBody>
          <a:bodyPr wrap="square" lIns="36576" rIns="36576" tIns="36576" bIns="36576" anchor="t">
            <a:noAutofit/>
          </a:bodyPr>
          <a:lstStyle/>
          <a:p>
            <a:pPr algn="ctr"/>
            <a:r>
              <a:rPr sz="1700" b="1" i="0">
                <a:solidFill>
                  <a:srgbClr val="002E6E"/>
                </a:solidFill>
                <a:latin typeface="Calibri"/>
              </a:rPr>
              <a:t>Remove a step, and merchants have a reason to switch. Match a step, and they don't.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grpId="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childTnLst>
                          </p:cTn>
                        </p:par>
                        <p:par>
                          <p:cTn id="8" fill="hold">
                            <p:stCondLst>
                              <p:cond delay="450"/>
                            </p:stCondLst>
                            <p:childTnLst>
                              <p:par>
                                <p:cTn id="9" presetID="10" presetClass="entr" presetSubtype="0" grpId="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5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grpId="0"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50"/>
                                        <p:tgtEl>
                                          <p:spTgt spid="19"/>
                                        </p:tgtEl>
                                      </p:cBhvr>
                                    </p:animEffect>
                                  </p:childTnLst>
                                </p:cTn>
                              </p:par>
                            </p:childTnLst>
                          </p:cTn>
                        </p:par>
                        <p:par>
                          <p:cTn id="17" fill="hold">
                            <p:stCondLst>
                              <p:cond delay="450"/>
                            </p:stCondLst>
                            <p:childTnLst>
                              <p:par>
                                <p:cTn id="18" presetID="6" presetClass="emph" presetSubtype="0" grpId="1" fill="hold" nodeType="afterEffect">
                                  <p:stCondLst>
                                    <p:cond delay="0"/>
                                  </p:stCondLst>
                                  <p:childTnLst>
                                    <p:animScale>
                                      <p:cBhvr>
                                        <p:cTn id="19" dur="300" autoRev="1" fill="hold"/>
                                        <p:tgtEl>
                                          <p:spTgt spid="22"/>
                                        </p:tgtEl>
                                      </p:cBhvr>
                                      <p:by x="108000" y="108000"/>
                                    </p:animScale>
                                  </p:childTnLst>
                                </p:cTn>
                              </p:par>
                              <p:par>
                                <p:cTn id="20" presetID="6" presetClass="emph" presetSubtype="0" grpId="1" fill="hold" nodeType="withEffect">
                                  <p:stCondLst>
                                    <p:cond delay="0"/>
                                  </p:stCondLst>
                                  <p:childTnLst>
                                    <p:animScale>
                                      <p:cBhvr>
                                        <p:cTn id="21" dur="300" autoRev="1" fill="hold"/>
                                        <p:tgtEl>
                                          <p:spTgt spid="23"/>
                                        </p:tgtEl>
                                      </p:cBhvr>
                                      <p:by x="108000" y="108000"/>
                                    </p:animScale>
                                  </p:childTnLst>
                                </p:cTn>
                              </p:par>
                            </p:childTnLst>
                          </p:cTn>
                        </p:par>
                      </p:childTnLst>
                    </p:cTn>
                  </p:par>
                  <p:par>
                    <p:cTn id="22" fill="hold">
                      <p:stCondLst>
                        <p:cond delay="indefinite"/>
                      </p:stCondLst>
                      <p:childTnLst>
                        <p:par>
                          <p:cTn id="23" fill="hold">
                            <p:stCondLst>
                              <p:cond delay="0"/>
                            </p:stCondLst>
                            <p:childTnLst>
                              <p:par>
                                <p:cTn id="24" presetID="10" presetClass="entr" presetSubtype="0" grpId="0" fill="hold"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2" grpId="1" animBg="1"/>
      <p:bldP spid="23" grpId="1" animBg="1"/>
      <p:bldP spid="27"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THE PROBLEM · TODAY'S JOURNEY</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002E6E"/>
                </a:solidFill>
                <a:latin typeface="Calibri"/>
              </a:rPr>
              <a:t>Paying a supplier from today's sales takes up to four steps across two apps</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Sources: S4 Paytm for Business support (settlement timing); S5 Paytm Payments docs; S3 app listing (manual instant settlement); S6, S7 PhonePe merchant help (Settle Now). Amounts illustrative.</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4</a:t>
            </a:r>
          </a:p>
        </p:txBody>
      </p:sp>
      <p:grpSp>
        <p:nvGrpSpPr>
          <p:cNvPr id="7" name="!!step1"/>
          <p:cNvGrpSpPr/>
          <p:nvPr/>
        </p:nvGrpSpPr>
        <p:grpSpPr>
          <a:xfrm>
            <a:off x="548640" y="1783080"/>
            <a:ext cx="2057400" cy="2468880"/>
            <a:chOff x="548640" y="1783080"/>
            <a:chExt cx="2057400" cy="2468880"/>
          </a:xfrm>
        </p:grpSpPr>
        <p:sp>
          <p:nvSpPr>
            <p:cNvPr id="8" name="Rounded Rectangle 7"/>
            <p:cNvSpPr/>
            <p:nvPr/>
          </p:nvSpPr>
          <p:spPr>
            <a:xfrm>
              <a:off x="548640" y="1783080"/>
              <a:ext cx="2057400" cy="2468880"/>
            </a:xfrm>
            <a:prstGeom prst="roundRect">
              <a:avLst>
                <a:gd name="adj" fmla="val 6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9" name="Oval 8"/>
            <p:cNvSpPr/>
            <p:nvPr/>
          </p:nvSpPr>
          <p:spPr>
            <a:xfrm>
              <a:off x="685800" y="1901952"/>
              <a:ext cx="457200" cy="457200"/>
            </a:xfrm>
            <a:prstGeom prst="ellipse">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800" b="1" i="0">
                  <a:solidFill>
                    <a:srgbClr val="002E6E"/>
                  </a:solidFill>
                  <a:latin typeface="Calibri"/>
                </a:rPr>
                <a:t>1</a:t>
              </a:r>
            </a:p>
          </p:txBody>
        </p:sp>
        <p:sp>
          <p:nvSpPr>
            <p:cNvPr id="10" name="Rounded Rectangle 9"/>
            <p:cNvSpPr/>
            <p:nvPr/>
          </p:nvSpPr>
          <p:spPr>
            <a:xfrm>
              <a:off x="1234440" y="1984248"/>
              <a:ext cx="1280160" cy="292608"/>
            </a:xfrm>
            <a:prstGeom prst="roundRect">
              <a:avLst>
                <a:gd name="adj" fmla="val 50000"/>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Paytm for Business</a:t>
              </a:r>
            </a:p>
          </p:txBody>
        </p:sp>
        <p:sp>
          <p:nvSpPr>
            <p:cNvPr id="11" name="TextBox 10"/>
            <p:cNvSpPr txBox="1"/>
            <p:nvPr/>
          </p:nvSpPr>
          <p:spPr>
            <a:xfrm>
              <a:off x="685800" y="2487168"/>
              <a:ext cx="1810512" cy="566928"/>
            </a:xfrm>
            <a:prstGeom prst="rect">
              <a:avLst/>
            </a:prstGeom>
            <a:noFill/>
          </p:spPr>
          <p:txBody>
            <a:bodyPr wrap="square" lIns="36576" rIns="36576" tIns="36576" bIns="36576" anchor="t">
              <a:noAutofit/>
            </a:bodyPr>
            <a:lstStyle/>
            <a:p>
              <a:pPr algn="l"/>
              <a:r>
                <a:rPr sz="1500" b="1" i="0">
                  <a:solidFill>
                    <a:srgbClr val="002E6E"/>
                  </a:solidFill>
                  <a:latin typeface="Calibri"/>
                </a:rPr>
                <a:t>Check collections</a:t>
              </a:r>
            </a:p>
          </p:txBody>
        </p:sp>
        <p:sp>
          <p:nvSpPr>
            <p:cNvPr id="12" name="TextBox 11"/>
            <p:cNvSpPr txBox="1"/>
            <p:nvPr/>
          </p:nvSpPr>
          <p:spPr>
            <a:xfrm>
              <a:off x="685800" y="3063240"/>
              <a:ext cx="1810512" cy="1143000"/>
            </a:xfrm>
            <a:prstGeom prst="rect">
              <a:avLst/>
            </a:prstGeom>
            <a:noFill/>
          </p:spPr>
          <p:txBody>
            <a:bodyPr wrap="square" lIns="36576" rIns="36576" tIns="36576" bIns="36576" anchor="t">
              <a:noAutofit/>
            </a:bodyPr>
            <a:lstStyle/>
            <a:p>
              <a:pPr algn="l"/>
              <a:r>
                <a:rPr sz="1200" b="0" i="0">
                  <a:solidFill>
                    <a:srgbClr val="1B2733"/>
                  </a:solidFill>
                  <a:latin typeface="Calibri"/>
                </a:rPr>
                <a:t>Open Paytm for Business: ₹12,400 collected today.</a:t>
              </a:r>
            </a:p>
          </p:txBody>
        </p:sp>
      </p:grpSp>
      <p:cxnSp>
        <p:nvCxnSpPr>
          <p:cNvPr id="13" name="Connector 12"/>
          <p:cNvCxnSpPr/>
          <p:nvPr/>
        </p:nvCxnSpPr>
        <p:spPr>
          <a:xfrm>
            <a:off x="2633472" y="3017520"/>
            <a:ext cx="283464" cy="0"/>
          </a:xfrm>
          <a:prstGeom prst="line">
            <a:avLst/>
          </a:prstGeom>
          <a:ln w="22225">
            <a:solidFill>
              <a:srgbClr val="5B6B7C"/>
            </a:solidFill>
            <a:tailEnd type="triangle" w="med" len="med"/>
          </a:ln>
        </p:spPr>
        <p:style>
          <a:lnRef idx="2">
            <a:schemeClr val="accent1"/>
          </a:lnRef>
          <a:fillRef idx="0">
            <a:schemeClr val="accent1"/>
          </a:fillRef>
          <a:effectRef idx="0">
            <a:schemeClr val="accent1"/>
          </a:effectRef>
          <a:fontRef idx="minor">
            <a:schemeClr val="tx1"/>
          </a:fontRef>
        </p:style>
      </p:cxnSp>
      <p:grpSp>
        <p:nvGrpSpPr>
          <p:cNvPr id="14" name="!!step2"/>
          <p:cNvGrpSpPr/>
          <p:nvPr/>
        </p:nvGrpSpPr>
        <p:grpSpPr>
          <a:xfrm>
            <a:off x="2944368" y="1783080"/>
            <a:ext cx="2057400" cy="2468880"/>
            <a:chOff x="2944368" y="1783080"/>
            <a:chExt cx="2057400" cy="2468880"/>
          </a:xfrm>
        </p:grpSpPr>
        <p:sp>
          <p:nvSpPr>
            <p:cNvPr id="15" name="Rounded Rectangle 14"/>
            <p:cNvSpPr/>
            <p:nvPr/>
          </p:nvSpPr>
          <p:spPr>
            <a:xfrm>
              <a:off x="2944368" y="1783080"/>
              <a:ext cx="2057400" cy="2468880"/>
            </a:xfrm>
            <a:prstGeom prst="roundRect">
              <a:avLst>
                <a:gd name="adj" fmla="val 6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6" name="Oval 15"/>
            <p:cNvSpPr/>
            <p:nvPr/>
          </p:nvSpPr>
          <p:spPr>
            <a:xfrm>
              <a:off x="3081528" y="1901952"/>
              <a:ext cx="457200" cy="457200"/>
            </a:xfrm>
            <a:prstGeom prst="ellipse">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800" b="1" i="0">
                  <a:solidFill>
                    <a:srgbClr val="002E6E"/>
                  </a:solidFill>
                  <a:latin typeface="Calibri"/>
                </a:rPr>
                <a:t>2</a:t>
              </a:r>
            </a:p>
          </p:txBody>
        </p:sp>
        <p:sp>
          <p:nvSpPr>
            <p:cNvPr id="17" name="Rounded Rectangle 16"/>
            <p:cNvSpPr/>
            <p:nvPr/>
          </p:nvSpPr>
          <p:spPr>
            <a:xfrm>
              <a:off x="3630168" y="1984248"/>
              <a:ext cx="1280160" cy="292608"/>
            </a:xfrm>
            <a:prstGeom prst="roundRect">
              <a:avLst>
                <a:gd name="adj" fmla="val 50000"/>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Paytm for Business</a:t>
              </a:r>
            </a:p>
          </p:txBody>
        </p:sp>
        <p:sp>
          <p:nvSpPr>
            <p:cNvPr id="18" name="TextBox 17"/>
            <p:cNvSpPr txBox="1"/>
            <p:nvPr/>
          </p:nvSpPr>
          <p:spPr>
            <a:xfrm>
              <a:off x="3081528" y="2487168"/>
              <a:ext cx="1810512" cy="566928"/>
            </a:xfrm>
            <a:prstGeom prst="rect">
              <a:avLst/>
            </a:prstGeom>
            <a:noFill/>
          </p:spPr>
          <p:txBody>
            <a:bodyPr wrap="square" lIns="36576" rIns="36576" tIns="36576" bIns="36576" anchor="t">
              <a:noAutofit/>
            </a:bodyPr>
            <a:lstStyle/>
            <a:p>
              <a:pPr algn="l"/>
              <a:r>
                <a:rPr sz="1500" b="1" i="0">
                  <a:solidFill>
                    <a:srgbClr val="002E6E"/>
                  </a:solidFill>
                  <a:latin typeface="Calibri"/>
                </a:rPr>
                <a:t>Settle or wait</a:t>
              </a:r>
            </a:p>
          </p:txBody>
        </p:sp>
        <p:sp>
          <p:nvSpPr>
            <p:cNvPr id="19" name="TextBox 18"/>
            <p:cNvSpPr txBox="1"/>
            <p:nvPr/>
          </p:nvSpPr>
          <p:spPr>
            <a:xfrm>
              <a:off x="3081528" y="3063240"/>
              <a:ext cx="1810512" cy="1143000"/>
            </a:xfrm>
            <a:prstGeom prst="rect">
              <a:avLst/>
            </a:prstGeom>
            <a:noFill/>
          </p:spPr>
          <p:txBody>
            <a:bodyPr wrap="square" lIns="36576" rIns="36576" tIns="36576" bIns="36576" anchor="t">
              <a:noAutofit/>
            </a:bodyPr>
            <a:lstStyle/>
            <a:p>
              <a:pPr algn="l"/>
              <a:r>
                <a:rPr sz="1200" b="0" i="0">
                  <a:solidFill>
                    <a:srgbClr val="1B2733"/>
                  </a:solidFill>
                  <a:latin typeface="Calibri"/>
                </a:rPr>
                <a:t>Trigger manual instant settlement, if the merchant knows it exists, or wait for T+1.</a:t>
              </a:r>
            </a:p>
          </p:txBody>
        </p:sp>
      </p:grpSp>
      <p:cxnSp>
        <p:nvCxnSpPr>
          <p:cNvPr id="20" name="Connector 19"/>
          <p:cNvCxnSpPr/>
          <p:nvPr/>
        </p:nvCxnSpPr>
        <p:spPr>
          <a:xfrm>
            <a:off x="5029200" y="3017520"/>
            <a:ext cx="283464" cy="0"/>
          </a:xfrm>
          <a:prstGeom prst="line">
            <a:avLst/>
          </a:prstGeom>
          <a:ln w="22225">
            <a:solidFill>
              <a:srgbClr val="5B6B7C"/>
            </a:solidFill>
            <a:tailEnd type="triangle" w="med" len="med"/>
          </a:ln>
        </p:spPr>
        <p:style>
          <a:lnRef idx="2">
            <a:schemeClr val="accent1"/>
          </a:lnRef>
          <a:fillRef idx="0">
            <a:schemeClr val="accent1"/>
          </a:fillRef>
          <a:effectRef idx="0">
            <a:schemeClr val="accent1"/>
          </a:effectRef>
          <a:fontRef idx="minor">
            <a:schemeClr val="tx1"/>
          </a:fontRef>
        </p:style>
      </p:cxnSp>
      <p:grpSp>
        <p:nvGrpSpPr>
          <p:cNvPr id="21" name="!!step3"/>
          <p:cNvGrpSpPr/>
          <p:nvPr/>
        </p:nvGrpSpPr>
        <p:grpSpPr>
          <a:xfrm>
            <a:off x="5340096" y="1783080"/>
            <a:ext cx="2057400" cy="2468880"/>
            <a:chOff x="5340096" y="1783080"/>
            <a:chExt cx="2057400" cy="2468880"/>
          </a:xfrm>
        </p:grpSpPr>
        <p:sp>
          <p:nvSpPr>
            <p:cNvPr id="22" name="Rounded Rectangle 21"/>
            <p:cNvSpPr/>
            <p:nvPr/>
          </p:nvSpPr>
          <p:spPr>
            <a:xfrm>
              <a:off x="5340096" y="1783080"/>
              <a:ext cx="2057400" cy="2468880"/>
            </a:xfrm>
            <a:prstGeom prst="roundRect">
              <a:avLst>
                <a:gd name="adj" fmla="val 6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3" name="Oval 22"/>
            <p:cNvSpPr/>
            <p:nvPr/>
          </p:nvSpPr>
          <p:spPr>
            <a:xfrm>
              <a:off x="5477256" y="1901952"/>
              <a:ext cx="457200" cy="457200"/>
            </a:xfrm>
            <a:prstGeom prst="ellipse">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800" b="1" i="0">
                  <a:solidFill>
                    <a:srgbClr val="002E6E"/>
                  </a:solidFill>
                  <a:latin typeface="Calibri"/>
                </a:rPr>
                <a:t>3</a:t>
              </a:r>
            </a:p>
          </p:txBody>
        </p:sp>
        <p:sp>
          <p:nvSpPr>
            <p:cNvPr id="24" name="Rounded Rectangle 23"/>
            <p:cNvSpPr/>
            <p:nvPr/>
          </p:nvSpPr>
          <p:spPr>
            <a:xfrm>
              <a:off x="6025896" y="1984248"/>
              <a:ext cx="1280160" cy="292608"/>
            </a:xfrm>
            <a:prstGeom prst="roundRect">
              <a:avLst>
                <a:gd name="adj" fmla="val 50000"/>
              </a:avLst>
            </a:prstGeom>
            <a:solidFill>
              <a:srgbClr val="4A5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Other UPI app</a:t>
              </a:r>
            </a:p>
          </p:txBody>
        </p:sp>
        <p:sp>
          <p:nvSpPr>
            <p:cNvPr id="25" name="TextBox 24"/>
            <p:cNvSpPr txBox="1"/>
            <p:nvPr/>
          </p:nvSpPr>
          <p:spPr>
            <a:xfrm>
              <a:off x="5477256" y="2487168"/>
              <a:ext cx="1810512" cy="566928"/>
            </a:xfrm>
            <a:prstGeom prst="rect">
              <a:avLst/>
            </a:prstGeom>
            <a:noFill/>
          </p:spPr>
          <p:txBody>
            <a:bodyPr wrap="square" lIns="36576" rIns="36576" tIns="36576" bIns="36576" anchor="t">
              <a:noAutofit/>
            </a:bodyPr>
            <a:lstStyle/>
            <a:p>
              <a:pPr algn="l"/>
              <a:r>
                <a:rPr sz="1500" b="1" i="0">
                  <a:solidFill>
                    <a:srgbClr val="002E6E"/>
                  </a:solidFill>
                  <a:latin typeface="Calibri"/>
                </a:rPr>
                <a:t>Transfer, if accounts differ</a:t>
              </a:r>
            </a:p>
          </p:txBody>
        </p:sp>
        <p:sp>
          <p:nvSpPr>
            <p:cNvPr id="26" name="TextBox 25"/>
            <p:cNvSpPr txBox="1"/>
            <p:nvPr/>
          </p:nvSpPr>
          <p:spPr>
            <a:xfrm>
              <a:off x="5477256" y="3063240"/>
              <a:ext cx="1810512" cy="1143000"/>
            </a:xfrm>
            <a:prstGeom prst="rect">
              <a:avLst/>
            </a:prstGeom>
            <a:noFill/>
          </p:spPr>
          <p:txBody>
            <a:bodyPr wrap="square" lIns="36576" rIns="36576" tIns="36576" bIns="36576" anchor="t">
              <a:noAutofit/>
            </a:bodyPr>
            <a:lstStyle/>
            <a:p>
              <a:pPr algn="l"/>
              <a:r>
                <a:rPr sz="1200" b="0" i="0">
                  <a:solidFill>
                    <a:srgbClr val="1B2733"/>
                  </a:solidFill>
                  <a:latin typeface="Calibri"/>
                </a:rPr>
                <a:t>Move money from the settlement current account to the account the UPI app pays from.</a:t>
              </a:r>
            </a:p>
          </p:txBody>
        </p:sp>
      </p:grpSp>
      <p:cxnSp>
        <p:nvCxnSpPr>
          <p:cNvPr id="27" name="Connector 26"/>
          <p:cNvCxnSpPr/>
          <p:nvPr/>
        </p:nvCxnSpPr>
        <p:spPr>
          <a:xfrm>
            <a:off x="7424927" y="3017520"/>
            <a:ext cx="283465" cy="0"/>
          </a:xfrm>
          <a:prstGeom prst="line">
            <a:avLst/>
          </a:prstGeom>
          <a:ln w="22225">
            <a:solidFill>
              <a:srgbClr val="5B6B7C"/>
            </a:solidFill>
            <a:tailEnd type="triangle" w="med" len="med"/>
          </a:ln>
        </p:spPr>
        <p:style>
          <a:lnRef idx="2">
            <a:schemeClr val="accent1"/>
          </a:lnRef>
          <a:fillRef idx="0">
            <a:schemeClr val="accent1"/>
          </a:fillRef>
          <a:effectRef idx="0">
            <a:schemeClr val="accent1"/>
          </a:effectRef>
          <a:fontRef idx="minor">
            <a:schemeClr val="tx1"/>
          </a:fontRef>
        </p:style>
      </p:cxnSp>
      <p:grpSp>
        <p:nvGrpSpPr>
          <p:cNvPr id="28" name="!!step4"/>
          <p:cNvGrpSpPr/>
          <p:nvPr/>
        </p:nvGrpSpPr>
        <p:grpSpPr>
          <a:xfrm>
            <a:off x="7735824" y="1783080"/>
            <a:ext cx="2057400" cy="2468880"/>
            <a:chOff x="7735824" y="1783080"/>
            <a:chExt cx="2057400" cy="2468880"/>
          </a:xfrm>
        </p:grpSpPr>
        <p:sp>
          <p:nvSpPr>
            <p:cNvPr id="29" name="Rounded Rectangle 28"/>
            <p:cNvSpPr/>
            <p:nvPr/>
          </p:nvSpPr>
          <p:spPr>
            <a:xfrm>
              <a:off x="7735824" y="1783080"/>
              <a:ext cx="2057400" cy="2468880"/>
            </a:xfrm>
            <a:prstGeom prst="roundRect">
              <a:avLst>
                <a:gd name="adj" fmla="val 6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0" name="Oval 29"/>
            <p:cNvSpPr/>
            <p:nvPr/>
          </p:nvSpPr>
          <p:spPr>
            <a:xfrm>
              <a:off x="7872984" y="1901952"/>
              <a:ext cx="457200" cy="457200"/>
            </a:xfrm>
            <a:prstGeom prst="ellipse">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800" b="1" i="0">
                  <a:solidFill>
                    <a:srgbClr val="002E6E"/>
                  </a:solidFill>
                  <a:latin typeface="Calibri"/>
                </a:rPr>
                <a:t>4</a:t>
              </a:r>
            </a:p>
          </p:txBody>
        </p:sp>
        <p:sp>
          <p:nvSpPr>
            <p:cNvPr id="31" name="Rounded Rectangle 30"/>
            <p:cNvSpPr/>
            <p:nvPr/>
          </p:nvSpPr>
          <p:spPr>
            <a:xfrm>
              <a:off x="8421624" y="1984248"/>
              <a:ext cx="1280160" cy="292608"/>
            </a:xfrm>
            <a:prstGeom prst="roundRect">
              <a:avLst>
                <a:gd name="adj" fmla="val 50000"/>
              </a:avLst>
            </a:prstGeom>
            <a:solidFill>
              <a:srgbClr val="4A5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Other UPI app</a:t>
              </a:r>
            </a:p>
          </p:txBody>
        </p:sp>
        <p:sp>
          <p:nvSpPr>
            <p:cNvPr id="32" name="TextBox 31"/>
            <p:cNvSpPr txBox="1"/>
            <p:nvPr/>
          </p:nvSpPr>
          <p:spPr>
            <a:xfrm>
              <a:off x="7872984" y="2487168"/>
              <a:ext cx="1810512" cy="566928"/>
            </a:xfrm>
            <a:prstGeom prst="rect">
              <a:avLst/>
            </a:prstGeom>
            <a:noFill/>
          </p:spPr>
          <p:txBody>
            <a:bodyPr wrap="square" lIns="36576" rIns="36576" tIns="36576" bIns="36576" anchor="t">
              <a:noAutofit/>
            </a:bodyPr>
            <a:lstStyle/>
            <a:p>
              <a:pPr algn="l"/>
              <a:r>
                <a:rPr sz="1500" b="1" i="0">
                  <a:solidFill>
                    <a:srgbClr val="002E6E"/>
                  </a:solidFill>
                  <a:latin typeface="Calibri"/>
                </a:rPr>
                <a:t>Switch app and pay</a:t>
              </a:r>
            </a:p>
          </p:txBody>
        </p:sp>
        <p:sp>
          <p:nvSpPr>
            <p:cNvPr id="33" name="TextBox 32"/>
            <p:cNvSpPr txBox="1"/>
            <p:nvPr/>
          </p:nvSpPr>
          <p:spPr>
            <a:xfrm>
              <a:off x="7872984" y="3063240"/>
              <a:ext cx="1810512" cy="1143000"/>
            </a:xfrm>
            <a:prstGeom prst="rect">
              <a:avLst/>
            </a:prstGeom>
            <a:noFill/>
          </p:spPr>
          <p:txBody>
            <a:bodyPr wrap="square" lIns="36576" rIns="36576" tIns="36576" bIns="36576" anchor="t">
              <a:noAutofit/>
            </a:bodyPr>
            <a:lstStyle/>
            <a:p>
              <a:pPr algn="l"/>
              <a:r>
                <a:rPr sz="1200" b="0" i="0">
                  <a:solidFill>
                    <a:srgbClr val="1B2733"/>
                  </a:solidFill>
                  <a:latin typeface="Calibri"/>
                </a:rPr>
                <a:t>Open PhonePe or Google Pay, scan the supplier's QR, enter the UPI PIN.</a:t>
              </a:r>
            </a:p>
          </p:txBody>
        </p:sp>
      </p:grpSp>
      <p:sp>
        <p:nvSpPr>
          <p:cNvPr id="34" name="counter1"/>
          <p:cNvSpPr/>
          <p:nvPr/>
        </p:nvSpPr>
        <p:spPr>
          <a:xfrm>
            <a:off x="10168128" y="1783080"/>
            <a:ext cx="1472184" cy="2468880"/>
          </a:xfrm>
          <a:prstGeom prst="roundRect">
            <a:avLst>
              <a:gd name="adj" fmla="val 8000"/>
            </a:avLst>
          </a:prstGeom>
          <a:solidFill>
            <a:srgbClr val="FFFFFF"/>
          </a:solidFill>
          <a:ln w="9525">
            <a:solidFill>
              <a:srgbClr val="C9D3DE"/>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6600" b="1" i="0">
                <a:solidFill>
                  <a:srgbClr val="0077B6"/>
                </a:solidFill>
                <a:latin typeface="Calibri"/>
              </a:rPr>
              <a:t>1</a:t>
            </a:r>
          </a:p>
          <a:p>
            <a:pPr algn="ctr"/>
            <a:r>
              <a:rPr sz="1300" b="1" i="0">
                <a:solidFill>
                  <a:srgbClr val="002E6E"/>
                </a:solidFill>
                <a:latin typeface="Calibri"/>
              </a:rPr>
              <a:t>step · 1 app</a:t>
            </a:r>
          </a:p>
        </p:txBody>
      </p:sp>
      <p:sp>
        <p:nvSpPr>
          <p:cNvPr id="35" name="counter2"/>
          <p:cNvSpPr/>
          <p:nvPr/>
        </p:nvSpPr>
        <p:spPr>
          <a:xfrm>
            <a:off x="10168128" y="1783080"/>
            <a:ext cx="1472184" cy="2468880"/>
          </a:xfrm>
          <a:prstGeom prst="roundRect">
            <a:avLst>
              <a:gd name="adj" fmla="val 8000"/>
            </a:avLst>
          </a:prstGeom>
          <a:solidFill>
            <a:srgbClr val="FFFFFF"/>
          </a:solidFill>
          <a:ln w="9525">
            <a:solidFill>
              <a:srgbClr val="C9D3DE"/>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6600" b="1" i="0">
                <a:solidFill>
                  <a:srgbClr val="0077B6"/>
                </a:solidFill>
                <a:latin typeface="Calibri"/>
              </a:rPr>
              <a:t>2</a:t>
            </a:r>
          </a:p>
          <a:p>
            <a:pPr algn="ctr"/>
            <a:r>
              <a:rPr sz="1300" b="1" i="0">
                <a:solidFill>
                  <a:srgbClr val="002E6E"/>
                </a:solidFill>
                <a:latin typeface="Calibri"/>
              </a:rPr>
              <a:t>steps · 1 app + a wait</a:t>
            </a:r>
          </a:p>
        </p:txBody>
      </p:sp>
      <p:sp>
        <p:nvSpPr>
          <p:cNvPr id="36" name="counter3"/>
          <p:cNvSpPr/>
          <p:nvPr/>
        </p:nvSpPr>
        <p:spPr>
          <a:xfrm>
            <a:off x="10168128" y="1783080"/>
            <a:ext cx="1472184" cy="2468880"/>
          </a:xfrm>
          <a:prstGeom prst="roundRect">
            <a:avLst>
              <a:gd name="adj" fmla="val 8000"/>
            </a:avLst>
          </a:prstGeom>
          <a:solidFill>
            <a:srgbClr val="FFFFFF"/>
          </a:solidFill>
          <a:ln w="9525">
            <a:solidFill>
              <a:srgbClr val="C9D3DE"/>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6600" b="1" i="0">
                <a:solidFill>
                  <a:srgbClr val="0077B6"/>
                </a:solidFill>
                <a:latin typeface="Calibri"/>
              </a:rPr>
              <a:t>3</a:t>
            </a:r>
          </a:p>
          <a:p>
            <a:pPr algn="ctr"/>
            <a:r>
              <a:rPr sz="1300" b="1" i="0">
                <a:solidFill>
                  <a:srgbClr val="002E6E"/>
                </a:solidFill>
                <a:latin typeface="Calibri"/>
              </a:rPr>
              <a:t>steps · 2 apps</a:t>
            </a:r>
          </a:p>
        </p:txBody>
      </p:sp>
      <p:sp>
        <p:nvSpPr>
          <p:cNvPr id="37" name="counter4"/>
          <p:cNvSpPr/>
          <p:nvPr/>
        </p:nvSpPr>
        <p:spPr>
          <a:xfrm>
            <a:off x="10168128" y="1783080"/>
            <a:ext cx="1472184" cy="2468880"/>
          </a:xfrm>
          <a:prstGeom prst="roundRect">
            <a:avLst>
              <a:gd name="adj" fmla="val 8000"/>
            </a:avLst>
          </a:prstGeom>
          <a:solidFill>
            <a:srgbClr val="FFFFFF"/>
          </a:solidFill>
          <a:ln w="9525">
            <a:solidFill>
              <a:srgbClr val="C9D3DE"/>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6600" b="1" i="0">
                <a:solidFill>
                  <a:srgbClr val="0077B6"/>
                </a:solidFill>
                <a:latin typeface="Calibri"/>
              </a:rPr>
              <a:t>4</a:t>
            </a:r>
          </a:p>
          <a:p>
            <a:pPr algn="ctr"/>
            <a:r>
              <a:rPr sz="1300" b="1" i="0">
                <a:solidFill>
                  <a:srgbClr val="002E6E"/>
                </a:solidFill>
                <a:latin typeface="Calibri"/>
              </a:rPr>
              <a:t>steps · 2 apps</a:t>
            </a:r>
          </a:p>
        </p:txBody>
      </p:sp>
      <p:sp>
        <p:nvSpPr>
          <p:cNvPr id="38" name="Rounded Rectangle 37"/>
          <p:cNvSpPr/>
          <p:nvPr/>
        </p:nvSpPr>
        <p:spPr>
          <a:xfrm>
            <a:off x="548640" y="4526280"/>
            <a:ext cx="5486400" cy="160020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37160" rIns="137160" tIns="137160" bIns="137160">
            <a:noAutofit/>
          </a:bodyPr>
          <a:lstStyle/>
          <a:p>
            <a:pPr algn="l"/>
            <a:r>
              <a:rPr sz="1000" b="1" i="0">
                <a:solidFill>
                  <a:srgbClr val="5B6B7C"/>
                </a:solidFill>
                <a:latin typeface="Calibri"/>
              </a:rPr>
              <a:t>PAYTM'S OWN SETTLEMENT TIMING</a:t>
            </a:r>
          </a:p>
          <a:p>
            <a:pPr algn="l">
              <a:spcBef>
                <a:spcPts val="300"/>
              </a:spcBef>
            </a:pPr>
            <a:r>
              <a:rPr sz="1300" b="1" i="0">
                <a:solidFill>
                  <a:srgbClr val="002E6E"/>
                </a:solidFill>
                <a:latin typeface="Calibri"/>
              </a:rPr>
              <a:t>“Usually settled to your bank within T+1 days”</a:t>
            </a:r>
            <a:r>
              <a:rPr sz="1100" b="0" i="0">
                <a:solidFill>
                  <a:srgbClr val="5B6B7C"/>
                </a:solidFill>
                <a:latin typeface="Calibri"/>
              </a:rPr>
              <a:t> (Paytm for Business support)</a:t>
            </a:r>
          </a:p>
          <a:p>
            <a:pPr algn="l">
              <a:spcBef>
                <a:spcPts val="300"/>
              </a:spcBef>
            </a:pPr>
            <a:r>
              <a:rPr sz="1300" b="1" i="0">
                <a:solidFill>
                  <a:srgbClr val="002E6E"/>
                </a:solidFill>
                <a:latin typeface="Calibri"/>
              </a:rPr>
              <a:t>“Within a few business hours or at the T+N cycle”</a:t>
            </a:r>
            <a:r>
              <a:rPr sz="1100" b="0" i="0">
                <a:solidFill>
                  <a:srgbClr val="5B6B7C"/>
                </a:solidFill>
                <a:latin typeface="Calibri"/>
              </a:rPr>
              <a:t> (Paytm Payments docs)</a:t>
            </a:r>
          </a:p>
          <a:p>
            <a:pPr algn="l">
              <a:spcBef>
                <a:spcPts val="300"/>
              </a:spcBef>
            </a:pPr>
            <a:r>
              <a:rPr sz="1200" b="0" i="0">
                <a:solidFill>
                  <a:srgbClr val="1B2733"/>
                </a:solidFill>
                <a:latin typeface="Calibri"/>
              </a:rPr>
              <a:t>Manual instant settlement exists, but the merchant still pays from another app.</a:t>
            </a:r>
          </a:p>
        </p:txBody>
      </p:sp>
      <p:sp>
        <p:nvSpPr>
          <p:cNvPr id="39" name="Rounded Rectangle 38"/>
          <p:cNvSpPr/>
          <p:nvPr/>
        </p:nvSpPr>
        <p:spPr>
          <a:xfrm>
            <a:off x="5074920" y="4617720"/>
            <a:ext cx="432732" cy="201168"/>
          </a:xfrm>
          <a:prstGeom prst="roundRect">
            <a:avLst>
              <a:gd name="adj" fmla="val 50000"/>
            </a:avLst>
          </a:prstGeom>
          <a:solidFill>
            <a:srgbClr val="1E8E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FACT</a:t>
            </a:r>
          </a:p>
        </p:txBody>
      </p:sp>
      <p:sp>
        <p:nvSpPr>
          <p:cNvPr id="40" name="Rounded Rectangle 39"/>
          <p:cNvSpPr/>
          <p:nvPr/>
        </p:nvSpPr>
        <p:spPr>
          <a:xfrm>
            <a:off x="6263640" y="4526280"/>
            <a:ext cx="5376672" cy="160020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37160" rIns="137160" tIns="137160" bIns="137160">
            <a:noAutofit/>
          </a:bodyPr>
          <a:lstStyle/>
          <a:p>
            <a:pPr algn="l"/>
            <a:r>
              <a:rPr sz="1000" b="1" i="0">
                <a:solidFill>
                  <a:srgbClr val="5B6B7C"/>
                </a:solidFill>
                <a:latin typeface="Calibri"/>
              </a:rPr>
              <a:t>COMPETITOR EARLY SETTLEMENT STOPS AT STEP 2</a:t>
            </a:r>
          </a:p>
          <a:p>
            <a:pPr algn="l">
              <a:spcBef>
                <a:spcPts val="300"/>
              </a:spcBef>
            </a:pPr>
            <a:r>
              <a:rPr sz="1300" b="1" i="0">
                <a:solidFill>
                  <a:srgbClr val="002E6E"/>
                </a:solidFill>
                <a:latin typeface="Calibri"/>
              </a:rPr>
              <a:t>PhonePe 'Settle Now': </a:t>
            </a:r>
            <a:r>
              <a:rPr sz="1300" b="0" i="0">
                <a:solidFill>
                  <a:srgbClr val="1B2733"/>
                </a:solidFill>
                <a:latin typeface="Calibri"/>
              </a:rPr>
              <a:t>₹1–3 a request, once an hour, not after 11 pm, for selected merchants only.</a:t>
            </a:r>
          </a:p>
          <a:p>
            <a:pPr algn="l">
              <a:spcBef>
                <a:spcPts val="300"/>
              </a:spcBef>
            </a:pPr>
            <a:r>
              <a:rPr sz="1200" b="0" i="0">
                <a:solidFill>
                  <a:srgbClr val="1B2733"/>
                </a:solidFill>
                <a:latin typeface="Calibri"/>
              </a:rPr>
              <a:t>Then the merchant still opens another screen to pay the supplier. Nobody joins settlement and payment.</a:t>
            </a:r>
          </a:p>
        </p:txBody>
      </p:sp>
      <p:sp>
        <p:nvSpPr>
          <p:cNvPr id="41" name="Rounded Rectangle 40"/>
          <p:cNvSpPr/>
          <p:nvPr/>
        </p:nvSpPr>
        <p:spPr>
          <a:xfrm>
            <a:off x="10972800" y="4617720"/>
            <a:ext cx="432732" cy="201168"/>
          </a:xfrm>
          <a:prstGeom prst="roundRect">
            <a:avLst>
              <a:gd name="adj" fmla="val 50000"/>
            </a:avLst>
          </a:prstGeom>
          <a:solidFill>
            <a:srgbClr val="1E8E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FACT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grpId="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par>
                                <p:cTn id="8" presetID="10" presetClass="entr" presetSubtype="0" grpId="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300"/>
                                        <p:tgtEl>
                                          <p:spTgt spid="3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grpId="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300"/>
                                        <p:tgtEl>
                                          <p:spTgt spid="13"/>
                                        </p:tgtEl>
                                      </p:cBhvr>
                                    </p:animEffect>
                                  </p:childTnLst>
                                </p:cTn>
                              </p:par>
                              <p:par>
                                <p:cTn id="16" presetID="10" presetClass="entr" presetSubtype="0" grpId="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grpId="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300"/>
                                        <p:tgtEl>
                                          <p:spTgt spid="3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grpId="0"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300"/>
                                        <p:tgtEl>
                                          <p:spTgt spid="20"/>
                                        </p:tgtEl>
                                      </p:cBhvr>
                                    </p:animEffect>
                                  </p:childTnLst>
                                </p:cTn>
                              </p:par>
                              <p:par>
                                <p:cTn id="27" presetID="10" presetClass="entr" presetSubtype="0" grpId="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par>
                                <p:cTn id="30" presetID="10" presetClass="entr" presetSubtype="0" grpId="0" fill="hold" nodeType="with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3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grpId="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300"/>
                                        <p:tgtEl>
                                          <p:spTgt spid="27"/>
                                        </p:tgtEl>
                                      </p:cBhvr>
                                    </p:animEffect>
                                  </p:childTnLst>
                                </p:cTn>
                              </p:par>
                              <p:par>
                                <p:cTn id="38" presetID="10" presetClass="entr" presetSubtype="0" grpId="0"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50"/>
                                        <p:tgtEl>
                                          <p:spTgt spid="28"/>
                                        </p:tgtEl>
                                      </p:cBhvr>
                                    </p:animEffect>
                                  </p:childTnLst>
                                </p:cTn>
                              </p:par>
                              <p:par>
                                <p:cTn id="41" presetID="10" presetClass="entr" presetSubtype="0" grpId="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3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TARGET SEGMENT</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002E6E"/>
                </a:solidFill>
                <a:latin typeface="Calibri"/>
              </a:rPr>
              <a:t>Start with merchants whose money arrives late or lands elsewhere; Paytm can find them in its own data</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Source: S16 synthetic VOC dataset, 40 of 42 regular Paytm collectors (2 accountant-led excluded); counts per quadrant computed in annexure workbook 'Segment_Rules'. Illustrates the hypothesis, not market prevalence.</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5</a:t>
            </a:r>
          </a:p>
        </p:txBody>
      </p:sp>
      <p:sp>
        <p:nvSpPr>
          <p:cNvPr id="7" name="TextBox 6"/>
          <p:cNvSpPr txBox="1"/>
          <p:nvPr/>
        </p:nvSpPr>
        <p:spPr>
          <a:xfrm>
            <a:off x="548640" y="1737360"/>
            <a:ext cx="685800" cy="1783080"/>
          </a:xfrm>
          <a:prstGeom prst="rect">
            <a:avLst/>
          </a:prstGeom>
          <a:noFill/>
        </p:spPr>
        <p:txBody>
          <a:bodyPr wrap="square" lIns="36576" rIns="36576" tIns="36576" bIns="36576" anchor="ctr">
            <a:noAutofit/>
          </a:bodyPr>
          <a:lstStyle/>
          <a:p>
            <a:pPr algn="l"/>
            <a:r>
              <a:rPr sz="1200" b="1" i="0">
                <a:solidFill>
                  <a:srgbClr val="002E6E"/>
                </a:solidFill>
                <a:latin typeface="Calibri"/>
              </a:rPr>
              <a:t>Friction</a:t>
            </a:r>
          </a:p>
          <a:p>
            <a:pPr algn="l"/>
            <a:r>
              <a:rPr sz="1100" b="0" i="0">
                <a:solidFill>
                  <a:srgbClr val="5B6B7C"/>
                </a:solidFill>
                <a:latin typeface="Calibri"/>
              </a:rPr>
              <a:t>stated</a:t>
            </a:r>
          </a:p>
        </p:txBody>
      </p:sp>
      <p:sp>
        <p:nvSpPr>
          <p:cNvPr id="8" name="TextBox 7"/>
          <p:cNvSpPr txBox="1"/>
          <p:nvPr/>
        </p:nvSpPr>
        <p:spPr>
          <a:xfrm>
            <a:off x="548640" y="3611880"/>
            <a:ext cx="685800" cy="1783080"/>
          </a:xfrm>
          <a:prstGeom prst="rect">
            <a:avLst/>
          </a:prstGeom>
          <a:noFill/>
        </p:spPr>
        <p:txBody>
          <a:bodyPr wrap="square" lIns="36576" rIns="36576" tIns="36576" bIns="36576" anchor="ctr">
            <a:noAutofit/>
          </a:bodyPr>
          <a:lstStyle/>
          <a:p>
            <a:pPr algn="l"/>
            <a:r>
              <a:rPr sz="1200" b="1" i="0">
                <a:solidFill>
                  <a:srgbClr val="002E6E"/>
                </a:solidFill>
                <a:latin typeface="Calibri"/>
              </a:rPr>
              <a:t>No</a:t>
            </a:r>
          </a:p>
          <a:p>
            <a:pPr algn="l"/>
            <a:r>
              <a:rPr sz="1100" b="0" i="0">
                <a:solidFill>
                  <a:srgbClr val="5B6B7C"/>
                </a:solidFill>
                <a:latin typeface="Calibri"/>
              </a:rPr>
              <a:t>friction</a:t>
            </a:r>
          </a:p>
        </p:txBody>
      </p:sp>
      <p:sp>
        <p:nvSpPr>
          <p:cNvPr id="9" name="TextBox 8"/>
          <p:cNvSpPr txBox="1"/>
          <p:nvPr/>
        </p:nvSpPr>
        <p:spPr>
          <a:xfrm>
            <a:off x="1280160" y="5468112"/>
            <a:ext cx="2697480" cy="274320"/>
          </a:xfrm>
          <a:prstGeom prst="rect">
            <a:avLst/>
          </a:prstGeom>
          <a:noFill/>
        </p:spPr>
        <p:txBody>
          <a:bodyPr wrap="square" lIns="36576" rIns="36576" tIns="36576" bIns="36576" anchor="t">
            <a:noAutofit/>
          </a:bodyPr>
          <a:lstStyle/>
          <a:p>
            <a:pPr algn="ctr"/>
            <a:r>
              <a:rPr sz="1200" b="1" i="0">
                <a:solidFill>
                  <a:srgbClr val="002E6E"/>
                </a:solidFill>
                <a:latin typeface="Calibri"/>
              </a:rPr>
              <a:t>Same-day settlement</a:t>
            </a:r>
          </a:p>
        </p:txBody>
      </p:sp>
      <p:sp>
        <p:nvSpPr>
          <p:cNvPr id="10" name="TextBox 9"/>
          <p:cNvSpPr txBox="1"/>
          <p:nvPr/>
        </p:nvSpPr>
        <p:spPr>
          <a:xfrm>
            <a:off x="4069080" y="5468112"/>
            <a:ext cx="2697480" cy="274320"/>
          </a:xfrm>
          <a:prstGeom prst="rect">
            <a:avLst/>
          </a:prstGeom>
          <a:noFill/>
        </p:spPr>
        <p:txBody>
          <a:bodyPr wrap="square" lIns="36576" rIns="36576" tIns="36576" bIns="36576" anchor="t">
            <a:noAutofit/>
          </a:bodyPr>
          <a:lstStyle/>
          <a:p>
            <a:pPr algn="ctr"/>
            <a:r>
              <a:rPr sz="1200" b="1" i="0">
                <a:solidFill>
                  <a:srgbClr val="002E6E"/>
                </a:solidFill>
                <a:latin typeface="Calibri"/>
              </a:rPr>
              <a:t>Next day, or into a separate account</a:t>
            </a:r>
          </a:p>
        </p:txBody>
      </p:sp>
      <p:sp>
        <p:nvSpPr>
          <p:cNvPr id="11" name="TextBox 10"/>
          <p:cNvSpPr txBox="1"/>
          <p:nvPr/>
        </p:nvSpPr>
        <p:spPr>
          <a:xfrm>
            <a:off x="1280160" y="5760720"/>
            <a:ext cx="5486400" cy="228600"/>
          </a:xfrm>
          <a:prstGeom prst="rect">
            <a:avLst/>
          </a:prstGeom>
          <a:noFill/>
        </p:spPr>
        <p:txBody>
          <a:bodyPr wrap="square" lIns="36576" rIns="36576" tIns="36576" bIns="36576" anchor="t">
            <a:noAutofit/>
          </a:bodyPr>
          <a:lstStyle/>
          <a:p>
            <a:pPr algn="ctr"/>
            <a:r>
              <a:rPr sz="900" b="1" i="0">
                <a:solidFill>
                  <a:srgbClr val="5B6B7C"/>
                </a:solidFill>
                <a:latin typeface="Calibri"/>
              </a:rPr>
              <a:t>SETTLEMENT PROFILE OF PAYTM COLLECTIONS  →</a:t>
            </a:r>
          </a:p>
        </p:txBody>
      </p:sp>
      <p:sp>
        <p:nvSpPr>
          <p:cNvPr id="12" name="q_tl"/>
          <p:cNvSpPr/>
          <p:nvPr/>
        </p:nvSpPr>
        <p:spPr>
          <a:xfrm>
            <a:off x="1280160" y="1737360"/>
            <a:ext cx="2697480" cy="1783080"/>
          </a:xfrm>
          <a:prstGeom prst="roundRect">
            <a:avLst>
              <a:gd name="adj" fmla="val 5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1100" b="1" i="0">
                <a:solidFill>
                  <a:srgbClr val="1B2733"/>
                </a:solidFill>
                <a:latin typeface="Calibri"/>
              </a:rPr>
              <a:t>SAME DAY + FRICTION</a:t>
            </a:r>
          </a:p>
          <a:p>
            <a:pPr algn="l">
              <a:spcBef>
                <a:spcPts val="200"/>
              </a:spcBef>
            </a:pPr>
            <a:r>
              <a:rPr sz="2400" b="1" i="0">
                <a:solidFill>
                  <a:srgbClr val="1B2733"/>
                </a:solidFill>
                <a:latin typeface="Calibri"/>
              </a:rPr>
              <a:t>9</a:t>
            </a:r>
          </a:p>
          <a:p>
            <a:pPr algn="l">
              <a:spcBef>
                <a:spcPts val="200"/>
              </a:spcBef>
            </a:pPr>
            <a:r>
              <a:rPr sz="1200" b="1" i="0">
                <a:solidFill>
                  <a:srgbClr val="1B2733"/>
                </a:solidFill>
                <a:latin typeface="Calibri"/>
              </a:rPr>
              <a:t>4 yes · 3 maybe · 2 no</a:t>
            </a:r>
          </a:p>
          <a:p>
            <a:pPr algn="l">
              <a:spcBef>
                <a:spcPts val="200"/>
              </a:spcBef>
            </a:pPr>
            <a:r>
              <a:rPr sz="1200" b="0" i="0">
                <a:solidFill>
                  <a:srgbClr val="1B2733"/>
                </a:solidFill>
                <a:latin typeface="Calibri"/>
              </a:rPr>
              <a:t>7 of 9 rows contradictory: same-day yet 'waiting for settlement'</a:t>
            </a:r>
          </a:p>
        </p:txBody>
      </p:sp>
      <p:sp>
        <p:nvSpPr>
          <p:cNvPr id="13" name="q_bl"/>
          <p:cNvSpPr/>
          <p:nvPr/>
        </p:nvSpPr>
        <p:spPr>
          <a:xfrm>
            <a:off x="1280160" y="3611880"/>
            <a:ext cx="2697480" cy="1783080"/>
          </a:xfrm>
          <a:prstGeom prst="roundRect">
            <a:avLst>
              <a:gd name="adj" fmla="val 5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1100" b="1" i="0">
                <a:solidFill>
                  <a:srgbClr val="1B2733"/>
                </a:solidFill>
                <a:latin typeface="Calibri"/>
              </a:rPr>
              <a:t>SAME DAY + NO FRICTION</a:t>
            </a:r>
          </a:p>
          <a:p>
            <a:pPr algn="l">
              <a:spcBef>
                <a:spcPts val="200"/>
              </a:spcBef>
            </a:pPr>
            <a:r>
              <a:rPr sz="2400" b="1" i="0">
                <a:solidFill>
                  <a:srgbClr val="1B2733"/>
                </a:solidFill>
                <a:latin typeface="Calibri"/>
              </a:rPr>
              <a:t>8</a:t>
            </a:r>
          </a:p>
          <a:p>
            <a:pPr algn="l">
              <a:spcBef>
                <a:spcPts val="200"/>
              </a:spcBef>
            </a:pPr>
            <a:r>
              <a:rPr sz="1200" b="1" i="0">
                <a:solidFill>
                  <a:srgbClr val="1B2733"/>
                </a:solidFill>
                <a:latin typeface="Calibri"/>
              </a:rPr>
              <a:t>0 yes · 2 maybe · 6 no</a:t>
            </a:r>
          </a:p>
          <a:p>
            <a:pPr algn="l">
              <a:spcBef>
                <a:spcPts val="200"/>
              </a:spcBef>
            </a:pPr>
            <a:r>
              <a:rPr sz="1200" b="0" i="0">
                <a:solidFill>
                  <a:srgbClr val="1B2733"/>
                </a:solidFill>
                <a:latin typeface="Calibri"/>
              </a:rPr>
              <a:t>“Mera settlement same day aa jata hai, toh problem kya hai?”</a:t>
            </a:r>
          </a:p>
        </p:txBody>
      </p:sp>
      <p:sp>
        <p:nvSpPr>
          <p:cNvPr id="14" name="q_br"/>
          <p:cNvSpPr/>
          <p:nvPr/>
        </p:nvSpPr>
        <p:spPr>
          <a:xfrm>
            <a:off x="4069080" y="3611880"/>
            <a:ext cx="2697480" cy="1783080"/>
          </a:xfrm>
          <a:prstGeom prst="roundRect">
            <a:avLst>
              <a:gd name="adj" fmla="val 5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1100" b="1" i="0">
                <a:solidFill>
                  <a:srgbClr val="1B2733"/>
                </a:solidFill>
                <a:latin typeface="Calibri"/>
              </a:rPr>
              <a:t>NEXT DAY / SEPARATE + NO FRICTION</a:t>
            </a:r>
          </a:p>
          <a:p>
            <a:pPr algn="l">
              <a:spcBef>
                <a:spcPts val="200"/>
              </a:spcBef>
            </a:pPr>
            <a:r>
              <a:rPr sz="2400" b="1" i="0">
                <a:solidFill>
                  <a:srgbClr val="1B2733"/>
                </a:solidFill>
                <a:latin typeface="Calibri"/>
              </a:rPr>
              <a:t>7</a:t>
            </a:r>
          </a:p>
          <a:p>
            <a:pPr algn="l">
              <a:spcBef>
                <a:spcPts val="200"/>
              </a:spcBef>
            </a:pPr>
            <a:r>
              <a:rPr sz="1200" b="1" i="0">
                <a:solidFill>
                  <a:srgbClr val="1B2733"/>
                </a:solidFill>
                <a:latin typeface="Calibri"/>
              </a:rPr>
              <a:t>0 yes · 5 maybe · 2 no</a:t>
            </a:r>
          </a:p>
          <a:p>
            <a:pPr algn="l">
              <a:spcBef>
                <a:spcPts val="200"/>
              </a:spcBef>
            </a:pPr>
            <a:r>
              <a:rPr sz="1200" b="0" i="0">
                <a:solidFill>
                  <a:srgbClr val="1B2733"/>
                </a:solidFill>
                <a:latin typeface="Calibri"/>
              </a:rPr>
              <a:t>All 7: 'would try it, but keep my current app'</a:t>
            </a:r>
          </a:p>
        </p:txBody>
      </p:sp>
      <p:grpSp>
        <p:nvGrpSpPr>
          <p:cNvPr id="15" name="q_target"/>
          <p:cNvGrpSpPr/>
          <p:nvPr/>
        </p:nvGrpSpPr>
        <p:grpSpPr>
          <a:xfrm>
            <a:off x="4069080" y="1737360"/>
            <a:ext cx="2697480" cy="1783080"/>
            <a:chOff x="4069080" y="1737360"/>
            <a:chExt cx="2697480" cy="1783080"/>
          </a:xfrm>
        </p:grpSpPr>
        <p:sp>
          <p:nvSpPr>
            <p:cNvPr id="16" name="Rounded Rectangle 15"/>
            <p:cNvSpPr/>
            <p:nvPr/>
          </p:nvSpPr>
          <p:spPr>
            <a:xfrm>
              <a:off x="4069080" y="1737360"/>
              <a:ext cx="2697480" cy="1783080"/>
            </a:xfrm>
            <a:prstGeom prst="roundRect">
              <a:avLst>
                <a:gd name="adj" fmla="val 5000"/>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1100" b="1" i="0">
                  <a:solidFill>
                    <a:srgbClr val="002E6E"/>
                  </a:solidFill>
                  <a:latin typeface="Calibri"/>
                </a:rPr>
                <a:t>NEXT DAY / SEPARATE + FRICTION</a:t>
              </a:r>
            </a:p>
            <a:p>
              <a:pPr algn="l">
                <a:spcBef>
                  <a:spcPts val="200"/>
                </a:spcBef>
              </a:pPr>
              <a:r>
                <a:rPr sz="2400" b="1" i="0">
                  <a:solidFill>
                    <a:srgbClr val="002E6E"/>
                  </a:solidFill>
                  <a:latin typeface="Calibri"/>
                </a:rPr>
                <a:t>16 · Group 1</a:t>
              </a:r>
            </a:p>
            <a:p>
              <a:pPr algn="l">
                <a:spcBef>
                  <a:spcPts val="200"/>
                </a:spcBef>
              </a:pPr>
              <a:r>
                <a:rPr sz="1200" b="1" i="0">
                  <a:solidFill>
                    <a:srgbClr val="002E6E"/>
                  </a:solidFill>
                  <a:latin typeface="Calibri"/>
                </a:rPr>
                <a:t>7 yes · 9 maybe · 0 no</a:t>
              </a:r>
            </a:p>
            <a:p>
              <a:pPr algn="l">
                <a:spcBef>
                  <a:spcPts val="200"/>
                </a:spcBef>
              </a:pPr>
              <a:r>
                <a:rPr sz="1200" b="0" i="0">
                  <a:solidFill>
                    <a:srgbClr val="002E6E"/>
                  </a:solidFill>
                  <a:latin typeface="Calibri"/>
                </a:rPr>
                <a:t>No 'no' at all: the target quadrant</a:t>
              </a:r>
            </a:p>
          </p:txBody>
        </p:sp>
        <p:sp>
          <p:nvSpPr>
            <p:cNvPr id="17" name="Rounded Rectangle 16"/>
            <p:cNvSpPr/>
            <p:nvPr/>
          </p:nvSpPr>
          <p:spPr>
            <a:xfrm>
              <a:off x="5669280" y="3246120"/>
              <a:ext cx="1005840" cy="237744"/>
            </a:xfrm>
            <a:prstGeom prst="roundRect">
              <a:avLst>
                <a:gd name="adj" fmla="val 50000"/>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TARGET</a:t>
              </a:r>
            </a:p>
          </p:txBody>
        </p:sp>
      </p:grpSp>
      <p:sp>
        <p:nvSpPr>
          <p:cNvPr id="18" name="Rounded Rectangle 17"/>
          <p:cNvSpPr/>
          <p:nvPr/>
        </p:nvSpPr>
        <p:spPr>
          <a:xfrm>
            <a:off x="5532120" y="5760720"/>
            <a:ext cx="719714" cy="201168"/>
          </a:xfrm>
          <a:prstGeom prst="roundRect">
            <a:avLst>
              <a:gd name="adj" fmla="val 50000"/>
            </a:avLst>
          </a:prstGeom>
          <a:solidFill>
            <a:srgbClr val="F2B20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1B2733"/>
                </a:solidFill>
                <a:latin typeface="Calibri"/>
              </a:rPr>
              <a:t>SYNTHETIC</a:t>
            </a:r>
          </a:p>
        </p:txBody>
      </p:sp>
      <p:sp>
        <p:nvSpPr>
          <p:cNvPr id="19" name="Rounded Rectangle 18"/>
          <p:cNvSpPr/>
          <p:nvPr/>
        </p:nvSpPr>
        <p:spPr>
          <a:xfrm>
            <a:off x="7086600" y="1737360"/>
            <a:ext cx="4553712" cy="1874519"/>
          </a:xfrm>
          <a:prstGeom prst="roundRect">
            <a:avLst>
              <a:gd name="adj" fmla="val 5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1000" b="1" i="0">
                <a:solidFill>
                  <a:srgbClr val="5B6B7C"/>
                </a:solidFill>
                <a:latin typeface="Calibri"/>
              </a:rPr>
              <a:t>SEGMENT RULES (ALL FIVE)</a:t>
            </a:r>
          </a:p>
          <a:p>
            <a:pPr algn="l">
              <a:spcBef>
                <a:spcPts val="200"/>
              </a:spcBef>
            </a:pPr>
            <a:r>
              <a:rPr sz="1200" b="0" i="0">
                <a:solidFill>
                  <a:srgbClr val="1B2733"/>
                </a:solidFill>
                <a:latin typeface="Calibri"/>
              </a:rPr>
              <a:t>1  Collects on a Paytm QR or Soundbox</a:t>
            </a:r>
          </a:p>
          <a:p>
            <a:pPr algn="l">
              <a:spcBef>
                <a:spcPts val="200"/>
              </a:spcBef>
            </a:pPr>
            <a:r>
              <a:rPr sz="1200" b="0" i="0">
                <a:solidFill>
                  <a:srgbClr val="1B2733"/>
                </a:solidFill>
                <a:latin typeface="Calibri"/>
              </a:rPr>
              <a:t>2  Settles next day, or into a separate current account</a:t>
            </a:r>
          </a:p>
          <a:p>
            <a:pPr algn="l">
              <a:spcBef>
                <a:spcPts val="200"/>
              </a:spcBef>
            </a:pPr>
            <a:r>
              <a:rPr sz="1200" b="0" i="0">
                <a:solidFill>
                  <a:srgbClr val="1B2733"/>
                </a:solidFill>
                <a:latin typeface="Calibri"/>
              </a:rPr>
              <a:t>3  Pays vendors by UPI at least weekly</a:t>
            </a:r>
          </a:p>
          <a:p>
            <a:pPr algn="l">
              <a:spcBef>
                <a:spcPts val="200"/>
              </a:spcBef>
            </a:pPr>
            <a:r>
              <a:rPr sz="1200" b="0" i="0">
                <a:solidFill>
                  <a:srgbClr val="1B2733"/>
                </a:solidFill>
                <a:latin typeface="Calibri"/>
              </a:rPr>
              <a:t>4  Owner or manager chooses the app</a:t>
            </a:r>
          </a:p>
          <a:p>
            <a:pPr algn="l">
              <a:spcBef>
                <a:spcPts val="200"/>
              </a:spcBef>
            </a:pPr>
            <a:r>
              <a:rPr sz="1200" b="0" i="0">
                <a:solidFill>
                  <a:srgbClr val="1B2733"/>
                </a:solidFill>
                <a:latin typeface="Calibri"/>
              </a:rPr>
              <a:t>5  States a timing, transfer or staff-control friction</a:t>
            </a:r>
          </a:p>
        </p:txBody>
      </p:sp>
      <p:grpSp>
        <p:nvGrpSpPr>
          <p:cNvPr id="20" name="contrast"/>
          <p:cNvGrpSpPr/>
          <p:nvPr/>
        </p:nvGrpSpPr>
        <p:grpSpPr>
          <a:xfrm>
            <a:off x="7086600" y="3730752"/>
            <a:ext cx="4553712" cy="1143000"/>
            <a:chOff x="7086600" y="3730752"/>
            <a:chExt cx="4553712" cy="1143000"/>
          </a:xfrm>
        </p:grpSpPr>
        <p:sp>
          <p:nvSpPr>
            <p:cNvPr id="21" name="Rounded Rectangle 20"/>
            <p:cNvSpPr/>
            <p:nvPr/>
          </p:nvSpPr>
          <p:spPr>
            <a:xfrm>
              <a:off x="7086600" y="3730752"/>
              <a:ext cx="4553712" cy="1143000"/>
            </a:xfrm>
            <a:prstGeom prst="roundRect">
              <a:avLst>
                <a:gd name="adj" fmla="val 5000"/>
              </a:avLst>
            </a:prstGeom>
            <a:solidFill>
              <a:srgbClr val="FFFFFF"/>
            </a:solidFill>
            <a:ln w="9525">
              <a:solidFill>
                <a:srgbClr val="C9D3DE"/>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TextBox 21"/>
            <p:cNvSpPr txBox="1"/>
            <p:nvPr/>
          </p:nvSpPr>
          <p:spPr>
            <a:xfrm>
              <a:off x="7223760" y="3776472"/>
              <a:ext cx="4297680" cy="256032"/>
            </a:xfrm>
            <a:prstGeom prst="rect">
              <a:avLst/>
            </a:prstGeom>
            <a:noFill/>
          </p:spPr>
          <p:txBody>
            <a:bodyPr wrap="square" lIns="36576" rIns="36576" tIns="36576" bIns="36576" anchor="t">
              <a:noAutofit/>
            </a:bodyPr>
            <a:lstStyle/>
            <a:p>
              <a:pPr algn="l"/>
              <a:r>
                <a:rPr sz="1000" b="1" i="0">
                  <a:solidFill>
                    <a:srgbClr val="5B6B7C"/>
                  </a:solidFill>
                  <a:latin typeface="Calibri"/>
                </a:rPr>
                <a:t>WOULD SWITCH: YES / MAYBE / NO</a:t>
              </a:r>
            </a:p>
          </p:txBody>
        </p:sp>
        <p:sp>
          <p:nvSpPr>
            <p:cNvPr id="23" name="TextBox 22"/>
            <p:cNvSpPr txBox="1"/>
            <p:nvPr/>
          </p:nvSpPr>
          <p:spPr>
            <a:xfrm>
              <a:off x="7223760" y="4096512"/>
              <a:ext cx="1143000" cy="292608"/>
            </a:xfrm>
            <a:prstGeom prst="rect">
              <a:avLst/>
            </a:prstGeom>
            <a:noFill/>
          </p:spPr>
          <p:txBody>
            <a:bodyPr wrap="square" lIns="36576" rIns="36576" tIns="36576" bIns="36576" anchor="ctr">
              <a:noAutofit/>
            </a:bodyPr>
            <a:lstStyle/>
            <a:p>
              <a:pPr algn="l"/>
              <a:r>
                <a:rPr sz="1200" b="1" i="0">
                  <a:solidFill>
                    <a:srgbClr val="002E6E"/>
                  </a:solidFill>
                  <a:latin typeface="Calibri"/>
                </a:rPr>
                <a:t>Group 1 (16)</a:t>
              </a:r>
            </a:p>
          </p:txBody>
        </p:sp>
        <p:sp>
          <p:nvSpPr>
            <p:cNvPr id="24" name="Rectangle 23"/>
            <p:cNvSpPr/>
            <p:nvPr/>
          </p:nvSpPr>
          <p:spPr>
            <a:xfrm>
              <a:off x="8366760" y="4096512"/>
              <a:ext cx="1209040" cy="292608"/>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b="1" i="0">
                  <a:solidFill>
                    <a:srgbClr val="FFFFFF"/>
                  </a:solidFill>
                  <a:latin typeface="Calibri"/>
                </a:rPr>
                <a:t>7</a:t>
              </a:r>
            </a:p>
          </p:txBody>
        </p:sp>
        <p:sp>
          <p:nvSpPr>
            <p:cNvPr id="25" name="Rectangle 24"/>
            <p:cNvSpPr/>
            <p:nvPr/>
          </p:nvSpPr>
          <p:spPr>
            <a:xfrm>
              <a:off x="9575800" y="4096512"/>
              <a:ext cx="1554480" cy="292608"/>
            </a:xfrm>
            <a:prstGeom prst="rect">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b="1" i="0">
                  <a:solidFill>
                    <a:srgbClr val="002E6E"/>
                  </a:solidFill>
                  <a:latin typeface="Calibri"/>
                </a:rPr>
                <a:t>9</a:t>
              </a:r>
            </a:p>
          </p:txBody>
        </p:sp>
        <p:sp>
          <p:nvSpPr>
            <p:cNvPr id="26" name="TextBox 25"/>
            <p:cNvSpPr txBox="1"/>
            <p:nvPr/>
          </p:nvSpPr>
          <p:spPr>
            <a:xfrm>
              <a:off x="7223760" y="4462272"/>
              <a:ext cx="1143000" cy="292608"/>
            </a:xfrm>
            <a:prstGeom prst="rect">
              <a:avLst/>
            </a:prstGeom>
            <a:noFill/>
          </p:spPr>
          <p:txBody>
            <a:bodyPr wrap="square" lIns="36576" rIns="36576" tIns="36576" bIns="36576" anchor="ctr">
              <a:noAutofit/>
            </a:bodyPr>
            <a:lstStyle/>
            <a:p>
              <a:pPr algn="l"/>
              <a:r>
                <a:rPr sz="1200" b="1" i="0">
                  <a:solidFill>
                    <a:srgbClr val="002E6E"/>
                  </a:solidFill>
                  <a:latin typeface="Calibri"/>
                </a:rPr>
                <a:t>Group 3 (18)</a:t>
              </a:r>
            </a:p>
          </p:txBody>
        </p:sp>
        <p:sp>
          <p:nvSpPr>
            <p:cNvPr id="27" name="Rectangle 26"/>
            <p:cNvSpPr/>
            <p:nvPr/>
          </p:nvSpPr>
          <p:spPr>
            <a:xfrm>
              <a:off x="8366760" y="4462272"/>
              <a:ext cx="172720" cy="292608"/>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b="1" i="0">
                  <a:solidFill>
                    <a:srgbClr val="FFFFFF"/>
                  </a:solidFill>
                  <a:latin typeface="Calibri"/>
                </a:rPr>
                <a:t>1</a:t>
              </a:r>
            </a:p>
          </p:txBody>
        </p:sp>
        <p:sp>
          <p:nvSpPr>
            <p:cNvPr id="28" name="Rectangle 27"/>
            <p:cNvSpPr/>
            <p:nvPr/>
          </p:nvSpPr>
          <p:spPr>
            <a:xfrm>
              <a:off x="8539480" y="4462272"/>
              <a:ext cx="690880" cy="292608"/>
            </a:xfrm>
            <a:prstGeom prst="rect">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b="1" i="0">
                  <a:solidFill>
                    <a:srgbClr val="002E6E"/>
                  </a:solidFill>
                  <a:latin typeface="Calibri"/>
                </a:rPr>
                <a:t>4</a:t>
              </a:r>
            </a:p>
          </p:txBody>
        </p:sp>
        <p:sp>
          <p:nvSpPr>
            <p:cNvPr id="29" name="Rectangle 28"/>
            <p:cNvSpPr/>
            <p:nvPr/>
          </p:nvSpPr>
          <p:spPr>
            <a:xfrm>
              <a:off x="9230360" y="4462272"/>
              <a:ext cx="2245360" cy="292608"/>
            </a:xfrm>
            <a:prstGeom prst="rect">
              <a:avLst/>
            </a:prstGeom>
            <a:solidFill>
              <a:srgbClr val="C9D3D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100" b="1" i="0">
                  <a:solidFill>
                    <a:srgbClr val="1B2733"/>
                  </a:solidFill>
                  <a:latin typeface="Calibri"/>
                </a:rPr>
                <a:t>13</a:t>
              </a:r>
            </a:p>
          </p:txBody>
        </p:sp>
        <p:sp>
          <p:nvSpPr>
            <p:cNvPr id="30" name="Rounded Rectangle 29"/>
            <p:cNvSpPr/>
            <p:nvPr/>
          </p:nvSpPr>
          <p:spPr>
            <a:xfrm>
              <a:off x="10607040" y="3785615"/>
              <a:ext cx="662098" cy="173736"/>
            </a:xfrm>
            <a:prstGeom prst="roundRect">
              <a:avLst>
                <a:gd name="adj" fmla="val 50000"/>
              </a:avLst>
            </a:prstGeom>
            <a:solidFill>
              <a:srgbClr val="F2B20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800" b="1" i="0">
                  <a:solidFill>
                    <a:srgbClr val="1B2733"/>
                  </a:solidFill>
                  <a:latin typeface="Calibri"/>
                </a:rPr>
                <a:t>SYNTHETIC</a:t>
              </a:r>
            </a:p>
          </p:txBody>
        </p:sp>
      </p:grpSp>
      <p:sp>
        <p:nvSpPr>
          <p:cNvPr id="31" name="Rounded Rectangle 30"/>
          <p:cNvSpPr/>
          <p:nvPr/>
        </p:nvSpPr>
        <p:spPr>
          <a:xfrm>
            <a:off x="7086600" y="4983480"/>
            <a:ext cx="4553712" cy="1143000"/>
          </a:xfrm>
          <a:prstGeom prst="roundRect">
            <a:avLst>
              <a:gd name="adj" fmla="val 5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1000" b="1" i="0">
                <a:solidFill>
                  <a:srgbClr val="5B6B7C"/>
                </a:solidFill>
                <a:latin typeface="Calibri"/>
              </a:rPr>
              <a:t>HOW PAYTM FINDS THEM: INTERNAL DATA REQUEST</a:t>
            </a:r>
          </a:p>
          <a:p>
            <a:pPr algn="l">
              <a:spcBef>
                <a:spcPts val="200"/>
              </a:spcBef>
            </a:pPr>
            <a:r>
              <a:rPr sz="1200" b="0" i="0">
                <a:solidFill>
                  <a:srgbClr val="1B2733"/>
                </a:solidFill>
                <a:latin typeface="Calibri"/>
              </a:rPr>
              <a:t>Settlement cycle and destination account per device merchant; share already using manual instant settlement; outgoing UPI pattern where visible</a:t>
            </a:r>
          </a:p>
        </p:txBody>
      </p:sp>
      <p:sp>
        <p:nvSpPr>
          <p:cNvPr id="32" name="Rounded Rectangle 31"/>
          <p:cNvSpPr/>
          <p:nvPr/>
        </p:nvSpPr>
        <p:spPr>
          <a:xfrm>
            <a:off x="10607040" y="5047488"/>
            <a:ext cx="741878" cy="173736"/>
          </a:xfrm>
          <a:prstGeom prst="roundRect">
            <a:avLst>
              <a:gd name="adj" fmla="val 50000"/>
            </a:avLst>
          </a:prstGeom>
          <a:solidFill>
            <a:srgbClr val="6B77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800" b="1" i="0">
                <a:solidFill>
                  <a:srgbClr val="FFFFFF"/>
                </a:solidFill>
                <a:latin typeface="Calibri"/>
              </a:rPr>
              <a:t>TO VALIDATE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grpId="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childTnLst>
                          </p:cTn>
                        </p:par>
                        <p:par>
                          <p:cTn id="8" fill="hold">
                            <p:stCondLst>
                              <p:cond delay="450"/>
                            </p:stCondLst>
                            <p:childTnLst>
                              <p:par>
                                <p:cTn id="9" presetID="10" presetClass="entr" presetSubtype="0" grpId="0" fill="hold" nodeType="afterEffect">
                                  <p:stCondLst>
                                    <p:cond delay="1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50"/>
                                        <p:tgtEl>
                                          <p:spTgt spid="12"/>
                                        </p:tgtEl>
                                      </p:cBhvr>
                                    </p:animEffect>
                                  </p:childTnLst>
                                </p:cTn>
                              </p:par>
                            </p:childTnLst>
                          </p:cTn>
                        </p:par>
                        <p:par>
                          <p:cTn id="12" fill="hold">
                            <p:stCondLst>
                              <p:cond delay="1000"/>
                            </p:stCondLst>
                            <p:childTnLst>
                              <p:par>
                                <p:cTn id="13" presetID="10" presetClass="entr" presetSubtype="0" grpId="0" fill="hold" nodeType="afterEffect">
                                  <p:stCondLst>
                                    <p:cond delay="10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5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grpId="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childTnLst>
                          </p:cTn>
                        </p:par>
                        <p:par>
                          <p:cTn id="21" fill="hold">
                            <p:stCondLst>
                              <p:cond delay="450"/>
                            </p:stCondLst>
                            <p:childTnLst>
                              <p:par>
                                <p:cTn id="22" presetID="6" presetClass="emph" presetSubtype="0" grpId="1" fill="hold" nodeType="afterEffect">
                                  <p:stCondLst>
                                    <p:cond delay="0"/>
                                  </p:stCondLst>
                                  <p:childTnLst>
                                    <p:animScale>
                                      <p:cBhvr>
                                        <p:cTn id="23" dur="300" autoRev="1" fill="hold"/>
                                        <p:tgtEl>
                                          <p:spTgt spid="15"/>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2E6E"/>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00BAF2"/>
                </a:solidFill>
                <a:latin typeface="Calibri"/>
              </a:rPr>
              <a:t>THE SOLUTION</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FFFFFF"/>
                </a:solidFill>
                <a:latin typeface="Calibri"/>
              </a:rPr>
              <a:t>Settle &amp; Pay turns today's collections into a supplier payment in one flow built to fit RBI's payout rules, with no loan</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A9C1E0"/>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A9C1E0"/>
                </a:solidFill>
                <a:latin typeface="Calibri"/>
              </a:rPr>
              <a:t>RBI (Regulation of Payment Aggregators) Directions, 15 Sep 2025 (S9). Payout restriction per legal summaries (S10, S11); primary RBI text to be confirmed. Compliance confirmation of free conditional settlement pending. Amounts illustrative.</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A9C1E0"/>
                </a:solidFill>
                <a:latin typeface="Calibri"/>
              </a:rPr>
              <a:t>6</a:t>
            </a:r>
          </a:p>
        </p:txBody>
      </p:sp>
      <p:sp>
        <p:nvSpPr>
          <p:cNvPr id="7" name="nodeA"/>
          <p:cNvSpPr/>
          <p:nvPr/>
        </p:nvSpPr>
        <p:spPr>
          <a:xfrm>
            <a:off x="548640" y="2011680"/>
            <a:ext cx="2743200" cy="1600200"/>
          </a:xfrm>
          <a:prstGeom prst="roundRect">
            <a:avLst>
              <a:gd name="adj" fmla="val 8000"/>
            </a:avLst>
          </a:prstGeom>
          <a:solidFill>
            <a:srgbClr val="0B3F86"/>
          </a:solidFill>
          <a:ln w="9525">
            <a:solidFill>
              <a:srgbClr val="1D4F96"/>
            </a:solidFill>
          </a:ln>
          <a:effectLst/>
        </p:spPr>
        <p:style>
          <a:lnRef idx="1">
            <a:schemeClr val="accent1"/>
          </a:lnRef>
          <a:fillRef idx="3">
            <a:schemeClr val="accent1"/>
          </a:fillRef>
          <a:effectRef idx="0">
            <a:schemeClr val="accent1"/>
          </a:effectRef>
          <a:fontRef idx="minor">
            <a:schemeClr val="lt1"/>
          </a:fontRef>
        </p:style>
        <p:txBody>
          <a:bodyPr rtlCol="0" anchor="ctr" wrap="square" lIns="146304" rIns="146304" tIns="146304" bIns="146304">
            <a:noAutofit/>
          </a:bodyPr>
          <a:lstStyle/>
          <a:p>
            <a:pPr algn="l"/>
            <a:r>
              <a:rPr sz="1100" b="1" i="0">
                <a:solidFill>
                  <a:srgbClr val="A9C1E0"/>
                </a:solidFill>
                <a:latin typeface="Calibri"/>
              </a:rPr>
              <a:t>PAYTM COLLECTIONS</a:t>
            </a:r>
          </a:p>
          <a:p>
            <a:pPr algn="l">
              <a:spcBef>
                <a:spcPts val="300"/>
              </a:spcBef>
            </a:pPr>
            <a:r>
              <a:rPr sz="2000" b="1" i="0">
                <a:solidFill>
                  <a:srgbClr val="FFFFFF"/>
                </a:solidFill>
                <a:latin typeface="Calibri"/>
              </a:rPr>
              <a:t>₹12,400 today</a:t>
            </a:r>
          </a:p>
          <a:p>
            <a:pPr algn="l">
              <a:spcBef>
                <a:spcPts val="300"/>
              </a:spcBef>
            </a:pPr>
            <a:r>
              <a:rPr sz="1200" b="0" i="0">
                <a:solidFill>
                  <a:srgbClr val="FFFFFF"/>
                </a:solidFill>
                <a:latin typeface="Calibri"/>
              </a:rPr>
              <a:t>Already received from customers, not yet settled</a:t>
            </a:r>
          </a:p>
        </p:txBody>
      </p:sp>
      <p:grpSp>
        <p:nvGrpSpPr>
          <p:cNvPr id="8" name="leg1"/>
          <p:cNvGrpSpPr/>
          <p:nvPr/>
        </p:nvGrpSpPr>
        <p:grpSpPr>
          <a:xfrm>
            <a:off x="3246120" y="2011680"/>
            <a:ext cx="4206240" cy="1600200"/>
            <a:chOff x="3246120" y="2011680"/>
            <a:chExt cx="4206240" cy="1600200"/>
          </a:xfrm>
        </p:grpSpPr>
        <p:cxnSp>
          <p:nvCxnSpPr>
            <p:cNvPr id="9" name="Connector 8"/>
            <p:cNvCxnSpPr/>
            <p:nvPr/>
          </p:nvCxnSpPr>
          <p:spPr>
            <a:xfrm>
              <a:off x="3364992" y="2807208"/>
              <a:ext cx="1271016" cy="0"/>
            </a:xfrm>
            <a:prstGeom prst="line">
              <a:avLst/>
            </a:prstGeom>
            <a:ln w="50800">
              <a:solidFill>
                <a:srgbClr val="00BAF2"/>
              </a:solidFill>
              <a:tailEnd type="triangle" w="med" len="med"/>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3246120" y="2029968"/>
              <a:ext cx="1508760" cy="685800"/>
            </a:xfrm>
            <a:prstGeom prst="rect">
              <a:avLst/>
            </a:prstGeom>
            <a:noFill/>
          </p:spPr>
          <p:txBody>
            <a:bodyPr wrap="square" lIns="36576" rIns="36576" tIns="36576" bIns="36576" anchor="t">
              <a:noAutofit/>
            </a:bodyPr>
            <a:lstStyle/>
            <a:p>
              <a:pPr algn="ctr"/>
              <a:r>
                <a:rPr sz="1100" b="1" i="0">
                  <a:solidFill>
                    <a:srgbClr val="00BAF2"/>
                  </a:solidFill>
                  <a:latin typeface="Calibri"/>
                </a:rPr>
                <a:t>LEG 1</a:t>
              </a:r>
            </a:p>
            <a:p>
              <a:pPr algn="ctr"/>
              <a:r>
                <a:rPr sz="1300" b="1" i="0">
                  <a:solidFill>
                    <a:srgbClr val="FFFFFF"/>
                  </a:solidFill>
                  <a:latin typeface="Calibri"/>
                </a:rPr>
                <a:t>Settle ₹6,800</a:t>
              </a:r>
            </a:p>
          </p:txBody>
        </p:sp>
        <p:sp>
          <p:nvSpPr>
            <p:cNvPr id="11" name="TextBox 10"/>
            <p:cNvSpPr txBox="1"/>
            <p:nvPr/>
          </p:nvSpPr>
          <p:spPr>
            <a:xfrm>
              <a:off x="3246120" y="2926080"/>
              <a:ext cx="1508760" cy="685800"/>
            </a:xfrm>
            <a:prstGeom prst="rect">
              <a:avLst/>
            </a:prstGeom>
            <a:noFill/>
          </p:spPr>
          <p:txBody>
            <a:bodyPr wrap="square" lIns="36576" rIns="36576" tIns="36576" bIns="36576" anchor="t">
              <a:noAutofit/>
            </a:bodyPr>
            <a:lstStyle/>
            <a:p>
              <a:pPr algn="ctr"/>
              <a:r>
                <a:rPr sz="1200" b="0" i="0">
                  <a:solidFill>
                    <a:srgbClr val="A9C1E0"/>
                  </a:solidFill>
                  <a:latin typeface="Calibri"/>
                </a:rPr>
                <a:t>No PIN · free when</a:t>
              </a:r>
            </a:p>
            <a:p>
              <a:pPr algn="ctr"/>
              <a:r>
                <a:rPr sz="1200" b="0" i="0">
                  <a:solidFill>
                    <a:srgbClr val="A9C1E0"/>
                  </a:solidFill>
                  <a:latin typeface="Calibri"/>
                </a:rPr>
                <a:t>it funds a supplier</a:t>
              </a:r>
            </a:p>
          </p:txBody>
        </p:sp>
        <p:sp>
          <p:nvSpPr>
            <p:cNvPr id="12" name="Rounded Rectangle 11"/>
            <p:cNvSpPr/>
            <p:nvPr/>
          </p:nvSpPr>
          <p:spPr>
            <a:xfrm>
              <a:off x="4709160" y="2011680"/>
              <a:ext cx="2743200" cy="1600200"/>
            </a:xfrm>
            <a:prstGeom prst="roundRect">
              <a:avLst>
                <a:gd name="adj" fmla="val 8000"/>
              </a:avLst>
            </a:prstGeom>
            <a:solidFill>
              <a:srgbClr val="0B3F86"/>
            </a:solidFill>
            <a:ln w="9525">
              <a:solidFill>
                <a:srgbClr val="1D4F96"/>
              </a:solidFill>
            </a:ln>
            <a:effectLst/>
          </p:spPr>
          <p:style>
            <a:lnRef idx="1">
              <a:schemeClr val="accent1"/>
            </a:lnRef>
            <a:fillRef idx="3">
              <a:schemeClr val="accent1"/>
            </a:fillRef>
            <a:effectRef idx="0">
              <a:schemeClr val="accent1"/>
            </a:effectRef>
            <a:fontRef idx="minor">
              <a:schemeClr val="lt1"/>
            </a:fontRef>
          </p:style>
          <p:txBody>
            <a:bodyPr rtlCol="0" anchor="ctr" wrap="square" lIns="146304" rIns="146304" tIns="146304" bIns="146304">
              <a:noAutofit/>
            </a:bodyPr>
            <a:lstStyle/>
            <a:p>
              <a:pPr algn="l"/>
              <a:r>
                <a:rPr sz="1100" b="1" i="0">
                  <a:solidFill>
                    <a:srgbClr val="A9C1E0"/>
                  </a:solidFill>
                  <a:latin typeface="Calibri"/>
                </a:rPr>
                <a:t>MERCHANT'S OWN ACCOUNT</a:t>
              </a:r>
            </a:p>
            <a:p>
              <a:pPr algn="l">
                <a:spcBef>
                  <a:spcPts val="300"/>
                </a:spcBef>
              </a:pPr>
              <a:r>
                <a:rPr sz="2000" b="1" i="0">
                  <a:solidFill>
                    <a:srgbClr val="FFFFFF"/>
                  </a:solidFill>
                  <a:latin typeface="Calibri"/>
                </a:rPr>
                <a:t>Current a/c ••4821</a:t>
              </a:r>
            </a:p>
            <a:p>
              <a:pPr algn="l">
                <a:spcBef>
                  <a:spcPts val="300"/>
                </a:spcBef>
              </a:pPr>
              <a:r>
                <a:rPr sz="1200" b="0" i="0">
                  <a:solidFill>
                    <a:srgbClr val="FFFFFF"/>
                  </a:solidFill>
                  <a:latin typeface="Calibri"/>
                </a:rPr>
                <a:t>Money is the merchant's before it moves on</a:t>
              </a:r>
            </a:p>
          </p:txBody>
        </p:sp>
      </p:grpSp>
      <p:grpSp>
        <p:nvGrpSpPr>
          <p:cNvPr id="13" name="leg2"/>
          <p:cNvGrpSpPr/>
          <p:nvPr/>
        </p:nvGrpSpPr>
        <p:grpSpPr>
          <a:xfrm>
            <a:off x="7406640" y="2011680"/>
            <a:ext cx="4206240" cy="1600200"/>
            <a:chOff x="7406640" y="2011680"/>
            <a:chExt cx="4206240" cy="1600200"/>
          </a:xfrm>
        </p:grpSpPr>
        <p:cxnSp>
          <p:nvCxnSpPr>
            <p:cNvPr id="14" name="Connector 13"/>
            <p:cNvCxnSpPr/>
            <p:nvPr/>
          </p:nvCxnSpPr>
          <p:spPr>
            <a:xfrm>
              <a:off x="7525512" y="2807208"/>
              <a:ext cx="1271016" cy="0"/>
            </a:xfrm>
            <a:prstGeom prst="line">
              <a:avLst/>
            </a:prstGeom>
            <a:ln w="50800">
              <a:solidFill>
                <a:srgbClr val="00BAF2"/>
              </a:solidFill>
              <a:tailEnd type="triangle" w="med" len="med"/>
            </a:ln>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7406640" y="2029968"/>
              <a:ext cx="1508760" cy="685800"/>
            </a:xfrm>
            <a:prstGeom prst="rect">
              <a:avLst/>
            </a:prstGeom>
            <a:noFill/>
          </p:spPr>
          <p:txBody>
            <a:bodyPr wrap="square" lIns="36576" rIns="36576" tIns="36576" bIns="36576" anchor="t">
              <a:noAutofit/>
            </a:bodyPr>
            <a:lstStyle/>
            <a:p>
              <a:pPr algn="ctr"/>
              <a:r>
                <a:rPr sz="1100" b="1" i="0">
                  <a:solidFill>
                    <a:srgbClr val="00BAF2"/>
                  </a:solidFill>
                  <a:latin typeface="Calibri"/>
                </a:rPr>
                <a:t>LEG 2</a:t>
              </a:r>
            </a:p>
            <a:p>
              <a:pPr algn="ctr"/>
              <a:r>
                <a:rPr sz="1300" b="1" i="0">
                  <a:solidFill>
                    <a:srgbClr val="FFFFFF"/>
                  </a:solidFill>
                  <a:latin typeface="Calibri"/>
                </a:rPr>
                <a:t>Pay by UPI</a:t>
              </a:r>
            </a:p>
          </p:txBody>
        </p:sp>
        <p:sp>
          <p:nvSpPr>
            <p:cNvPr id="16" name="TextBox 15"/>
            <p:cNvSpPr txBox="1"/>
            <p:nvPr/>
          </p:nvSpPr>
          <p:spPr>
            <a:xfrm>
              <a:off x="7406640" y="2926080"/>
              <a:ext cx="1508760" cy="685800"/>
            </a:xfrm>
            <a:prstGeom prst="rect">
              <a:avLst/>
            </a:prstGeom>
            <a:noFill/>
          </p:spPr>
          <p:txBody>
            <a:bodyPr wrap="square" lIns="36576" rIns="36576" tIns="36576" bIns="36576" anchor="t">
              <a:noAutofit/>
            </a:bodyPr>
            <a:lstStyle/>
            <a:p>
              <a:pPr algn="ctr"/>
              <a:r>
                <a:rPr sz="1200" b="0" i="0">
                  <a:solidFill>
                    <a:srgbClr val="A9C1E0"/>
                  </a:solidFill>
                  <a:latin typeface="Calibri"/>
                </a:rPr>
                <a:t>One UPI PIN</a:t>
              </a:r>
            </a:p>
            <a:p>
              <a:pPr algn="ctr"/>
              <a:r>
                <a:rPr sz="1200" b="0" i="0">
                  <a:solidFill>
                    <a:srgbClr val="A9C1E0"/>
                  </a:solidFill>
                  <a:latin typeface="Calibri"/>
                </a:rPr>
                <a:t>ordinary UPI credit</a:t>
              </a:r>
            </a:p>
          </p:txBody>
        </p:sp>
        <p:sp>
          <p:nvSpPr>
            <p:cNvPr id="17" name="Rounded Rectangle 16"/>
            <p:cNvSpPr/>
            <p:nvPr/>
          </p:nvSpPr>
          <p:spPr>
            <a:xfrm>
              <a:off x="8869680" y="2011680"/>
              <a:ext cx="2743200" cy="1600200"/>
            </a:xfrm>
            <a:prstGeom prst="roundRect">
              <a:avLst>
                <a:gd name="adj" fmla="val 8000"/>
              </a:avLst>
            </a:prstGeom>
            <a:solidFill>
              <a:srgbClr val="0B3F86"/>
            </a:solidFill>
            <a:ln w="9525">
              <a:solidFill>
                <a:srgbClr val="1D4F96"/>
              </a:solidFill>
            </a:ln>
            <a:effectLst/>
          </p:spPr>
          <p:style>
            <a:lnRef idx="1">
              <a:schemeClr val="accent1"/>
            </a:lnRef>
            <a:fillRef idx="3">
              <a:schemeClr val="accent1"/>
            </a:fillRef>
            <a:effectRef idx="0">
              <a:schemeClr val="accent1"/>
            </a:effectRef>
            <a:fontRef idx="minor">
              <a:schemeClr val="lt1"/>
            </a:fontRef>
          </p:style>
          <p:txBody>
            <a:bodyPr rtlCol="0" anchor="ctr" wrap="square" lIns="146304" rIns="146304" tIns="146304" bIns="146304">
              <a:noAutofit/>
            </a:bodyPr>
            <a:lstStyle/>
            <a:p>
              <a:pPr algn="l"/>
              <a:r>
                <a:rPr sz="1100" b="1" i="0">
                  <a:solidFill>
                    <a:srgbClr val="A9C1E0"/>
                  </a:solidFill>
                  <a:latin typeface="Calibri"/>
                </a:rPr>
                <a:t>SUPPLIER</a:t>
              </a:r>
            </a:p>
            <a:p>
              <a:pPr algn="l">
                <a:spcBef>
                  <a:spcPts val="300"/>
                </a:spcBef>
              </a:pPr>
              <a:r>
                <a:rPr sz="2000" b="1" i="0">
                  <a:solidFill>
                    <a:srgbClr val="FFFFFF"/>
                  </a:solidFill>
                  <a:latin typeface="Calibri"/>
                </a:rPr>
                <a:t>Sharma Traders</a:t>
              </a:r>
            </a:p>
            <a:p>
              <a:pPr algn="l">
                <a:spcBef>
                  <a:spcPts val="300"/>
                </a:spcBef>
              </a:pPr>
              <a:r>
                <a:rPr sz="1200" b="0" i="0">
                  <a:solidFill>
                    <a:srgbClr val="FFFFFF"/>
                  </a:solidFill>
                  <a:latin typeface="Calibri"/>
                </a:rPr>
                <a:t>Sees a normal UPI payment</a:t>
              </a:r>
            </a:p>
          </p:txBody>
        </p:sp>
      </p:grpSp>
      <p:grpSp>
        <p:nvGrpSpPr>
          <p:cNvPr id="18" name="crossed"/>
          <p:cNvGrpSpPr/>
          <p:nvPr/>
        </p:nvGrpSpPr>
        <p:grpSpPr>
          <a:xfrm>
            <a:off x="1920240" y="3630168"/>
            <a:ext cx="8321040" cy="1216152"/>
            <a:chOff x="1920240" y="3630168"/>
            <a:chExt cx="8321040" cy="1216152"/>
          </a:xfrm>
        </p:grpSpPr>
        <p:cxnSp>
          <p:nvCxnSpPr>
            <p:cNvPr id="19" name="Connector 18"/>
            <p:cNvCxnSpPr/>
            <p:nvPr/>
          </p:nvCxnSpPr>
          <p:spPr>
            <a:xfrm>
              <a:off x="1920240" y="3630168"/>
              <a:ext cx="0" cy="530352"/>
            </a:xfrm>
            <a:prstGeom prst="line">
              <a:avLst/>
            </a:prstGeom>
            <a:ln w="25400">
              <a:solidFill>
                <a:srgbClr val="C62828"/>
              </a:solidFill>
              <a:prstDash val="dash"/>
            </a:ln>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1920240" y="4160520"/>
              <a:ext cx="8321040" cy="0"/>
            </a:xfrm>
            <a:prstGeom prst="line">
              <a:avLst/>
            </a:prstGeom>
            <a:ln w="25400">
              <a:solidFill>
                <a:srgbClr val="C62828"/>
              </a:solidFill>
              <a:prstDash val="dash"/>
            </a:ln>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V="1">
              <a:off x="10241280" y="3657600"/>
              <a:ext cx="0" cy="502920"/>
            </a:xfrm>
            <a:prstGeom prst="line">
              <a:avLst/>
            </a:prstGeom>
            <a:ln w="25400">
              <a:solidFill>
                <a:srgbClr val="C62828"/>
              </a:solidFill>
              <a:prstDash val="dash"/>
              <a:tailEnd type="triangle" w="med" len="med"/>
            </a:ln>
          </p:spPr>
          <p:style>
            <a:lnRef idx="2">
              <a:schemeClr val="accent1"/>
            </a:lnRef>
            <a:fillRef idx="0">
              <a:schemeClr val="accent1"/>
            </a:fillRef>
            <a:effectRef idx="0">
              <a:schemeClr val="accent1"/>
            </a:effectRef>
            <a:fontRef idx="minor">
              <a:schemeClr val="tx1"/>
            </a:fontRef>
          </p:style>
        </p:cxnSp>
        <p:sp>
          <p:nvSpPr>
            <p:cNvPr id="22" name="Oval 21"/>
            <p:cNvSpPr/>
            <p:nvPr/>
          </p:nvSpPr>
          <p:spPr>
            <a:xfrm>
              <a:off x="5806440" y="3931920"/>
              <a:ext cx="457200" cy="457200"/>
            </a:xfrm>
            <a:prstGeom prst="ellipse">
              <a:avLst/>
            </a:prstGeom>
            <a:solidFill>
              <a:srgbClr val="C6282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800" b="1" i="0">
                  <a:solidFill>
                    <a:srgbClr val="FFFFFF"/>
                  </a:solidFill>
                  <a:latin typeface="Calibri"/>
                </a:rPr>
                <a:t>✕</a:t>
              </a:r>
            </a:p>
          </p:txBody>
        </p:sp>
        <p:sp>
          <p:nvSpPr>
            <p:cNvPr id="23" name="TextBox 22"/>
            <p:cNvSpPr txBox="1"/>
            <p:nvPr/>
          </p:nvSpPr>
          <p:spPr>
            <a:xfrm>
              <a:off x="2103120" y="4279392"/>
              <a:ext cx="7955279" cy="566928"/>
            </a:xfrm>
            <a:prstGeom prst="rect">
              <a:avLst/>
            </a:prstGeom>
            <a:noFill/>
          </p:spPr>
          <p:txBody>
            <a:bodyPr wrap="square" lIns="36576" rIns="36576" tIns="36576" bIns="36576" anchor="t">
              <a:noAutofit/>
            </a:bodyPr>
            <a:lstStyle/>
            <a:p>
              <a:pPr algn="ctr"/>
              <a:r>
                <a:rPr sz="1200" b="1" i="0">
                  <a:solidFill>
                    <a:srgbClr val="FF8A80"/>
                  </a:solidFill>
                  <a:latin typeface="Calibri"/>
                </a:rPr>
                <a:t>Not this: Paytm paying the supplier straight from collections. </a:t>
              </a:r>
              <a:r>
                <a:rPr sz="1200" b="0" i="0">
                  <a:solidFill>
                    <a:srgbClr val="FFFFFF"/>
                  </a:solidFill>
                  <a:latin typeface="Calibri"/>
                </a:rPr>
                <a:t>RBI's 2025 rules allow third-party payouts only for merchants above ₹40 lakh turnover, and only to the customer-facing payee.</a:t>
              </a:r>
            </a:p>
          </p:txBody>
        </p:sp>
      </p:grpSp>
      <p:sp>
        <p:nvSpPr>
          <p:cNvPr id="24" name="Rounded Rectangle 23"/>
          <p:cNvSpPr/>
          <p:nvPr/>
        </p:nvSpPr>
        <p:spPr>
          <a:xfrm>
            <a:off x="548640" y="5257800"/>
            <a:ext cx="2788920" cy="777240"/>
          </a:xfrm>
          <a:prstGeom prst="roundRect">
            <a:avLst>
              <a:gd name="adj" fmla="val 20000"/>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109728" bIns="109728">
            <a:noAutofit/>
          </a:bodyPr>
          <a:lstStyle/>
          <a:p>
            <a:pPr algn="ctr"/>
            <a:r>
              <a:rPr sz="1200" b="1" i="0">
                <a:solidFill>
                  <a:srgbClr val="002E6E"/>
                </a:solidFill>
                <a:latin typeface="Calibri"/>
              </a:rPr>
              <a:t>Free when it funds a supplier payment</a:t>
            </a:r>
          </a:p>
        </p:txBody>
      </p:sp>
      <p:sp>
        <p:nvSpPr>
          <p:cNvPr id="25" name="Rounded Rectangle 24"/>
          <p:cNvSpPr/>
          <p:nvPr/>
        </p:nvSpPr>
        <p:spPr>
          <a:xfrm>
            <a:off x="3465576" y="5257800"/>
            <a:ext cx="5120640" cy="777240"/>
          </a:xfrm>
          <a:prstGeom prst="roundRect">
            <a:avLst>
              <a:gd name="adj" fmla="val 20000"/>
            </a:avLst>
          </a:prstGeom>
          <a:solidFill>
            <a:srgbClr val="0B3F86"/>
          </a:solidFill>
          <a:ln w="9525">
            <a:solidFill>
              <a:srgbClr val="1D4F9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109728" bIns="109728">
            <a:noAutofit/>
          </a:bodyPr>
          <a:lstStyle/>
          <a:p>
            <a:pPr algn="ctr"/>
            <a:r>
              <a:rPr sz="1200" b="1" i="0">
                <a:solidFill>
                  <a:srgbClr val="FFFFFF"/>
                </a:solidFill>
                <a:latin typeface="Calibri"/>
              </a:rPr>
              <a:t>Settles only collections already received: designed to avoid pre-funding; compliance confirmation pending</a:t>
            </a:r>
          </a:p>
        </p:txBody>
      </p:sp>
      <p:sp>
        <p:nvSpPr>
          <p:cNvPr id="26" name="Rounded Rectangle 25"/>
          <p:cNvSpPr/>
          <p:nvPr/>
        </p:nvSpPr>
        <p:spPr>
          <a:xfrm>
            <a:off x="8714232" y="5257800"/>
            <a:ext cx="2926080" cy="777240"/>
          </a:xfrm>
          <a:prstGeom prst="roundRect">
            <a:avLst>
              <a:gd name="adj" fmla="val 20000"/>
            </a:avLst>
          </a:prstGeom>
          <a:solidFill>
            <a:srgbClr val="0B3F86"/>
          </a:solidFill>
          <a:ln w="9525">
            <a:solidFill>
              <a:srgbClr val="1D4F96"/>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109728" bIns="109728">
            <a:noAutofit/>
          </a:bodyPr>
          <a:lstStyle/>
          <a:p>
            <a:pPr algn="ctr"/>
            <a:r>
              <a:rPr sz="1200" b="1" i="0">
                <a:solidFill>
                  <a:srgbClr val="FFFFFF"/>
                </a:solidFill>
                <a:latin typeface="Calibri"/>
              </a:rPr>
              <a:t>No credit · no cashback · personal UPI untouched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grpId="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7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grpId="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7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grpId="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DESIGN · BEFORE AND AFTER</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002E6E"/>
                </a:solidFill>
                <a:latin typeface="Calibri"/>
              </a:rPr>
              <a:t>Four steps across two apps become one flow and one PIN</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Before: slide 4 journey. After: concept flow (light pilot build hands off to the Paytm UPI app with the supplier prefilled; the full in-app flow follows the scale gate). Settlement-to-credit time by bank is to be validated.</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7</a:t>
            </a:r>
          </a:p>
        </p:txBody>
      </p:sp>
      <p:sp>
        <p:nvSpPr>
          <p:cNvPr id="7" name="TextBox 6"/>
          <p:cNvSpPr txBox="1"/>
          <p:nvPr/>
        </p:nvSpPr>
        <p:spPr>
          <a:xfrm>
            <a:off x="548640" y="1828800"/>
            <a:ext cx="1097280" cy="1097280"/>
          </a:xfrm>
          <a:prstGeom prst="rect">
            <a:avLst/>
          </a:prstGeom>
          <a:noFill/>
        </p:spPr>
        <p:txBody>
          <a:bodyPr wrap="square" lIns="36576" rIns="36576" tIns="36576" bIns="36576" anchor="ctr">
            <a:noAutofit/>
          </a:bodyPr>
          <a:lstStyle/>
          <a:p>
            <a:pPr algn="l"/>
            <a:r>
              <a:rPr sz="1400" b="1" i="0">
                <a:solidFill>
                  <a:srgbClr val="5B6B7C"/>
                </a:solidFill>
                <a:latin typeface="Calibri"/>
              </a:rPr>
              <a:t>BEFORE</a:t>
            </a:r>
          </a:p>
          <a:p>
            <a:pPr algn="l"/>
            <a:r>
              <a:rPr sz="1200" b="1" i="0">
                <a:solidFill>
                  <a:srgbClr val="1B2733"/>
                </a:solidFill>
                <a:latin typeface="Calibri"/>
              </a:rPr>
              <a:t>4 steps</a:t>
            </a:r>
          </a:p>
          <a:p>
            <a:pPr algn="l"/>
            <a:r>
              <a:rPr sz="1200" b="0" i="0">
                <a:solidFill>
                  <a:srgbClr val="1B2733"/>
                </a:solidFill>
                <a:latin typeface="Calibri"/>
              </a:rPr>
              <a:t>2 apps · a wait</a:t>
            </a:r>
          </a:p>
        </p:txBody>
      </p:sp>
      <p:grpSp>
        <p:nvGrpSpPr>
          <p:cNvPr id="8" name="!!step1"/>
          <p:cNvGrpSpPr/>
          <p:nvPr/>
        </p:nvGrpSpPr>
        <p:grpSpPr>
          <a:xfrm>
            <a:off x="1737360" y="1828800"/>
            <a:ext cx="2240280" cy="1097280"/>
            <a:chOff x="1737360" y="1828800"/>
            <a:chExt cx="2240280" cy="1097280"/>
          </a:xfrm>
        </p:grpSpPr>
        <p:sp>
          <p:nvSpPr>
            <p:cNvPr id="9" name="Rounded Rectangle 8"/>
            <p:cNvSpPr/>
            <p:nvPr/>
          </p:nvSpPr>
          <p:spPr>
            <a:xfrm>
              <a:off x="1737360" y="1828800"/>
              <a:ext cx="2240280" cy="1097280"/>
            </a:xfrm>
            <a:prstGeom prst="roundRect">
              <a:avLst>
                <a:gd name="adj" fmla="val 8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0" name="Oval 9"/>
            <p:cNvSpPr/>
            <p:nvPr/>
          </p:nvSpPr>
          <p:spPr>
            <a:xfrm>
              <a:off x="1847088" y="1920240"/>
              <a:ext cx="384048" cy="384048"/>
            </a:xfrm>
            <a:prstGeom prst="ellipse">
              <a:avLst/>
            </a:prstGeom>
            <a:solidFill>
              <a:srgbClr val="5B6B7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400" b="1" i="0">
                  <a:solidFill>
                    <a:srgbClr val="FFFFFF"/>
                  </a:solidFill>
                  <a:latin typeface="Calibri"/>
                </a:rPr>
                <a:t>1</a:t>
              </a:r>
            </a:p>
          </p:txBody>
        </p:sp>
        <p:sp>
          <p:nvSpPr>
            <p:cNvPr id="11" name="TextBox 10"/>
            <p:cNvSpPr txBox="1"/>
            <p:nvPr/>
          </p:nvSpPr>
          <p:spPr>
            <a:xfrm>
              <a:off x="1847088" y="2340864"/>
              <a:ext cx="2011680" cy="548640"/>
            </a:xfrm>
            <a:prstGeom prst="rect">
              <a:avLst/>
            </a:prstGeom>
            <a:noFill/>
          </p:spPr>
          <p:txBody>
            <a:bodyPr wrap="square" lIns="36576" rIns="36576" tIns="36576" bIns="36576" anchor="t">
              <a:noAutofit/>
            </a:bodyPr>
            <a:lstStyle/>
            <a:p>
              <a:pPr algn="l"/>
              <a:r>
                <a:rPr sz="1500" b="1" i="0">
                  <a:solidFill>
                    <a:srgbClr val="5B6B7C"/>
                  </a:solidFill>
                  <a:latin typeface="Calibri"/>
                </a:rPr>
                <a:t>Check collections</a:t>
              </a:r>
            </a:p>
          </p:txBody>
        </p:sp>
      </p:grpSp>
      <p:cxnSp>
        <p:nvCxnSpPr>
          <p:cNvPr id="12" name="Connector 11"/>
          <p:cNvCxnSpPr/>
          <p:nvPr/>
        </p:nvCxnSpPr>
        <p:spPr>
          <a:xfrm>
            <a:off x="4005072" y="2377440"/>
            <a:ext cx="192024" cy="0"/>
          </a:xfrm>
          <a:prstGeom prst="line">
            <a:avLst/>
          </a:prstGeom>
          <a:ln w="19050">
            <a:solidFill>
              <a:srgbClr val="C9D3DE"/>
            </a:solidFill>
            <a:tailEnd type="triangle" w="med" len="med"/>
          </a:ln>
        </p:spPr>
        <p:style>
          <a:lnRef idx="2">
            <a:schemeClr val="accent1"/>
          </a:lnRef>
          <a:fillRef idx="0">
            <a:schemeClr val="accent1"/>
          </a:fillRef>
          <a:effectRef idx="0">
            <a:schemeClr val="accent1"/>
          </a:effectRef>
          <a:fontRef idx="minor">
            <a:schemeClr val="tx1"/>
          </a:fontRef>
        </p:style>
      </p:cxnSp>
      <p:grpSp>
        <p:nvGrpSpPr>
          <p:cNvPr id="13" name="!!step2"/>
          <p:cNvGrpSpPr/>
          <p:nvPr/>
        </p:nvGrpSpPr>
        <p:grpSpPr>
          <a:xfrm>
            <a:off x="4224528" y="1828800"/>
            <a:ext cx="2240280" cy="1097280"/>
            <a:chOff x="4224528" y="1828800"/>
            <a:chExt cx="2240280" cy="1097280"/>
          </a:xfrm>
        </p:grpSpPr>
        <p:sp>
          <p:nvSpPr>
            <p:cNvPr id="14" name="Rounded Rectangle 13"/>
            <p:cNvSpPr/>
            <p:nvPr/>
          </p:nvSpPr>
          <p:spPr>
            <a:xfrm>
              <a:off x="4224528" y="1828800"/>
              <a:ext cx="2240280" cy="1097280"/>
            </a:xfrm>
            <a:prstGeom prst="roundRect">
              <a:avLst>
                <a:gd name="adj" fmla="val 8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5" name="Oval 14"/>
            <p:cNvSpPr/>
            <p:nvPr/>
          </p:nvSpPr>
          <p:spPr>
            <a:xfrm>
              <a:off x="4334256" y="1920240"/>
              <a:ext cx="384048" cy="384048"/>
            </a:xfrm>
            <a:prstGeom prst="ellipse">
              <a:avLst/>
            </a:prstGeom>
            <a:solidFill>
              <a:srgbClr val="5B6B7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400" b="1" i="0">
                  <a:solidFill>
                    <a:srgbClr val="FFFFFF"/>
                  </a:solidFill>
                  <a:latin typeface="Calibri"/>
                </a:rPr>
                <a:t>2</a:t>
              </a:r>
            </a:p>
          </p:txBody>
        </p:sp>
        <p:sp>
          <p:nvSpPr>
            <p:cNvPr id="16" name="TextBox 15"/>
            <p:cNvSpPr txBox="1"/>
            <p:nvPr/>
          </p:nvSpPr>
          <p:spPr>
            <a:xfrm>
              <a:off x="4334256" y="2340864"/>
              <a:ext cx="2011680" cy="548640"/>
            </a:xfrm>
            <a:prstGeom prst="rect">
              <a:avLst/>
            </a:prstGeom>
            <a:noFill/>
          </p:spPr>
          <p:txBody>
            <a:bodyPr wrap="square" lIns="36576" rIns="36576" tIns="36576" bIns="36576" anchor="t">
              <a:noAutofit/>
            </a:bodyPr>
            <a:lstStyle/>
            <a:p>
              <a:pPr algn="l"/>
              <a:r>
                <a:rPr sz="1500" b="1" i="0">
                  <a:solidFill>
                    <a:srgbClr val="5B6B7C"/>
                  </a:solidFill>
                  <a:latin typeface="Calibri"/>
                </a:rPr>
                <a:t>Settle or wait</a:t>
              </a:r>
            </a:p>
          </p:txBody>
        </p:sp>
      </p:grpSp>
      <p:cxnSp>
        <p:nvCxnSpPr>
          <p:cNvPr id="17" name="Connector 16"/>
          <p:cNvCxnSpPr/>
          <p:nvPr/>
        </p:nvCxnSpPr>
        <p:spPr>
          <a:xfrm>
            <a:off x="6492240" y="2377440"/>
            <a:ext cx="192024" cy="0"/>
          </a:xfrm>
          <a:prstGeom prst="line">
            <a:avLst/>
          </a:prstGeom>
          <a:ln w="19050">
            <a:solidFill>
              <a:srgbClr val="C9D3DE"/>
            </a:solidFill>
            <a:tailEnd type="triangle" w="med" len="med"/>
          </a:ln>
        </p:spPr>
        <p:style>
          <a:lnRef idx="2">
            <a:schemeClr val="accent1"/>
          </a:lnRef>
          <a:fillRef idx="0">
            <a:schemeClr val="accent1"/>
          </a:fillRef>
          <a:effectRef idx="0">
            <a:schemeClr val="accent1"/>
          </a:effectRef>
          <a:fontRef idx="minor">
            <a:schemeClr val="tx1"/>
          </a:fontRef>
        </p:style>
      </p:cxnSp>
      <p:grpSp>
        <p:nvGrpSpPr>
          <p:cNvPr id="18" name="!!step3"/>
          <p:cNvGrpSpPr/>
          <p:nvPr/>
        </p:nvGrpSpPr>
        <p:grpSpPr>
          <a:xfrm>
            <a:off x="6711696" y="1828800"/>
            <a:ext cx="2240280" cy="1097280"/>
            <a:chOff x="6711696" y="1828800"/>
            <a:chExt cx="2240280" cy="1097280"/>
          </a:xfrm>
        </p:grpSpPr>
        <p:sp>
          <p:nvSpPr>
            <p:cNvPr id="19" name="Rounded Rectangle 18"/>
            <p:cNvSpPr/>
            <p:nvPr/>
          </p:nvSpPr>
          <p:spPr>
            <a:xfrm>
              <a:off x="6711696" y="1828800"/>
              <a:ext cx="2240280" cy="1097280"/>
            </a:xfrm>
            <a:prstGeom prst="roundRect">
              <a:avLst>
                <a:gd name="adj" fmla="val 8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Oval 19"/>
            <p:cNvSpPr/>
            <p:nvPr/>
          </p:nvSpPr>
          <p:spPr>
            <a:xfrm>
              <a:off x="6821424" y="1920240"/>
              <a:ext cx="384048" cy="384048"/>
            </a:xfrm>
            <a:prstGeom prst="ellipse">
              <a:avLst/>
            </a:prstGeom>
            <a:solidFill>
              <a:srgbClr val="5B6B7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400" b="1" i="0">
                  <a:solidFill>
                    <a:srgbClr val="FFFFFF"/>
                  </a:solidFill>
                  <a:latin typeface="Calibri"/>
                </a:rPr>
                <a:t>3</a:t>
              </a:r>
            </a:p>
          </p:txBody>
        </p:sp>
        <p:sp>
          <p:nvSpPr>
            <p:cNvPr id="21" name="TextBox 20"/>
            <p:cNvSpPr txBox="1"/>
            <p:nvPr/>
          </p:nvSpPr>
          <p:spPr>
            <a:xfrm>
              <a:off x="6821424" y="2340864"/>
              <a:ext cx="2011680" cy="548640"/>
            </a:xfrm>
            <a:prstGeom prst="rect">
              <a:avLst/>
            </a:prstGeom>
            <a:noFill/>
          </p:spPr>
          <p:txBody>
            <a:bodyPr wrap="square" lIns="36576" rIns="36576" tIns="36576" bIns="36576" anchor="t">
              <a:noAutofit/>
            </a:bodyPr>
            <a:lstStyle/>
            <a:p>
              <a:pPr algn="l"/>
              <a:r>
                <a:rPr sz="1500" b="1" i="0">
                  <a:solidFill>
                    <a:srgbClr val="5B6B7C"/>
                  </a:solidFill>
                  <a:latin typeface="Calibri"/>
                </a:rPr>
                <a:t>Transfer, if accounts differ</a:t>
              </a:r>
            </a:p>
          </p:txBody>
        </p:sp>
      </p:grpSp>
      <p:cxnSp>
        <p:nvCxnSpPr>
          <p:cNvPr id="22" name="Connector 21"/>
          <p:cNvCxnSpPr/>
          <p:nvPr/>
        </p:nvCxnSpPr>
        <p:spPr>
          <a:xfrm>
            <a:off x="8979408" y="2377440"/>
            <a:ext cx="192024" cy="0"/>
          </a:xfrm>
          <a:prstGeom prst="line">
            <a:avLst/>
          </a:prstGeom>
          <a:ln w="19050">
            <a:solidFill>
              <a:srgbClr val="C9D3DE"/>
            </a:solidFill>
            <a:tailEnd type="triangle" w="med" len="med"/>
          </a:ln>
        </p:spPr>
        <p:style>
          <a:lnRef idx="2">
            <a:schemeClr val="accent1"/>
          </a:lnRef>
          <a:fillRef idx="0">
            <a:schemeClr val="accent1"/>
          </a:fillRef>
          <a:effectRef idx="0">
            <a:schemeClr val="accent1"/>
          </a:effectRef>
          <a:fontRef idx="minor">
            <a:schemeClr val="tx1"/>
          </a:fontRef>
        </p:style>
      </p:cxnSp>
      <p:grpSp>
        <p:nvGrpSpPr>
          <p:cNvPr id="23" name="!!step4"/>
          <p:cNvGrpSpPr/>
          <p:nvPr/>
        </p:nvGrpSpPr>
        <p:grpSpPr>
          <a:xfrm>
            <a:off x="9198864" y="1828800"/>
            <a:ext cx="2240280" cy="1097280"/>
            <a:chOff x="9198864" y="1828800"/>
            <a:chExt cx="2240280" cy="1097280"/>
          </a:xfrm>
        </p:grpSpPr>
        <p:sp>
          <p:nvSpPr>
            <p:cNvPr id="24" name="Rounded Rectangle 23"/>
            <p:cNvSpPr/>
            <p:nvPr/>
          </p:nvSpPr>
          <p:spPr>
            <a:xfrm>
              <a:off x="9198864" y="1828800"/>
              <a:ext cx="2240280" cy="1097280"/>
            </a:xfrm>
            <a:prstGeom prst="roundRect">
              <a:avLst>
                <a:gd name="adj" fmla="val 8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5" name="Oval 24"/>
            <p:cNvSpPr/>
            <p:nvPr/>
          </p:nvSpPr>
          <p:spPr>
            <a:xfrm>
              <a:off x="9308592" y="1920240"/>
              <a:ext cx="384048" cy="384048"/>
            </a:xfrm>
            <a:prstGeom prst="ellipse">
              <a:avLst/>
            </a:prstGeom>
            <a:solidFill>
              <a:srgbClr val="5B6B7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400" b="1" i="0">
                  <a:solidFill>
                    <a:srgbClr val="FFFFFF"/>
                  </a:solidFill>
                  <a:latin typeface="Calibri"/>
                </a:rPr>
                <a:t>4</a:t>
              </a:r>
            </a:p>
          </p:txBody>
        </p:sp>
        <p:sp>
          <p:nvSpPr>
            <p:cNvPr id="26" name="TextBox 25"/>
            <p:cNvSpPr txBox="1"/>
            <p:nvPr/>
          </p:nvSpPr>
          <p:spPr>
            <a:xfrm>
              <a:off x="9308592" y="2340864"/>
              <a:ext cx="2011680" cy="548640"/>
            </a:xfrm>
            <a:prstGeom prst="rect">
              <a:avLst/>
            </a:prstGeom>
            <a:noFill/>
          </p:spPr>
          <p:txBody>
            <a:bodyPr wrap="square" lIns="36576" rIns="36576" tIns="36576" bIns="36576" anchor="t">
              <a:noAutofit/>
            </a:bodyPr>
            <a:lstStyle/>
            <a:p>
              <a:pPr algn="l"/>
              <a:r>
                <a:rPr sz="1500" b="1" i="0">
                  <a:solidFill>
                    <a:srgbClr val="5B6B7C"/>
                  </a:solidFill>
                  <a:latin typeface="Calibri"/>
                </a:rPr>
                <a:t>Switch app and pay</a:t>
              </a:r>
            </a:p>
          </p:txBody>
        </p:sp>
      </p:grpSp>
      <p:sp>
        <p:nvSpPr>
          <p:cNvPr id="27" name="afterLabel"/>
          <p:cNvSpPr txBox="1"/>
          <p:nvPr/>
        </p:nvSpPr>
        <p:spPr>
          <a:xfrm>
            <a:off x="548640" y="3383280"/>
            <a:ext cx="1097280" cy="1371600"/>
          </a:xfrm>
          <a:prstGeom prst="rect">
            <a:avLst/>
          </a:prstGeom>
          <a:noFill/>
        </p:spPr>
        <p:txBody>
          <a:bodyPr wrap="square" lIns="36576" rIns="36576" tIns="36576" bIns="36576" anchor="ctr">
            <a:noAutofit/>
          </a:bodyPr>
          <a:lstStyle/>
          <a:p>
            <a:pPr algn="l"/>
            <a:r>
              <a:rPr sz="1400" b="1" i="0">
                <a:solidFill>
                  <a:srgbClr val="0077B6"/>
                </a:solidFill>
                <a:latin typeface="Calibri"/>
              </a:rPr>
              <a:t>AFTER</a:t>
            </a:r>
          </a:p>
          <a:p>
            <a:pPr algn="l"/>
            <a:r>
              <a:rPr sz="1200" b="1" i="0">
                <a:solidFill>
                  <a:srgbClr val="1B2733"/>
                </a:solidFill>
                <a:latin typeface="Calibri"/>
              </a:rPr>
              <a:t>1 flow</a:t>
            </a:r>
          </a:p>
          <a:p>
            <a:pPr algn="l"/>
            <a:r>
              <a:rPr sz="1200" b="0" i="0">
                <a:solidFill>
                  <a:srgbClr val="1B2733"/>
                </a:solidFill>
                <a:latin typeface="Calibri"/>
              </a:rPr>
              <a:t>1 app · 1 PIN</a:t>
            </a:r>
          </a:p>
        </p:txBody>
      </p:sp>
      <p:grpSp>
        <p:nvGrpSpPr>
          <p:cNvPr id="28" name="!!flow"/>
          <p:cNvGrpSpPr/>
          <p:nvPr/>
        </p:nvGrpSpPr>
        <p:grpSpPr>
          <a:xfrm>
            <a:off x="1737360" y="3383280"/>
            <a:ext cx="9902952" cy="1371600"/>
            <a:chOff x="1737360" y="3383280"/>
            <a:chExt cx="9902952" cy="1371600"/>
          </a:xfrm>
        </p:grpSpPr>
        <p:sp>
          <p:nvSpPr>
            <p:cNvPr id="29" name="Rounded Rectangle 28"/>
            <p:cNvSpPr/>
            <p:nvPr/>
          </p:nvSpPr>
          <p:spPr>
            <a:xfrm>
              <a:off x="1737360" y="3383280"/>
              <a:ext cx="9902952" cy="1371600"/>
            </a:xfrm>
            <a:prstGeom prst="roundRect">
              <a:avLst>
                <a:gd name="adj" fmla="val 10000"/>
              </a:avLst>
            </a:prstGeom>
            <a:solidFill>
              <a:srgbClr val="EEF5FC"/>
            </a:solidFill>
            <a:ln w="25400">
              <a:solidFill>
                <a:srgbClr val="00BAF2"/>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0" name="Oval 29"/>
            <p:cNvSpPr/>
            <p:nvPr/>
          </p:nvSpPr>
          <p:spPr>
            <a:xfrm>
              <a:off x="1920240" y="3547872"/>
              <a:ext cx="384048" cy="384048"/>
            </a:xfrm>
            <a:prstGeom prst="ellipse">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400" b="1" i="0">
                  <a:solidFill>
                    <a:srgbClr val="002E6E"/>
                  </a:solidFill>
                  <a:latin typeface="Calibri"/>
                </a:rPr>
                <a:t>1</a:t>
              </a:r>
            </a:p>
          </p:txBody>
        </p:sp>
        <p:sp>
          <p:nvSpPr>
            <p:cNvPr id="31" name="TextBox 30"/>
            <p:cNvSpPr txBox="1"/>
            <p:nvPr/>
          </p:nvSpPr>
          <p:spPr>
            <a:xfrm>
              <a:off x="2395728" y="3511296"/>
              <a:ext cx="2514600" cy="1188720"/>
            </a:xfrm>
            <a:prstGeom prst="rect">
              <a:avLst/>
            </a:prstGeom>
            <a:noFill/>
          </p:spPr>
          <p:txBody>
            <a:bodyPr wrap="square" lIns="36576" rIns="36576" tIns="36576" bIns="36576" anchor="t">
              <a:noAutofit/>
            </a:bodyPr>
            <a:lstStyle/>
            <a:p>
              <a:pPr algn="l"/>
              <a:r>
                <a:rPr sz="1500" b="1" i="0">
                  <a:solidFill>
                    <a:srgbClr val="002E6E"/>
                  </a:solidFill>
                  <a:latin typeface="Calibri"/>
                </a:rPr>
                <a:t>Tap 'Pay supplier'</a:t>
              </a:r>
            </a:p>
            <a:p>
              <a:pPr algn="l">
                <a:spcBef>
                  <a:spcPts val="200"/>
                </a:spcBef>
              </a:pPr>
              <a:r>
                <a:rPr sz="1300" b="0" i="0">
                  <a:solidFill>
                    <a:srgbClr val="1B2733"/>
                  </a:solidFill>
                  <a:latin typeface="Calibri"/>
                </a:rPr>
                <a:t>on the collections screen the merchant already has open</a:t>
              </a:r>
            </a:p>
          </p:txBody>
        </p:sp>
        <p:cxnSp>
          <p:nvCxnSpPr>
            <p:cNvPr id="32" name="Connector 31"/>
            <p:cNvCxnSpPr/>
            <p:nvPr/>
          </p:nvCxnSpPr>
          <p:spPr>
            <a:xfrm>
              <a:off x="4937760" y="3739896"/>
              <a:ext cx="182880" cy="0"/>
            </a:xfrm>
            <a:prstGeom prst="line">
              <a:avLst/>
            </a:prstGeom>
            <a:ln w="19050">
              <a:solidFill>
                <a:srgbClr val="0077B6"/>
              </a:solidFill>
              <a:tailEnd type="triangle" w="med" len="med"/>
            </a:ln>
          </p:spPr>
          <p:style>
            <a:lnRef idx="2">
              <a:schemeClr val="accent1"/>
            </a:lnRef>
            <a:fillRef idx="0">
              <a:schemeClr val="accent1"/>
            </a:fillRef>
            <a:effectRef idx="0">
              <a:schemeClr val="accent1"/>
            </a:effectRef>
            <a:fontRef idx="minor">
              <a:schemeClr val="tx1"/>
            </a:fontRef>
          </p:style>
        </p:cxnSp>
        <p:sp>
          <p:nvSpPr>
            <p:cNvPr id="33" name="Oval 32"/>
            <p:cNvSpPr/>
            <p:nvPr/>
          </p:nvSpPr>
          <p:spPr>
            <a:xfrm>
              <a:off x="5166360" y="3547872"/>
              <a:ext cx="384048" cy="384048"/>
            </a:xfrm>
            <a:prstGeom prst="ellipse">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400" b="1" i="0">
                  <a:solidFill>
                    <a:srgbClr val="002E6E"/>
                  </a:solidFill>
                  <a:latin typeface="Calibri"/>
                </a:rPr>
                <a:t>2</a:t>
              </a:r>
            </a:p>
          </p:txBody>
        </p:sp>
        <p:sp>
          <p:nvSpPr>
            <p:cNvPr id="34" name="TextBox 33"/>
            <p:cNvSpPr txBox="1"/>
            <p:nvPr/>
          </p:nvSpPr>
          <p:spPr>
            <a:xfrm>
              <a:off x="5641848" y="3511296"/>
              <a:ext cx="2514600" cy="1188720"/>
            </a:xfrm>
            <a:prstGeom prst="rect">
              <a:avLst/>
            </a:prstGeom>
            <a:noFill/>
          </p:spPr>
          <p:txBody>
            <a:bodyPr wrap="square" lIns="36576" rIns="36576" tIns="36576" bIns="36576" anchor="t">
              <a:noAutofit/>
            </a:bodyPr>
            <a:lstStyle/>
            <a:p>
              <a:pPr algn="l"/>
              <a:r>
                <a:rPr sz="1500" b="1" i="0">
                  <a:solidFill>
                    <a:srgbClr val="002E6E"/>
                  </a:solidFill>
                  <a:latin typeface="Calibri"/>
                </a:rPr>
                <a:t>Pick or scan the supplier</a:t>
              </a:r>
            </a:p>
            <a:p>
              <a:pPr algn="l">
                <a:spcBef>
                  <a:spcPts val="200"/>
                </a:spcBef>
              </a:pPr>
              <a:r>
                <a:rPr sz="1300" b="0" i="0">
                  <a:solidFill>
                    <a:srgbClr val="1B2733"/>
                  </a:solidFill>
                  <a:latin typeface="Calibri"/>
                </a:rPr>
                <a:t>payee name check, then 'Settle &amp; Pay from today's collections · free'</a:t>
              </a:r>
            </a:p>
          </p:txBody>
        </p:sp>
        <p:cxnSp>
          <p:nvCxnSpPr>
            <p:cNvPr id="35" name="Connector 34"/>
            <p:cNvCxnSpPr/>
            <p:nvPr/>
          </p:nvCxnSpPr>
          <p:spPr>
            <a:xfrm>
              <a:off x="8183879" y="3739896"/>
              <a:ext cx="182881" cy="0"/>
            </a:xfrm>
            <a:prstGeom prst="line">
              <a:avLst/>
            </a:prstGeom>
            <a:ln w="19050">
              <a:solidFill>
                <a:srgbClr val="0077B6"/>
              </a:solidFill>
              <a:tailEnd type="triangle" w="med" len="med"/>
            </a:ln>
          </p:spPr>
          <p:style>
            <a:lnRef idx="2">
              <a:schemeClr val="accent1"/>
            </a:lnRef>
            <a:fillRef idx="0">
              <a:schemeClr val="accent1"/>
            </a:fillRef>
            <a:effectRef idx="0">
              <a:schemeClr val="accent1"/>
            </a:effectRef>
            <a:fontRef idx="minor">
              <a:schemeClr val="tx1"/>
            </a:fontRef>
          </p:style>
        </p:cxnSp>
        <p:sp>
          <p:nvSpPr>
            <p:cNvPr id="36" name="Oval 35"/>
            <p:cNvSpPr/>
            <p:nvPr/>
          </p:nvSpPr>
          <p:spPr>
            <a:xfrm>
              <a:off x="8412480" y="3547872"/>
              <a:ext cx="384048" cy="384048"/>
            </a:xfrm>
            <a:prstGeom prst="ellipse">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400" b="1" i="0">
                  <a:solidFill>
                    <a:srgbClr val="002E6E"/>
                  </a:solidFill>
                  <a:latin typeface="Calibri"/>
                </a:rPr>
                <a:t>3</a:t>
              </a:r>
            </a:p>
          </p:txBody>
        </p:sp>
        <p:sp>
          <p:nvSpPr>
            <p:cNvPr id="37" name="TextBox 36"/>
            <p:cNvSpPr txBox="1"/>
            <p:nvPr/>
          </p:nvSpPr>
          <p:spPr>
            <a:xfrm>
              <a:off x="8887967" y="3511296"/>
              <a:ext cx="2514600" cy="1188720"/>
            </a:xfrm>
            <a:prstGeom prst="rect">
              <a:avLst/>
            </a:prstGeom>
            <a:noFill/>
          </p:spPr>
          <p:txBody>
            <a:bodyPr wrap="square" lIns="36576" rIns="36576" tIns="36576" bIns="36576" anchor="t">
              <a:noAutofit/>
            </a:bodyPr>
            <a:lstStyle/>
            <a:p>
              <a:pPr algn="l"/>
              <a:r>
                <a:rPr sz="1500" b="1" i="0">
                  <a:solidFill>
                    <a:srgbClr val="002E6E"/>
                  </a:solidFill>
                  <a:latin typeface="Calibri"/>
                </a:rPr>
                <a:t>Enter one UPI PIN</a:t>
              </a:r>
            </a:p>
            <a:p>
              <a:pPr algn="l">
                <a:spcBef>
                  <a:spcPts val="200"/>
                </a:spcBef>
              </a:pPr>
              <a:r>
                <a:rPr sz="1300" b="0" i="0">
                  <a:solidFill>
                    <a:srgbClr val="1B2733"/>
                  </a:solidFill>
                  <a:latin typeface="Calibri"/>
                </a:rPr>
                <a:t>settlement lands in the merchant's own account, then the supplier is paid</a:t>
              </a:r>
            </a:p>
          </p:txBody>
        </p:sp>
      </p:grpSp>
      <p:grpSp>
        <p:nvGrpSpPr>
          <p:cNvPr id="38" name="metrics"/>
          <p:cNvGrpSpPr/>
          <p:nvPr/>
        </p:nvGrpSpPr>
        <p:grpSpPr>
          <a:xfrm>
            <a:off x="548640" y="5166360"/>
            <a:ext cx="11109959" cy="777240"/>
            <a:chOff x="548640" y="5166360"/>
            <a:chExt cx="11109959" cy="777240"/>
          </a:xfrm>
        </p:grpSpPr>
        <p:sp>
          <p:nvSpPr>
            <p:cNvPr id="39" name="Rounded Rectangle 38"/>
            <p:cNvSpPr/>
            <p:nvPr/>
          </p:nvSpPr>
          <p:spPr>
            <a:xfrm>
              <a:off x="548640" y="5166360"/>
              <a:ext cx="3611880" cy="777240"/>
            </a:xfrm>
            <a:prstGeom prst="roundRect">
              <a:avLst>
                <a:gd name="adj" fmla="val 10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1000" b="1" i="0">
                  <a:solidFill>
                    <a:srgbClr val="5B6B7C"/>
                  </a:solidFill>
                  <a:latin typeface="Calibri"/>
                </a:rPr>
                <a:t>APPS</a:t>
              </a:r>
            </a:p>
            <a:p>
              <a:pPr algn="l"/>
              <a:r>
                <a:rPr sz="1600" b="1" i="0">
                  <a:solidFill>
                    <a:srgbClr val="5B6B7C"/>
                  </a:solidFill>
                  <a:latin typeface="Calibri"/>
                </a:rPr>
                <a:t>2</a:t>
              </a:r>
              <a:r>
                <a:rPr sz="1600" b="0" i="0">
                  <a:solidFill>
                    <a:srgbClr val="5B6B7C"/>
                  </a:solidFill>
                  <a:latin typeface="Calibri"/>
                </a:rPr>
                <a:t>  →  </a:t>
              </a:r>
              <a:r>
                <a:rPr sz="1600" b="1" i="0">
                  <a:solidFill>
                    <a:srgbClr val="002E6E"/>
                  </a:solidFill>
                  <a:latin typeface="Calibri"/>
                </a:rPr>
                <a:t>1</a:t>
              </a:r>
            </a:p>
          </p:txBody>
        </p:sp>
        <p:sp>
          <p:nvSpPr>
            <p:cNvPr id="40" name="Rounded Rectangle 39"/>
            <p:cNvSpPr/>
            <p:nvPr/>
          </p:nvSpPr>
          <p:spPr>
            <a:xfrm>
              <a:off x="4297679" y="5166360"/>
              <a:ext cx="3611880" cy="777240"/>
            </a:xfrm>
            <a:prstGeom prst="roundRect">
              <a:avLst>
                <a:gd name="adj" fmla="val 10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1000" b="1" i="0">
                  <a:solidFill>
                    <a:srgbClr val="5B6B7C"/>
                  </a:solidFill>
                  <a:latin typeface="Calibri"/>
                </a:rPr>
                <a:t>STEPS</a:t>
              </a:r>
            </a:p>
            <a:p>
              <a:pPr algn="l"/>
              <a:r>
                <a:rPr sz="1600" b="1" i="0">
                  <a:solidFill>
                    <a:srgbClr val="5B6B7C"/>
                  </a:solidFill>
                  <a:latin typeface="Calibri"/>
                </a:rPr>
                <a:t>4</a:t>
              </a:r>
              <a:r>
                <a:rPr sz="1600" b="0" i="0">
                  <a:solidFill>
                    <a:srgbClr val="5B6B7C"/>
                  </a:solidFill>
                  <a:latin typeface="Calibri"/>
                </a:rPr>
                <a:t>  →  </a:t>
              </a:r>
              <a:r>
                <a:rPr sz="1600" b="1" i="0">
                  <a:solidFill>
                    <a:srgbClr val="002E6E"/>
                  </a:solidFill>
                  <a:latin typeface="Calibri"/>
                </a:rPr>
                <a:t>1 flow, 3 taps</a:t>
              </a:r>
            </a:p>
          </p:txBody>
        </p:sp>
        <p:sp>
          <p:nvSpPr>
            <p:cNvPr id="41" name="Rounded Rectangle 40"/>
            <p:cNvSpPr/>
            <p:nvPr/>
          </p:nvSpPr>
          <p:spPr>
            <a:xfrm>
              <a:off x="8046719" y="5166360"/>
              <a:ext cx="3611880" cy="777240"/>
            </a:xfrm>
            <a:prstGeom prst="roundRect">
              <a:avLst>
                <a:gd name="adj" fmla="val 10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1000" b="1" i="0">
                  <a:solidFill>
                    <a:srgbClr val="5B6B7C"/>
                  </a:solidFill>
                  <a:latin typeface="Calibri"/>
                </a:rPr>
                <a:t>WAIT FOR SETTLEMENT</a:t>
              </a:r>
            </a:p>
            <a:p>
              <a:pPr algn="l"/>
              <a:r>
                <a:rPr sz="1600" b="1" i="0">
                  <a:solidFill>
                    <a:srgbClr val="5B6B7C"/>
                  </a:solidFill>
                  <a:latin typeface="Calibri"/>
                </a:rPr>
                <a:t>up to T+1</a:t>
              </a:r>
              <a:r>
                <a:rPr sz="1600" b="0" i="0">
                  <a:solidFill>
                    <a:srgbClr val="5B6B7C"/>
                  </a:solidFill>
                  <a:latin typeface="Calibri"/>
                </a:rPr>
                <a:t>  →  </a:t>
              </a:r>
              <a:r>
                <a:rPr sz="1600" b="1" i="0">
                  <a:solidFill>
                    <a:srgbClr val="002E6E"/>
                  </a:solidFill>
                  <a:latin typeface="Calibri"/>
                </a:rPr>
                <a:t>seconds to minutes</a:t>
              </a:r>
            </a:p>
          </p:txBody>
        </p:sp>
        <p:sp>
          <p:nvSpPr>
            <p:cNvPr id="42" name="Rounded Rectangle 41"/>
            <p:cNvSpPr/>
            <p:nvPr/>
          </p:nvSpPr>
          <p:spPr>
            <a:xfrm>
              <a:off x="10561319" y="5230368"/>
              <a:ext cx="741878" cy="173736"/>
            </a:xfrm>
            <a:prstGeom prst="roundRect">
              <a:avLst>
                <a:gd name="adj" fmla="val 50000"/>
              </a:avLst>
            </a:prstGeom>
            <a:solidFill>
              <a:srgbClr val="6B77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800" b="1" i="0">
                  <a:solidFill>
                    <a:srgbClr val="FFFFFF"/>
                  </a:solidFill>
                  <a:latin typeface="Calibri"/>
                </a:rPr>
                <a:t>TO VALIDATE</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grpId="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600"/>
                                        <p:tgtEl>
                                          <p:spTgt spid="28"/>
                                        </p:tgtEl>
                                      </p:cBhvr>
                                    </p:animEffect>
                                  </p:childTnLst>
                                </p:cTn>
                              </p:par>
                            </p:childTnLst>
                          </p:cTn>
                        </p:par>
                        <p:par>
                          <p:cTn id="8" fill="hold">
                            <p:stCondLst>
                              <p:cond delay="600"/>
                            </p:stCondLst>
                            <p:childTnLst>
                              <p:par>
                                <p:cTn id="9" presetID="6" presetClass="emph" presetSubtype="0" grpId="1" fill="hold" nodeType="afterEffect">
                                  <p:stCondLst>
                                    <p:cond delay="0"/>
                                  </p:stCondLst>
                                  <p:childTnLst>
                                    <p:animScale>
                                      <p:cBhvr>
                                        <p:cTn id="10" dur="300" autoRev="1" fill="hold"/>
                                        <p:tgtEl>
                                          <p:spTgt spid="28"/>
                                        </p:tgtEl>
                                      </p:cBhvr>
                                      <p:by x="108000" y="108000"/>
                                    </p:animScale>
                                  </p:childTnLst>
                                </p:cTn>
                              </p:par>
                            </p:childTnLst>
                          </p:cTn>
                        </p:par>
                      </p:childTnLst>
                    </p:cTn>
                  </p:par>
                  <p:par>
                    <p:cTn id="11" fill="hold">
                      <p:stCondLst>
                        <p:cond delay="indefinite"/>
                      </p:stCondLst>
                      <p:childTnLst>
                        <p:par>
                          <p:cTn id="12" fill="hold">
                            <p:stCondLst>
                              <p:cond delay="0"/>
                            </p:stCondLst>
                            <p:childTnLst>
                              <p:par>
                                <p:cTn id="13" presetID="10" presetClass="entr" presetSubtype="0" grpId="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DESIGN · CONCEPT PROTOTYPE</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002E6E"/>
                </a:solidFill>
                <a:latin typeface="Calibri"/>
              </a:rPr>
              <a:t>The merchant never leaves the screen where the money arrives</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Concept prototype drawn for this submission: fictional names, amounts and account numbers; not Paytm's live interface. Payee name check, QR scan and notifications reuse existing Paytm capabilities.</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8</a:t>
            </a:r>
          </a:p>
        </p:txBody>
      </p:sp>
      <p:grpSp>
        <p:nvGrpSpPr>
          <p:cNvPr id="7" name="!!flow"/>
          <p:cNvGrpSpPr/>
          <p:nvPr/>
        </p:nvGrpSpPr>
        <p:grpSpPr>
          <a:xfrm>
            <a:off x="548640" y="1572768"/>
            <a:ext cx="8595360" cy="329184"/>
            <a:chOff x="548640" y="1572768"/>
            <a:chExt cx="8595360" cy="329184"/>
          </a:xfrm>
        </p:grpSpPr>
        <p:sp>
          <p:nvSpPr>
            <p:cNvPr id="8" name="Rounded Rectangle 7"/>
            <p:cNvSpPr/>
            <p:nvPr/>
          </p:nvSpPr>
          <p:spPr>
            <a:xfrm>
              <a:off x="548640" y="1572768"/>
              <a:ext cx="8595360" cy="329184"/>
            </a:xfrm>
            <a:prstGeom prst="roundRect">
              <a:avLst>
                <a:gd name="adj" fmla="val 30000"/>
              </a:avLst>
            </a:prstGeom>
            <a:solidFill>
              <a:srgbClr val="EEF5FC"/>
            </a:solidFill>
            <a:ln w="15875">
              <a:solidFill>
                <a:srgbClr val="00BAF2"/>
              </a:solid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109728" bIns="109728">
              <a:noAutofit/>
            </a:bodyPr>
            <a:lstStyle/>
            <a:p>
              <a:pPr algn="l"/>
              <a:r>
                <a:rPr sz="1200" b="1" i="0">
                  <a:solidFill>
                    <a:srgbClr val="002E6E"/>
                  </a:solidFill>
                  <a:latin typeface="Calibri"/>
                </a:rPr>
                <a:t>One flow, three screens:  </a:t>
              </a:r>
              <a:r>
                <a:rPr sz="1200" b="0" i="0">
                  <a:solidFill>
                    <a:srgbClr val="1B2733"/>
                  </a:solidFill>
                  <a:latin typeface="Calibri"/>
                </a:rPr>
                <a:t>collections  →  funding choice  →  confirmation, plus a next-morning prompt</a:t>
              </a:r>
            </a:p>
          </p:txBody>
        </p:sp>
      </p:grpSp>
      <p:sp>
        <p:nvSpPr>
          <p:cNvPr id="9" name="Rounded Rectangle 8"/>
          <p:cNvSpPr/>
          <p:nvPr/>
        </p:nvSpPr>
        <p:spPr>
          <a:xfrm>
            <a:off x="9326880" y="1636776"/>
            <a:ext cx="1232350" cy="201168"/>
          </a:xfrm>
          <a:prstGeom prst="roundRect">
            <a:avLst>
              <a:gd name="adj" fmla="val 50000"/>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CONCEPT PROTOTYPE</a:t>
            </a:r>
          </a:p>
        </p:txBody>
      </p:sp>
      <p:grpSp>
        <p:nvGrpSpPr>
          <p:cNvPr id="10" name="screen1"/>
          <p:cNvGrpSpPr/>
          <p:nvPr/>
        </p:nvGrpSpPr>
        <p:grpSpPr>
          <a:xfrm>
            <a:off x="640080" y="2057400"/>
            <a:ext cx="2514600" cy="3611880"/>
            <a:chOff x="640080" y="2057400"/>
            <a:chExt cx="2514600" cy="3611880"/>
          </a:xfrm>
        </p:grpSpPr>
        <p:sp>
          <p:nvSpPr>
            <p:cNvPr id="11" name="s1_body"/>
            <p:cNvSpPr/>
            <p:nvPr/>
          </p:nvSpPr>
          <p:spPr>
            <a:xfrm>
              <a:off x="640080" y="2057400"/>
              <a:ext cx="2514600" cy="3611880"/>
            </a:xfrm>
            <a:prstGeom prst="roundRect">
              <a:avLst>
                <a:gd name="adj" fmla="val 9000"/>
              </a:avLst>
            </a:prstGeom>
            <a:solidFill>
              <a:srgbClr val="1A223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2" name="s1_screen"/>
            <p:cNvSpPr/>
            <p:nvPr/>
          </p:nvSpPr>
          <p:spPr>
            <a:xfrm>
              <a:off x="722375" y="2238451"/>
              <a:ext cx="2350008" cy="3266236"/>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3" name="s1_speaker"/>
            <p:cNvSpPr/>
            <p:nvPr/>
          </p:nvSpPr>
          <p:spPr>
            <a:xfrm>
              <a:off x="1668780" y="2121408"/>
              <a:ext cx="457200" cy="54864"/>
            </a:xfrm>
            <a:prstGeom prst="roundRect">
              <a:avLst>
                <a:gd name="adj" fmla="val 50000"/>
              </a:avLst>
            </a:prstGeom>
            <a:solidFill>
              <a:srgbClr val="3A45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14" name="s1_header"/>
            <p:cNvSpPr/>
            <p:nvPr/>
          </p:nvSpPr>
          <p:spPr>
            <a:xfrm>
              <a:off x="722375" y="2238451"/>
              <a:ext cx="2350008" cy="384048"/>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100" b="1" i="0">
                  <a:solidFill>
                    <a:srgbClr val="FFFFFF"/>
                  </a:solidFill>
                  <a:latin typeface="Calibri"/>
                </a:rPr>
                <a:t>Paytm for Business</a:t>
              </a:r>
            </a:p>
          </p:txBody>
        </p:sp>
        <p:sp>
          <p:nvSpPr>
            <p:cNvPr id="15" name="TextBox 14"/>
            <p:cNvSpPr txBox="1"/>
            <p:nvPr/>
          </p:nvSpPr>
          <p:spPr>
            <a:xfrm>
              <a:off x="832103" y="2713939"/>
              <a:ext cx="2130552" cy="228600"/>
            </a:xfrm>
            <a:prstGeom prst="rect">
              <a:avLst/>
            </a:prstGeom>
            <a:noFill/>
          </p:spPr>
          <p:txBody>
            <a:bodyPr wrap="square" lIns="36576" rIns="36576" tIns="36576" bIns="36576" anchor="t">
              <a:noAutofit/>
            </a:bodyPr>
            <a:lstStyle/>
            <a:p>
              <a:pPr algn="l"/>
              <a:r>
                <a:rPr sz="1000" b="0" i="0">
                  <a:solidFill>
                    <a:srgbClr val="5B6B7C"/>
                  </a:solidFill>
                  <a:latin typeface="Calibri"/>
                </a:rPr>
                <a:t>Today's collections</a:t>
              </a:r>
            </a:p>
          </p:txBody>
        </p:sp>
        <p:sp>
          <p:nvSpPr>
            <p:cNvPr id="16" name="TextBox 15"/>
            <p:cNvSpPr txBox="1"/>
            <p:nvPr/>
          </p:nvSpPr>
          <p:spPr>
            <a:xfrm>
              <a:off x="832103" y="2915107"/>
              <a:ext cx="2130552" cy="411480"/>
            </a:xfrm>
            <a:prstGeom prst="rect">
              <a:avLst/>
            </a:prstGeom>
            <a:noFill/>
          </p:spPr>
          <p:txBody>
            <a:bodyPr wrap="square" lIns="36576" rIns="36576" tIns="36576" bIns="36576" anchor="t">
              <a:noAutofit/>
            </a:bodyPr>
            <a:lstStyle/>
            <a:p>
              <a:pPr algn="l"/>
              <a:r>
                <a:rPr sz="2200" b="1" i="0">
                  <a:solidFill>
                    <a:srgbClr val="002E6E"/>
                  </a:solidFill>
                  <a:latin typeface="Calibri"/>
                </a:rPr>
                <a:t>₹12,400</a:t>
              </a:r>
            </a:p>
          </p:txBody>
        </p:sp>
        <p:sp>
          <p:nvSpPr>
            <p:cNvPr id="17" name="TextBox 16"/>
            <p:cNvSpPr txBox="1"/>
            <p:nvPr/>
          </p:nvSpPr>
          <p:spPr>
            <a:xfrm>
              <a:off x="832103" y="3427171"/>
              <a:ext cx="2130552" cy="292608"/>
            </a:xfrm>
            <a:prstGeom prst="rect">
              <a:avLst/>
            </a:prstGeom>
            <a:noFill/>
          </p:spPr>
          <p:txBody>
            <a:bodyPr wrap="square" lIns="36576" rIns="36576" tIns="36576" bIns="36576" anchor="t">
              <a:noAutofit/>
            </a:bodyPr>
            <a:lstStyle/>
            <a:p>
              <a:pPr algn="l"/>
              <a:r>
                <a:rPr sz="1100" b="1" i="0">
                  <a:solidFill>
                    <a:srgbClr val="1B2733"/>
                  </a:solidFill>
                  <a:latin typeface="Calibri"/>
                </a:rPr>
                <a:t>+₹1,200  </a:t>
              </a:r>
              <a:r>
                <a:rPr sz="1100" b="0" i="0">
                  <a:solidFill>
                    <a:srgbClr val="5B6B7C"/>
                  </a:solidFill>
                  <a:latin typeface="Calibri"/>
                </a:rPr>
                <a:t>Anita S.</a:t>
              </a:r>
            </a:p>
          </p:txBody>
        </p:sp>
        <p:sp>
          <p:nvSpPr>
            <p:cNvPr id="18" name="TextBox 17"/>
            <p:cNvSpPr txBox="1"/>
            <p:nvPr/>
          </p:nvSpPr>
          <p:spPr>
            <a:xfrm>
              <a:off x="832103" y="3756355"/>
              <a:ext cx="2130552" cy="292608"/>
            </a:xfrm>
            <a:prstGeom prst="rect">
              <a:avLst/>
            </a:prstGeom>
            <a:noFill/>
          </p:spPr>
          <p:txBody>
            <a:bodyPr wrap="square" lIns="36576" rIns="36576" tIns="36576" bIns="36576" anchor="t">
              <a:noAutofit/>
            </a:bodyPr>
            <a:lstStyle/>
            <a:p>
              <a:pPr algn="l"/>
              <a:r>
                <a:rPr sz="1100" b="1" i="0">
                  <a:solidFill>
                    <a:srgbClr val="1B2733"/>
                  </a:solidFill>
                  <a:latin typeface="Calibri"/>
                </a:rPr>
                <a:t>+₹350  </a:t>
              </a:r>
              <a:r>
                <a:rPr sz="1100" b="0" i="0">
                  <a:solidFill>
                    <a:srgbClr val="5B6B7C"/>
                  </a:solidFill>
                  <a:latin typeface="Calibri"/>
                </a:rPr>
                <a:t>Ravi K.</a:t>
              </a:r>
            </a:p>
          </p:txBody>
        </p:sp>
        <p:sp>
          <p:nvSpPr>
            <p:cNvPr id="19" name="TextBox 18"/>
            <p:cNvSpPr txBox="1"/>
            <p:nvPr/>
          </p:nvSpPr>
          <p:spPr>
            <a:xfrm>
              <a:off x="832103" y="4085539"/>
              <a:ext cx="2130552" cy="292608"/>
            </a:xfrm>
            <a:prstGeom prst="rect">
              <a:avLst/>
            </a:prstGeom>
            <a:noFill/>
          </p:spPr>
          <p:txBody>
            <a:bodyPr wrap="square" lIns="36576" rIns="36576" tIns="36576" bIns="36576" anchor="t">
              <a:noAutofit/>
            </a:bodyPr>
            <a:lstStyle/>
            <a:p>
              <a:pPr algn="l"/>
              <a:r>
                <a:rPr sz="1100" b="1" i="0">
                  <a:solidFill>
                    <a:srgbClr val="1B2733"/>
                  </a:solidFill>
                  <a:latin typeface="Calibri"/>
                </a:rPr>
                <a:t>+₹2,150  </a:t>
              </a:r>
              <a:r>
                <a:rPr sz="1100" b="0" i="0">
                  <a:solidFill>
                    <a:srgbClr val="5B6B7C"/>
                  </a:solidFill>
                  <a:latin typeface="Calibri"/>
                </a:rPr>
                <a:t>UPI</a:t>
              </a:r>
            </a:p>
          </p:txBody>
        </p:sp>
        <p:sp>
          <p:nvSpPr>
            <p:cNvPr id="20" name="Rounded Rectangle 19"/>
            <p:cNvSpPr/>
            <p:nvPr/>
          </p:nvSpPr>
          <p:spPr>
            <a:xfrm>
              <a:off x="832103" y="4497019"/>
              <a:ext cx="2130552" cy="411480"/>
            </a:xfrm>
            <a:prstGeom prst="roundRect">
              <a:avLst>
                <a:gd name="adj" fmla="val 30000"/>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300" b="1" i="0">
                  <a:solidFill>
                    <a:srgbClr val="002E6E"/>
                  </a:solidFill>
                  <a:latin typeface="Calibri"/>
                </a:rPr>
                <a:t>Pay supplier</a:t>
              </a:r>
            </a:p>
          </p:txBody>
        </p:sp>
        <p:sp>
          <p:nvSpPr>
            <p:cNvPr id="21" name="TextBox 20"/>
            <p:cNvSpPr txBox="1"/>
            <p:nvPr/>
          </p:nvSpPr>
          <p:spPr>
            <a:xfrm>
              <a:off x="832103" y="4981651"/>
              <a:ext cx="2130552" cy="365760"/>
            </a:xfrm>
            <a:prstGeom prst="rect">
              <a:avLst/>
            </a:prstGeom>
            <a:noFill/>
          </p:spPr>
          <p:txBody>
            <a:bodyPr wrap="square" lIns="36576" rIns="36576" tIns="36576" bIns="36576" anchor="t">
              <a:noAutofit/>
            </a:bodyPr>
            <a:lstStyle/>
            <a:p>
              <a:pPr algn="ctr"/>
              <a:r>
                <a:rPr sz="900" b="0" i="0">
                  <a:solidFill>
                    <a:srgbClr val="5B6B7C"/>
                  </a:solidFill>
                  <a:latin typeface="Calibri"/>
                </a:rPr>
                <a:t>Settlement: next working day</a:t>
              </a:r>
            </a:p>
          </p:txBody>
        </p:sp>
      </p:grpSp>
      <p:grpSp>
        <p:nvGrpSpPr>
          <p:cNvPr id="22" name="screen2"/>
          <p:cNvGrpSpPr/>
          <p:nvPr/>
        </p:nvGrpSpPr>
        <p:grpSpPr>
          <a:xfrm>
            <a:off x="3611880" y="2057400"/>
            <a:ext cx="2514600" cy="3611880"/>
            <a:chOff x="3611880" y="2057400"/>
            <a:chExt cx="2514600" cy="3611880"/>
          </a:xfrm>
        </p:grpSpPr>
        <p:sp>
          <p:nvSpPr>
            <p:cNvPr id="23" name="s2_body"/>
            <p:cNvSpPr/>
            <p:nvPr/>
          </p:nvSpPr>
          <p:spPr>
            <a:xfrm>
              <a:off x="3611880" y="2057400"/>
              <a:ext cx="2514600" cy="3611880"/>
            </a:xfrm>
            <a:prstGeom prst="roundRect">
              <a:avLst>
                <a:gd name="adj" fmla="val 9000"/>
              </a:avLst>
            </a:prstGeom>
            <a:solidFill>
              <a:srgbClr val="1A223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s2_screen"/>
            <p:cNvSpPr/>
            <p:nvPr/>
          </p:nvSpPr>
          <p:spPr>
            <a:xfrm>
              <a:off x="3694176" y="2238451"/>
              <a:ext cx="2350008" cy="3266236"/>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5" name="s2_speaker"/>
            <p:cNvSpPr/>
            <p:nvPr/>
          </p:nvSpPr>
          <p:spPr>
            <a:xfrm>
              <a:off x="4640580" y="2121408"/>
              <a:ext cx="457200" cy="54864"/>
            </a:xfrm>
            <a:prstGeom prst="roundRect">
              <a:avLst>
                <a:gd name="adj" fmla="val 50000"/>
              </a:avLst>
            </a:prstGeom>
            <a:solidFill>
              <a:srgbClr val="3A45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s2_header"/>
            <p:cNvSpPr/>
            <p:nvPr/>
          </p:nvSpPr>
          <p:spPr>
            <a:xfrm>
              <a:off x="3694176" y="2238451"/>
              <a:ext cx="2350008" cy="384048"/>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100" b="1" i="0">
                  <a:solidFill>
                    <a:srgbClr val="FFFFFF"/>
                  </a:solidFill>
                  <a:latin typeface="Calibri"/>
                </a:rPr>
                <a:t>Pay supplier</a:t>
              </a:r>
            </a:p>
          </p:txBody>
        </p:sp>
        <p:sp>
          <p:nvSpPr>
            <p:cNvPr id="27" name="TextBox 26"/>
            <p:cNvSpPr txBox="1"/>
            <p:nvPr/>
          </p:nvSpPr>
          <p:spPr>
            <a:xfrm>
              <a:off x="3803904" y="2713939"/>
              <a:ext cx="2130552" cy="274320"/>
            </a:xfrm>
            <a:prstGeom prst="rect">
              <a:avLst/>
            </a:prstGeom>
            <a:noFill/>
          </p:spPr>
          <p:txBody>
            <a:bodyPr wrap="square" lIns="36576" rIns="36576" tIns="36576" bIns="36576" anchor="t">
              <a:noAutofit/>
            </a:bodyPr>
            <a:lstStyle/>
            <a:p>
              <a:pPr algn="l"/>
              <a:r>
                <a:rPr sz="1300" b="1" i="0">
                  <a:solidFill>
                    <a:srgbClr val="1B2733"/>
                  </a:solidFill>
                  <a:latin typeface="Calibri"/>
                </a:rPr>
                <a:t>Sharma Traders</a:t>
              </a:r>
            </a:p>
          </p:txBody>
        </p:sp>
        <p:sp>
          <p:nvSpPr>
            <p:cNvPr id="28" name="TextBox 27"/>
            <p:cNvSpPr txBox="1"/>
            <p:nvPr/>
          </p:nvSpPr>
          <p:spPr>
            <a:xfrm>
              <a:off x="3803904" y="2969971"/>
              <a:ext cx="2130552" cy="228600"/>
            </a:xfrm>
            <a:prstGeom prst="rect">
              <a:avLst/>
            </a:prstGeom>
            <a:noFill/>
          </p:spPr>
          <p:txBody>
            <a:bodyPr wrap="square" lIns="36576" rIns="36576" tIns="36576" bIns="36576" anchor="t">
              <a:noAutofit/>
            </a:bodyPr>
            <a:lstStyle/>
            <a:p>
              <a:pPr algn="l"/>
              <a:r>
                <a:rPr sz="900" b="1" i="0">
                  <a:solidFill>
                    <a:srgbClr val="1E8E3E"/>
                  </a:solidFill>
                  <a:latin typeface="Calibri"/>
                </a:rPr>
                <a:t>✓ Name verified: SHARMA TRADERS</a:t>
              </a:r>
            </a:p>
          </p:txBody>
        </p:sp>
        <p:sp>
          <p:nvSpPr>
            <p:cNvPr id="29" name="TextBox 28"/>
            <p:cNvSpPr txBox="1"/>
            <p:nvPr/>
          </p:nvSpPr>
          <p:spPr>
            <a:xfrm>
              <a:off x="3803904" y="3189427"/>
              <a:ext cx="2130552" cy="384048"/>
            </a:xfrm>
            <a:prstGeom prst="rect">
              <a:avLst/>
            </a:prstGeom>
            <a:noFill/>
          </p:spPr>
          <p:txBody>
            <a:bodyPr wrap="square" lIns="36576" rIns="36576" tIns="36576" bIns="36576" anchor="t">
              <a:noAutofit/>
            </a:bodyPr>
            <a:lstStyle/>
            <a:p>
              <a:pPr algn="l"/>
              <a:r>
                <a:rPr sz="2000" b="1" i="0">
                  <a:solidFill>
                    <a:srgbClr val="1B2733"/>
                  </a:solidFill>
                  <a:latin typeface="Calibri"/>
                </a:rPr>
                <a:t>₹6,800</a:t>
              </a:r>
            </a:p>
          </p:txBody>
        </p:sp>
        <p:sp>
          <p:nvSpPr>
            <p:cNvPr id="30" name="Rounded Rectangle 29"/>
            <p:cNvSpPr/>
            <p:nvPr/>
          </p:nvSpPr>
          <p:spPr>
            <a:xfrm>
              <a:off x="3803904" y="3628339"/>
              <a:ext cx="2130552" cy="777240"/>
            </a:xfrm>
            <a:prstGeom prst="roundRect">
              <a:avLst>
                <a:gd name="adj" fmla="val 8000"/>
              </a:avLst>
            </a:prstGeom>
            <a:solidFill>
              <a:srgbClr val="EEF5FC"/>
            </a:solidFill>
            <a:ln w="22225">
              <a:solidFill>
                <a:srgbClr val="00BAF2"/>
              </a:solidFill>
            </a:ln>
            <a:effectLst/>
          </p:spPr>
          <p:style>
            <a:lnRef idx="1">
              <a:schemeClr val="accent1"/>
            </a:lnRef>
            <a:fillRef idx="3">
              <a:schemeClr val="accent1"/>
            </a:fillRef>
            <a:effectRef idx="0">
              <a:schemeClr val="accent1"/>
            </a:effectRef>
            <a:fontRef idx="minor">
              <a:schemeClr val="lt1"/>
            </a:fontRef>
          </p:style>
          <p:txBody>
            <a:bodyPr rtlCol="0" anchor="t" wrap="square" lIns="64008" rIns="64008" tIns="64008" bIns="64008">
              <a:noAutofit/>
            </a:bodyPr>
            <a:lstStyle/>
            <a:p>
              <a:pPr algn="l"/>
              <a:r>
                <a:rPr sz="1000" b="1" i="0">
                  <a:solidFill>
                    <a:srgbClr val="002E6E"/>
                  </a:solidFill>
                  <a:latin typeface="Calibri"/>
                </a:rPr>
                <a:t>Settle &amp; Pay from today's collections</a:t>
              </a:r>
            </a:p>
            <a:p>
              <a:pPr algn="l"/>
              <a:r>
                <a:rPr sz="1000" b="0" i="0">
                  <a:solidFill>
                    <a:srgbClr val="1B2733"/>
                  </a:solidFill>
                  <a:latin typeface="Calibri"/>
                </a:rPr>
                <a:t>₹12,400 available · free</a:t>
              </a:r>
            </a:p>
            <a:p>
              <a:pPr algn="l"/>
              <a:r>
                <a:rPr sz="900" b="0" i="0">
                  <a:solidFill>
                    <a:srgbClr val="5B6B7C"/>
                  </a:solidFill>
                  <a:latin typeface="Calibri"/>
                </a:rPr>
                <a:t>Into current a/c ••4821</a:t>
              </a:r>
            </a:p>
          </p:txBody>
        </p:sp>
        <p:sp>
          <p:nvSpPr>
            <p:cNvPr id="31" name="Rounded Rectangle 30"/>
            <p:cNvSpPr/>
            <p:nvPr/>
          </p:nvSpPr>
          <p:spPr>
            <a:xfrm>
              <a:off x="3803904" y="4478731"/>
              <a:ext cx="2130552" cy="292608"/>
            </a:xfrm>
            <a:prstGeom prst="roundRect">
              <a:avLst>
                <a:gd name="adj" fmla="val 8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008" rIns="64008" tIns="64008" bIns="64008">
              <a:noAutofit/>
            </a:bodyPr>
            <a:lstStyle/>
            <a:p>
              <a:pPr algn="l"/>
              <a:r>
                <a:rPr sz="1000" b="0" i="0">
                  <a:solidFill>
                    <a:srgbClr val="5B6B7C"/>
                  </a:solidFill>
                  <a:latin typeface="Calibri"/>
                </a:rPr>
                <a:t>Pay from bank balance</a:t>
              </a:r>
            </a:p>
          </p:txBody>
        </p:sp>
        <p:sp>
          <p:nvSpPr>
            <p:cNvPr id="32" name="Rounded Rectangle 31"/>
            <p:cNvSpPr/>
            <p:nvPr/>
          </p:nvSpPr>
          <p:spPr>
            <a:xfrm>
              <a:off x="3803904" y="4862779"/>
              <a:ext cx="2130552" cy="411480"/>
            </a:xfrm>
            <a:prstGeom prst="roundRect">
              <a:avLst>
                <a:gd name="adj" fmla="val 30000"/>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200" b="1" i="0">
                  <a:solidFill>
                    <a:srgbClr val="FFFFFF"/>
                  </a:solidFill>
                  <a:latin typeface="Calibri"/>
                </a:rPr>
                <a:t>Pay with UPI PIN</a:t>
              </a:r>
            </a:p>
          </p:txBody>
        </p:sp>
      </p:grpSp>
      <p:grpSp>
        <p:nvGrpSpPr>
          <p:cNvPr id="33" name="screen3"/>
          <p:cNvGrpSpPr/>
          <p:nvPr/>
        </p:nvGrpSpPr>
        <p:grpSpPr>
          <a:xfrm>
            <a:off x="6583680" y="2057400"/>
            <a:ext cx="2514600" cy="3611880"/>
            <a:chOff x="6583680" y="2057400"/>
            <a:chExt cx="2514600" cy="3611880"/>
          </a:xfrm>
        </p:grpSpPr>
        <p:sp>
          <p:nvSpPr>
            <p:cNvPr id="34" name="s3_body"/>
            <p:cNvSpPr/>
            <p:nvPr/>
          </p:nvSpPr>
          <p:spPr>
            <a:xfrm>
              <a:off x="6583680" y="2057400"/>
              <a:ext cx="2514600" cy="3611880"/>
            </a:xfrm>
            <a:prstGeom prst="roundRect">
              <a:avLst>
                <a:gd name="adj" fmla="val 9000"/>
              </a:avLst>
            </a:prstGeom>
            <a:solidFill>
              <a:srgbClr val="1A223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5" name="s3_screen"/>
            <p:cNvSpPr/>
            <p:nvPr/>
          </p:nvSpPr>
          <p:spPr>
            <a:xfrm>
              <a:off x="6665976" y="2238451"/>
              <a:ext cx="2350008" cy="3266236"/>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6" name="s3_speaker"/>
            <p:cNvSpPr/>
            <p:nvPr/>
          </p:nvSpPr>
          <p:spPr>
            <a:xfrm>
              <a:off x="7612379" y="2121408"/>
              <a:ext cx="457200" cy="54864"/>
            </a:xfrm>
            <a:prstGeom prst="roundRect">
              <a:avLst>
                <a:gd name="adj" fmla="val 50000"/>
              </a:avLst>
            </a:prstGeom>
            <a:solidFill>
              <a:srgbClr val="3A45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7" name="s3_header"/>
            <p:cNvSpPr/>
            <p:nvPr/>
          </p:nvSpPr>
          <p:spPr>
            <a:xfrm>
              <a:off x="6665976" y="2238451"/>
              <a:ext cx="2350008" cy="384048"/>
            </a:xfrm>
            <a:prstGeom prst="rect">
              <a:avLst/>
            </a:prstGeom>
            <a:solidFill>
              <a:srgbClr val="1E8E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100" b="1" i="0">
                  <a:solidFill>
                    <a:srgbClr val="FFFFFF"/>
                  </a:solidFill>
                  <a:latin typeface="Calibri"/>
                </a:rPr>
                <a:t>Payment successful</a:t>
              </a:r>
            </a:p>
          </p:txBody>
        </p:sp>
        <p:sp>
          <p:nvSpPr>
            <p:cNvPr id="38" name="Oval 37"/>
            <p:cNvSpPr/>
            <p:nvPr/>
          </p:nvSpPr>
          <p:spPr>
            <a:xfrm>
              <a:off x="7594092" y="2732227"/>
              <a:ext cx="493776" cy="493776"/>
            </a:xfrm>
            <a:prstGeom prst="ellipse">
              <a:avLst/>
            </a:prstGeom>
            <a:solidFill>
              <a:srgbClr val="1E8E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800" b="1" i="0">
                  <a:solidFill>
                    <a:srgbClr val="FFFFFF"/>
                  </a:solidFill>
                  <a:latin typeface="Calibri"/>
                </a:rPr>
                <a:t>✓</a:t>
              </a:r>
            </a:p>
          </p:txBody>
        </p:sp>
        <p:sp>
          <p:nvSpPr>
            <p:cNvPr id="39" name="TextBox 38"/>
            <p:cNvSpPr txBox="1"/>
            <p:nvPr/>
          </p:nvSpPr>
          <p:spPr>
            <a:xfrm>
              <a:off x="6775704" y="3280867"/>
              <a:ext cx="2130552" cy="457200"/>
            </a:xfrm>
            <a:prstGeom prst="rect">
              <a:avLst/>
            </a:prstGeom>
            <a:noFill/>
          </p:spPr>
          <p:txBody>
            <a:bodyPr wrap="square" lIns="36576" rIns="36576" tIns="36576" bIns="36576" anchor="t">
              <a:noAutofit/>
            </a:bodyPr>
            <a:lstStyle/>
            <a:p>
              <a:pPr algn="ctr"/>
              <a:r>
                <a:rPr sz="1200" b="1" i="0">
                  <a:solidFill>
                    <a:srgbClr val="1B2733"/>
                  </a:solidFill>
                  <a:latin typeface="Calibri"/>
                </a:rPr>
                <a:t>₹6,800 paid to</a:t>
              </a:r>
            </a:p>
            <a:p>
              <a:pPr algn="ctr"/>
              <a:r>
                <a:rPr sz="1200" b="1" i="0">
                  <a:solidFill>
                    <a:srgbClr val="1B2733"/>
                  </a:solidFill>
                  <a:latin typeface="Calibri"/>
                </a:rPr>
                <a:t>Sharma Traders</a:t>
              </a:r>
            </a:p>
          </p:txBody>
        </p:sp>
        <p:sp>
          <p:nvSpPr>
            <p:cNvPr id="40" name="TextBox 39"/>
            <p:cNvSpPr txBox="1"/>
            <p:nvPr/>
          </p:nvSpPr>
          <p:spPr>
            <a:xfrm>
              <a:off x="6775704" y="3738067"/>
              <a:ext cx="2130552" cy="228600"/>
            </a:xfrm>
            <a:prstGeom prst="rect">
              <a:avLst/>
            </a:prstGeom>
            <a:noFill/>
          </p:spPr>
          <p:txBody>
            <a:bodyPr wrap="square" lIns="36576" rIns="36576" tIns="36576" bIns="36576" anchor="t">
              <a:noAutofit/>
            </a:bodyPr>
            <a:lstStyle/>
            <a:p>
              <a:pPr algn="ctr"/>
              <a:r>
                <a:rPr sz="900" b="0" i="0">
                  <a:solidFill>
                    <a:srgbClr val="5B6B7C"/>
                  </a:solidFill>
                  <a:latin typeface="Calibri"/>
                </a:rPr>
                <a:t>UPI ref 6281 4402 1193</a:t>
              </a:r>
            </a:p>
          </p:txBody>
        </p:sp>
        <p:sp>
          <p:nvSpPr>
            <p:cNvPr id="41" name="Rounded Rectangle 40"/>
            <p:cNvSpPr/>
            <p:nvPr/>
          </p:nvSpPr>
          <p:spPr>
            <a:xfrm>
              <a:off x="6775704" y="4012387"/>
              <a:ext cx="2130552" cy="777240"/>
            </a:xfrm>
            <a:prstGeom prst="roundRect">
              <a:avLst>
                <a:gd name="adj" fmla="val 8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64008" rIns="64008" tIns="64008" bIns="64008">
              <a:noAutofit/>
            </a:bodyPr>
            <a:lstStyle/>
            <a:p>
              <a:pPr algn="l"/>
              <a:r>
                <a:rPr sz="1000" b="1" i="0">
                  <a:solidFill>
                    <a:srgbClr val="002E6E"/>
                  </a:solidFill>
                  <a:latin typeface="Calibri"/>
                </a:rPr>
                <a:t>Today</a:t>
              </a:r>
            </a:p>
            <a:p>
              <a:pPr algn="l"/>
              <a:r>
                <a:rPr sz="1000" b="0" i="0">
                  <a:solidFill>
                    <a:srgbClr val="1B2733"/>
                  </a:solidFill>
                  <a:latin typeface="Calibri"/>
                </a:rPr>
                <a:t>₹38,900 collected</a:t>
              </a:r>
            </a:p>
            <a:p>
              <a:pPr algn="l"/>
              <a:r>
                <a:rPr sz="1000" b="1" i="0">
                  <a:solidFill>
                    <a:srgbClr val="0077B6"/>
                  </a:solidFill>
                  <a:latin typeface="Calibri"/>
                </a:rPr>
                <a:t>₹6,800 paid to suppliers</a:t>
              </a:r>
            </a:p>
            <a:p>
              <a:pPr algn="l"/>
              <a:r>
                <a:rPr sz="1000" b="0" i="0">
                  <a:solidFill>
                    <a:srgbClr val="1B2733"/>
                  </a:solidFill>
                  <a:latin typeface="Calibri"/>
                </a:rPr>
                <a:t>₹32,100 to settle</a:t>
              </a:r>
            </a:p>
          </p:txBody>
        </p:sp>
        <p:sp>
          <p:nvSpPr>
            <p:cNvPr id="42" name="Rounded Rectangle 41"/>
            <p:cNvSpPr/>
            <p:nvPr/>
          </p:nvSpPr>
          <p:spPr>
            <a:xfrm>
              <a:off x="6775704" y="4890211"/>
              <a:ext cx="2130552" cy="384048"/>
            </a:xfrm>
            <a:prstGeom prst="roundRect">
              <a:avLst>
                <a:gd name="adj" fmla="val 30000"/>
              </a:avLst>
            </a:prstGeom>
            <a:noFill/>
            <a:ln w="9525">
              <a:solidFill>
                <a:srgbClr val="002E6E"/>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100" b="1" i="0">
                  <a:solidFill>
                    <a:srgbClr val="002E6E"/>
                  </a:solidFill>
                  <a:latin typeface="Calibri"/>
                </a:rPr>
                <a:t>Share receipt on WhatsApp</a:t>
              </a:r>
            </a:p>
          </p:txBody>
        </p:sp>
      </p:grpSp>
      <p:sp>
        <p:nvSpPr>
          <p:cNvPr id="43" name="TextBox 42"/>
          <p:cNvSpPr txBox="1"/>
          <p:nvPr/>
        </p:nvSpPr>
        <p:spPr>
          <a:xfrm>
            <a:off x="640080" y="5733288"/>
            <a:ext cx="2514600" cy="457200"/>
          </a:xfrm>
          <a:prstGeom prst="rect">
            <a:avLst/>
          </a:prstGeom>
          <a:noFill/>
        </p:spPr>
        <p:txBody>
          <a:bodyPr wrap="square" lIns="36576" rIns="36576" tIns="36576" bIns="36576" anchor="t">
            <a:noAutofit/>
          </a:bodyPr>
          <a:lstStyle/>
          <a:p>
            <a:pPr algn="ctr"/>
            <a:r>
              <a:rPr sz="1200" b="1" i="0">
                <a:solidFill>
                  <a:srgbClr val="002E6E"/>
                </a:solidFill>
                <a:latin typeface="Calibri"/>
              </a:rPr>
              <a:t>1 · Pay supplier sits where the money arrives</a:t>
            </a:r>
          </a:p>
        </p:txBody>
      </p:sp>
      <p:sp>
        <p:nvSpPr>
          <p:cNvPr id="44" name="TextBox 43"/>
          <p:cNvSpPr txBox="1"/>
          <p:nvPr/>
        </p:nvSpPr>
        <p:spPr>
          <a:xfrm>
            <a:off x="3611880" y="5733288"/>
            <a:ext cx="2514600" cy="457200"/>
          </a:xfrm>
          <a:prstGeom prst="rect">
            <a:avLst/>
          </a:prstGeom>
          <a:noFill/>
        </p:spPr>
        <p:txBody>
          <a:bodyPr wrap="square" lIns="36576" rIns="36576" tIns="36576" bIns="36576" anchor="t">
            <a:noAutofit/>
          </a:bodyPr>
          <a:lstStyle/>
          <a:p>
            <a:pPr algn="ctr"/>
            <a:r>
              <a:rPr sz="1200" b="1" i="0">
                <a:solidFill>
                  <a:srgbClr val="002E6E"/>
                </a:solidFill>
                <a:latin typeface="Calibri"/>
              </a:rPr>
              <a:t>2 · Funding choice, with payee name check</a:t>
            </a:r>
          </a:p>
        </p:txBody>
      </p:sp>
      <p:sp>
        <p:nvSpPr>
          <p:cNvPr id="45" name="TextBox 44"/>
          <p:cNvSpPr txBox="1"/>
          <p:nvPr/>
        </p:nvSpPr>
        <p:spPr>
          <a:xfrm>
            <a:off x="6583680" y="5733288"/>
            <a:ext cx="2514600" cy="457200"/>
          </a:xfrm>
          <a:prstGeom prst="rect">
            <a:avLst/>
          </a:prstGeom>
          <a:noFill/>
        </p:spPr>
        <p:txBody>
          <a:bodyPr wrap="square" lIns="36576" rIns="36576" tIns="36576" bIns="36576" anchor="t">
            <a:noAutofit/>
          </a:bodyPr>
          <a:lstStyle/>
          <a:p>
            <a:pPr algn="ctr"/>
            <a:r>
              <a:rPr sz="1200" b="1" i="0">
                <a:solidFill>
                  <a:srgbClr val="002E6E"/>
                </a:solidFill>
                <a:latin typeface="Calibri"/>
              </a:rPr>
              <a:t>3 · Confirmation with a settlement summary</a:t>
            </a:r>
          </a:p>
        </p:txBody>
      </p:sp>
      <p:grpSp>
        <p:nvGrpSpPr>
          <p:cNvPr id="46" name="notification"/>
          <p:cNvGrpSpPr/>
          <p:nvPr/>
        </p:nvGrpSpPr>
        <p:grpSpPr>
          <a:xfrm>
            <a:off x="9464040" y="2057400"/>
            <a:ext cx="2176272" cy="2331720"/>
            <a:chOff x="9464040" y="2057400"/>
            <a:chExt cx="2176272" cy="2331720"/>
          </a:xfrm>
        </p:grpSpPr>
        <p:sp>
          <p:nvSpPr>
            <p:cNvPr id="47" name="Rounded Rectangle 46"/>
            <p:cNvSpPr/>
            <p:nvPr/>
          </p:nvSpPr>
          <p:spPr>
            <a:xfrm>
              <a:off x="9464040" y="2057400"/>
              <a:ext cx="2176272" cy="1508760"/>
            </a:xfrm>
            <a:prstGeom prst="roundRect">
              <a:avLst>
                <a:gd name="adj" fmla="val 10000"/>
              </a:avLst>
            </a:prstGeom>
            <a:solidFill>
              <a:srgbClr val="FFFFFF"/>
            </a:solidFill>
            <a:ln w="9525">
              <a:solidFill>
                <a:srgbClr val="C9D3DE"/>
              </a:solidFill>
            </a:ln>
            <a:effectLst/>
          </p:spPr>
          <p:style>
            <a:lnRef idx="1">
              <a:schemeClr val="accent1"/>
            </a:lnRef>
            <a:fillRef idx="3">
              <a:schemeClr val="accent1"/>
            </a:fillRef>
            <a:effectRef idx="0">
              <a:schemeClr val="accent1"/>
            </a:effectRef>
            <a:fontRef idx="minor">
              <a:schemeClr val="lt1"/>
            </a:fontRef>
          </p:style>
          <p:txBody>
            <a:bodyPr rtlCol="0" anchor="t" wrap="square" lIns="109728" rIns="109728" tIns="109728" bIns="109728">
              <a:noAutofit/>
            </a:bodyPr>
            <a:lstStyle/>
            <a:p>
              <a:pPr algn="l"/>
              <a:r>
                <a:rPr sz="900" b="1" i="0">
                  <a:solidFill>
                    <a:srgbClr val="5B6B7C"/>
                  </a:solidFill>
                  <a:latin typeface="Calibri"/>
                </a:rPr>
                <a:t>Paytm for Business · 8:05 am</a:t>
              </a:r>
            </a:p>
            <a:p>
              <a:pPr algn="l">
                <a:spcBef>
                  <a:spcPts val="300"/>
                </a:spcBef>
              </a:pPr>
              <a:r>
                <a:rPr sz="1200" b="1" i="0">
                  <a:solidFill>
                    <a:srgbClr val="1B2733"/>
                  </a:solidFill>
                  <a:latin typeface="Calibri"/>
                </a:rPr>
                <a:t>₹9,250 from yesterday's collections is ready for supplier payments. Tap to pay.</a:t>
              </a:r>
            </a:p>
          </p:txBody>
        </p:sp>
        <p:sp>
          <p:nvSpPr>
            <p:cNvPr id="48" name="TextBox 47"/>
            <p:cNvSpPr txBox="1"/>
            <p:nvPr/>
          </p:nvSpPr>
          <p:spPr>
            <a:xfrm>
              <a:off x="9464040" y="3657600"/>
              <a:ext cx="2176272" cy="731520"/>
            </a:xfrm>
            <a:prstGeom prst="rect">
              <a:avLst/>
            </a:prstGeom>
            <a:noFill/>
          </p:spPr>
          <p:txBody>
            <a:bodyPr wrap="square" lIns="36576" rIns="36576" tIns="36576" bIns="36576" anchor="t">
              <a:noAutofit/>
            </a:bodyPr>
            <a:lstStyle/>
            <a:p>
              <a:pPr algn="ctr"/>
              <a:r>
                <a:rPr sz="1200" b="1" i="0">
                  <a:solidFill>
                    <a:srgbClr val="002E6E"/>
                  </a:solidFill>
                  <a:latin typeface="Calibri"/>
                </a:rPr>
                <a:t>4 · Next morning: the prompt that restarts the habit</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grpId="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grpId="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450"/>
                                        <p:tgtEl>
                                          <p:spTgt spid="4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grpId="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50"/>
                                        <p:tgtEl>
                                          <p:spTgt spid="22"/>
                                        </p:tgtEl>
                                      </p:cBhvr>
                                    </p:animEffect>
                                  </p:childTnLst>
                                </p:cTn>
                              </p:par>
                              <p:par>
                                <p:cTn id="16" presetID="10" presetClass="entr" presetSubtype="0" grpId="0" fill="hold"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fade">
                                      <p:cBhvr>
                                        <p:cTn id="18" dur="450"/>
                                        <p:tgtEl>
                                          <p:spTgt spid="4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grpId="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50"/>
                                        <p:tgtEl>
                                          <p:spTgt spid="33"/>
                                        </p:tgtEl>
                                      </p:cBhvr>
                                    </p:animEffect>
                                  </p:childTnLst>
                                </p:cTn>
                              </p:par>
                              <p:par>
                                <p:cTn id="24" presetID="10" presetClass="entr" presetSubtype="0" grpId="0" fill="hold" nodeType="with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fade">
                                      <p:cBhvr>
                                        <p:cTn id="26" dur="450"/>
                                        <p:tgtEl>
                                          <p:spTgt spid="4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grpId="0" fill="hold" nodeType="click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wipe(down)">
                                      <p:cBhvr>
                                        <p:cTn id="3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SOLUTION · WHY IT LASTS</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002E6E"/>
                </a:solidFill>
                <a:latin typeface="Calibri"/>
              </a:rPr>
              <a:t>No cashback needed: merchants switch because a step disappears, and stay because the trigger repeats daily</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Sources: S3, S6, S7 (existing early settlement at Paytm and PhonePe); S14 (UPI on current accounts). Switching and staying are design hypotheses, tested by the pilot's activation, repeat and habit-guard metrics.</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9</a:t>
            </a:r>
          </a:p>
        </p:txBody>
      </p:sp>
      <p:grpSp>
        <p:nvGrpSpPr>
          <p:cNvPr id="7" name="thead"/>
          <p:cNvGrpSpPr/>
          <p:nvPr/>
        </p:nvGrpSpPr>
        <p:grpSpPr>
          <a:xfrm>
            <a:off x="548640" y="1737360"/>
            <a:ext cx="6263640" cy="347472"/>
            <a:chOff x="548640" y="1737360"/>
            <a:chExt cx="6263640" cy="347472"/>
          </a:xfrm>
        </p:grpSpPr>
        <p:sp>
          <p:nvSpPr>
            <p:cNvPr id="8" name="Rectangle 7"/>
            <p:cNvSpPr/>
            <p:nvPr/>
          </p:nvSpPr>
          <p:spPr>
            <a:xfrm>
              <a:off x="548640" y="1737360"/>
              <a:ext cx="2651760" cy="347472"/>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1" i="0">
                  <a:solidFill>
                    <a:srgbClr val="FFFFFF"/>
                  </a:solidFill>
                  <a:latin typeface="Calibri"/>
                </a:rPr>
                <a:t>Capability</a:t>
              </a:r>
            </a:p>
          </p:txBody>
        </p:sp>
        <p:sp>
          <p:nvSpPr>
            <p:cNvPr id="9" name="Rectangle 8"/>
            <p:cNvSpPr/>
            <p:nvPr/>
          </p:nvSpPr>
          <p:spPr>
            <a:xfrm>
              <a:off x="3246120" y="1737360"/>
              <a:ext cx="1234440" cy="347472"/>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1" i="0">
                  <a:solidFill>
                    <a:srgbClr val="FFFFFF"/>
                  </a:solidFill>
                  <a:latin typeface="Calibri"/>
                </a:rPr>
                <a:t>Differentiated?</a:t>
              </a:r>
            </a:p>
          </p:txBody>
        </p:sp>
        <p:sp>
          <p:nvSpPr>
            <p:cNvPr id="10" name="Rectangle 9"/>
            <p:cNvSpPr/>
            <p:nvPr/>
          </p:nvSpPr>
          <p:spPr>
            <a:xfrm>
              <a:off x="4526280" y="1737360"/>
              <a:ext cx="2286000" cy="347472"/>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1" i="0">
                  <a:solidFill>
                    <a:srgbClr val="FFFFFF"/>
                  </a:solidFill>
                  <a:latin typeface="Calibri"/>
                </a:rPr>
                <a:t>Who can copy it</a:t>
              </a:r>
            </a:p>
          </p:txBody>
        </p:sp>
      </p:grpSp>
      <p:grpSp>
        <p:nvGrpSpPr>
          <p:cNvPr id="11" name="trow1"/>
          <p:cNvGrpSpPr/>
          <p:nvPr/>
        </p:nvGrpSpPr>
        <p:grpSpPr>
          <a:xfrm>
            <a:off x="548640" y="2121408"/>
            <a:ext cx="6263640" cy="713232"/>
            <a:chOff x="548640" y="2121408"/>
            <a:chExt cx="6263640" cy="713232"/>
          </a:xfrm>
        </p:grpSpPr>
        <p:sp>
          <p:nvSpPr>
            <p:cNvPr id="12" name="Rectangle 11"/>
            <p:cNvSpPr/>
            <p:nvPr/>
          </p:nvSpPr>
          <p:spPr>
            <a:xfrm>
              <a:off x="548640" y="2121408"/>
              <a:ext cx="2651760" cy="713232"/>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0" i="0">
                  <a:solidFill>
                    <a:srgbClr val="1B2733"/>
                  </a:solidFill>
                  <a:latin typeface="Calibri"/>
                </a:rPr>
                <a:t>Early settlement on its own</a:t>
              </a:r>
            </a:p>
          </p:txBody>
        </p:sp>
        <p:sp>
          <p:nvSpPr>
            <p:cNvPr id="13" name="Rectangle 12"/>
            <p:cNvSpPr/>
            <p:nvPr/>
          </p:nvSpPr>
          <p:spPr>
            <a:xfrm>
              <a:off x="3246120" y="2121408"/>
              <a:ext cx="1234440" cy="713232"/>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1" i="0">
                  <a:solidFill>
                    <a:srgbClr val="5B6B7C"/>
                  </a:solidFill>
                  <a:latin typeface="Calibri"/>
                </a:rPr>
                <a:t>No</a:t>
              </a:r>
            </a:p>
          </p:txBody>
        </p:sp>
        <p:sp>
          <p:nvSpPr>
            <p:cNvPr id="14" name="Rectangle 13"/>
            <p:cNvSpPr/>
            <p:nvPr/>
          </p:nvSpPr>
          <p:spPr>
            <a:xfrm>
              <a:off x="4526280" y="2121408"/>
              <a:ext cx="2286000" cy="713232"/>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0" i="0">
                  <a:solidFill>
                    <a:srgbClr val="1B2733"/>
                  </a:solidFill>
                  <a:latin typeface="Calibri"/>
                </a:rPr>
                <a:t>Already offered by Paytm and by PhonePe (₹1–3 a request)</a:t>
              </a:r>
            </a:p>
          </p:txBody>
        </p:sp>
      </p:grpSp>
      <p:grpSp>
        <p:nvGrpSpPr>
          <p:cNvPr id="15" name="trow2"/>
          <p:cNvGrpSpPr/>
          <p:nvPr/>
        </p:nvGrpSpPr>
        <p:grpSpPr>
          <a:xfrm>
            <a:off x="548640" y="2871215"/>
            <a:ext cx="6263640" cy="713232"/>
            <a:chOff x="548640" y="2871215"/>
            <a:chExt cx="6263640" cy="713232"/>
          </a:xfrm>
        </p:grpSpPr>
        <p:sp>
          <p:nvSpPr>
            <p:cNvPr id="16" name="Rectangle 15"/>
            <p:cNvSpPr/>
            <p:nvPr/>
          </p:nvSpPr>
          <p:spPr>
            <a:xfrm>
              <a:off x="548640" y="2871215"/>
              <a:ext cx="2651760" cy="713232"/>
            </a:xfrm>
            <a:prstGeom prst="rect">
              <a:avLst/>
            </a:prstGeom>
            <a:solidFill>
              <a:srgbClr val="DCEBF8"/>
            </a:solidFill>
            <a:ln w="15875">
              <a:solidFill>
                <a:srgbClr val="00BAF2"/>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1" i="0">
                  <a:solidFill>
                    <a:srgbClr val="002E6E"/>
                  </a:solidFill>
                  <a:latin typeface="Calibri"/>
                </a:rPr>
                <a:t>Settlement + supplier payment in one flow, free when it funds a supplier</a:t>
              </a:r>
            </a:p>
          </p:txBody>
        </p:sp>
        <p:sp>
          <p:nvSpPr>
            <p:cNvPr id="17" name="Rectangle 16"/>
            <p:cNvSpPr/>
            <p:nvPr/>
          </p:nvSpPr>
          <p:spPr>
            <a:xfrm>
              <a:off x="3246120" y="2871215"/>
              <a:ext cx="1234440" cy="713232"/>
            </a:xfrm>
            <a:prstGeom prst="rect">
              <a:avLst/>
            </a:prstGeom>
            <a:solidFill>
              <a:srgbClr val="DCEBF8"/>
            </a:solidFill>
            <a:ln w="15875">
              <a:solidFill>
                <a:srgbClr val="00BAF2"/>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1" i="0">
                  <a:solidFill>
                    <a:srgbClr val="0077B6"/>
                  </a:solidFill>
                  <a:latin typeface="Calibri"/>
                </a:rPr>
                <a:t>Yes, today</a:t>
              </a:r>
            </a:p>
          </p:txBody>
        </p:sp>
        <p:sp>
          <p:nvSpPr>
            <p:cNvPr id="18" name="Rectangle 17"/>
            <p:cNvSpPr/>
            <p:nvPr/>
          </p:nvSpPr>
          <p:spPr>
            <a:xfrm>
              <a:off x="4526280" y="2871215"/>
              <a:ext cx="2286000" cy="713232"/>
            </a:xfrm>
            <a:prstGeom prst="rect">
              <a:avLst/>
            </a:prstGeom>
            <a:solidFill>
              <a:srgbClr val="DCEBF8"/>
            </a:solidFill>
            <a:ln w="15875">
              <a:solidFill>
                <a:srgbClr val="00BAF2"/>
              </a:solid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0" i="0">
                  <a:solidFill>
                    <a:srgbClr val="1B2733"/>
                  </a:solidFill>
                  <a:latin typeface="Calibri"/>
                </a:rPr>
                <a:t>PhonePe, within months, but only for merchants whose collections it handles</a:t>
              </a:r>
            </a:p>
          </p:txBody>
        </p:sp>
      </p:grpSp>
      <p:grpSp>
        <p:nvGrpSpPr>
          <p:cNvPr id="19" name="trow3"/>
          <p:cNvGrpSpPr/>
          <p:nvPr/>
        </p:nvGrpSpPr>
        <p:grpSpPr>
          <a:xfrm>
            <a:off x="548640" y="3621024"/>
            <a:ext cx="6263640" cy="713232"/>
            <a:chOff x="548640" y="3621024"/>
            <a:chExt cx="6263640" cy="713232"/>
          </a:xfrm>
        </p:grpSpPr>
        <p:sp>
          <p:nvSpPr>
            <p:cNvPr id="20" name="Rectangle 19"/>
            <p:cNvSpPr/>
            <p:nvPr/>
          </p:nvSpPr>
          <p:spPr>
            <a:xfrm>
              <a:off x="548640" y="3621024"/>
              <a:ext cx="2651760" cy="713232"/>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0" i="0">
                  <a:solidFill>
                    <a:srgbClr val="1B2733"/>
                  </a:solidFill>
                  <a:latin typeface="Calibri"/>
                </a:rPr>
                <a:t>Paying from the settlement current account</a:t>
              </a:r>
            </a:p>
          </p:txBody>
        </p:sp>
        <p:sp>
          <p:nvSpPr>
            <p:cNvPr id="21" name="Rectangle 20"/>
            <p:cNvSpPr/>
            <p:nvPr/>
          </p:nvSpPr>
          <p:spPr>
            <a:xfrm>
              <a:off x="3246120" y="3621024"/>
              <a:ext cx="1234440" cy="713232"/>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1" i="0">
                  <a:solidFill>
                    <a:srgbClr val="5B6B7C"/>
                  </a:solidFill>
                  <a:latin typeface="Calibri"/>
                </a:rPr>
                <a:t>No</a:t>
              </a:r>
            </a:p>
          </p:txBody>
        </p:sp>
        <p:sp>
          <p:nvSpPr>
            <p:cNvPr id="22" name="Rectangle 21"/>
            <p:cNvSpPr/>
            <p:nvPr/>
          </p:nvSpPr>
          <p:spPr>
            <a:xfrm>
              <a:off x="4526280" y="3621024"/>
              <a:ext cx="2286000" cy="713232"/>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0" i="0">
                  <a:solidFill>
                    <a:srgbClr val="1B2733"/>
                  </a:solidFill>
                  <a:latin typeface="Calibri"/>
                </a:rPr>
                <a:t>Any UPI app, once the account is linked</a:t>
              </a:r>
            </a:p>
          </p:txBody>
        </p:sp>
      </p:grpSp>
      <p:grpSp>
        <p:nvGrpSpPr>
          <p:cNvPr id="23" name="trow4"/>
          <p:cNvGrpSpPr/>
          <p:nvPr/>
        </p:nvGrpSpPr>
        <p:grpSpPr>
          <a:xfrm>
            <a:off x="548640" y="4370831"/>
            <a:ext cx="6263640" cy="713232"/>
            <a:chOff x="548640" y="4370831"/>
            <a:chExt cx="6263640" cy="713232"/>
          </a:xfrm>
        </p:grpSpPr>
        <p:sp>
          <p:nvSpPr>
            <p:cNvPr id="24" name="Rectangle 23"/>
            <p:cNvSpPr/>
            <p:nvPr/>
          </p:nvSpPr>
          <p:spPr>
            <a:xfrm>
              <a:off x="548640" y="4370831"/>
              <a:ext cx="2651760" cy="71323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0" i="0">
                  <a:solidFill>
                    <a:srgbClr val="1B2733"/>
                  </a:solidFill>
                  <a:latin typeface="Calibri"/>
                </a:rPr>
                <a:t>Saved suppliers, name check, history</a:t>
              </a:r>
            </a:p>
          </p:txBody>
        </p:sp>
        <p:sp>
          <p:nvSpPr>
            <p:cNvPr id="25" name="Rectangle 24"/>
            <p:cNvSpPr/>
            <p:nvPr/>
          </p:nvSpPr>
          <p:spPr>
            <a:xfrm>
              <a:off x="3246120" y="4370831"/>
              <a:ext cx="1234440" cy="71323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1" i="0">
                  <a:solidFill>
                    <a:srgbClr val="5B6B7C"/>
                  </a:solidFill>
                  <a:latin typeface="Calibri"/>
                </a:rPr>
                <a:t>No</a:t>
              </a:r>
            </a:p>
          </p:txBody>
        </p:sp>
        <p:sp>
          <p:nvSpPr>
            <p:cNvPr id="26" name="Rectangle 25"/>
            <p:cNvSpPr/>
            <p:nvPr/>
          </p:nvSpPr>
          <p:spPr>
            <a:xfrm>
              <a:off x="4526280" y="4370831"/>
              <a:ext cx="2286000" cy="71323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200" b="0" i="0">
                  <a:solidFill>
                    <a:srgbClr val="1B2733"/>
                  </a:solidFill>
                  <a:latin typeface="Calibri"/>
                </a:rPr>
                <a:t>Every major app has them: must-haves, not the pitch</a:t>
              </a:r>
            </a:p>
          </p:txBody>
        </p:sp>
      </p:grpSp>
      <p:sp>
        <p:nvSpPr>
          <p:cNvPr id="27" name="TextBox 26"/>
          <p:cNvSpPr txBox="1"/>
          <p:nvPr/>
        </p:nvSpPr>
        <p:spPr>
          <a:xfrm>
            <a:off x="7178040" y="1691640"/>
            <a:ext cx="4462272" cy="274320"/>
          </a:xfrm>
          <a:prstGeom prst="rect">
            <a:avLst/>
          </a:prstGeom>
          <a:noFill/>
        </p:spPr>
        <p:txBody>
          <a:bodyPr wrap="square" lIns="36576" rIns="36576" tIns="36576" bIns="36576" anchor="t">
            <a:noAutofit/>
          </a:bodyPr>
          <a:lstStyle/>
          <a:p>
            <a:pPr algn="ctr"/>
            <a:r>
              <a:rPr sz="1000" b="1" i="0">
                <a:solidFill>
                  <a:srgbClr val="5B6B7C"/>
                </a:solidFill>
                <a:latin typeface="Calibri"/>
              </a:rPr>
              <a:t>DAILY HABIT LOOP  ·  NO REWARD NEEDED</a:t>
            </a:r>
          </a:p>
        </p:txBody>
      </p:sp>
      <p:sp>
        <p:nvSpPr>
          <p:cNvPr id="28" name="Oval 27"/>
          <p:cNvSpPr/>
          <p:nvPr/>
        </p:nvSpPr>
        <p:spPr>
          <a:xfrm>
            <a:off x="8321040" y="2423160"/>
            <a:ext cx="2194560" cy="2194560"/>
          </a:xfrm>
          <a:prstGeom prst="ellipse">
            <a:avLst/>
          </a:prstGeom>
          <a:noFill/>
          <a:ln w="38100">
            <a:solidFill>
              <a:srgbClr val="00BAF2"/>
            </a:solid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9" name="TextBox 28"/>
          <p:cNvSpPr txBox="1"/>
          <p:nvPr/>
        </p:nvSpPr>
        <p:spPr>
          <a:xfrm>
            <a:off x="9125712" y="3337560"/>
            <a:ext cx="585216" cy="365760"/>
          </a:xfrm>
          <a:prstGeom prst="rect">
            <a:avLst/>
          </a:prstGeom>
          <a:noFill/>
        </p:spPr>
        <p:txBody>
          <a:bodyPr wrap="square" lIns="0" rIns="0" tIns="0" bIns="0" anchor="ctr">
            <a:noAutofit/>
          </a:bodyPr>
          <a:lstStyle/>
          <a:p>
            <a:pPr algn="ctr"/>
            <a:r>
              <a:rPr sz="1100" b="1" i="0">
                <a:solidFill>
                  <a:srgbClr val="0077B6"/>
                </a:solidFill>
                <a:latin typeface="Calibri"/>
              </a:rPr>
              <a:t>daily</a:t>
            </a:r>
          </a:p>
        </p:txBody>
      </p:sp>
      <p:sp>
        <p:nvSpPr>
          <p:cNvPr id="30" name="loop1"/>
          <p:cNvSpPr/>
          <p:nvPr/>
        </p:nvSpPr>
        <p:spPr>
          <a:xfrm>
            <a:off x="8366760" y="2066544"/>
            <a:ext cx="2103120" cy="713232"/>
          </a:xfrm>
          <a:prstGeom prst="roundRect">
            <a:avLst>
              <a:gd name="adj" fmla="val 15000"/>
            </a:avLst>
          </a:prstGeom>
          <a:solidFill>
            <a:srgbClr val="FFFFFF"/>
          </a:solidFill>
          <a:ln w="15875">
            <a:solidFill>
              <a:srgbClr val="002E6E"/>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ctr"/>
            <a:r>
              <a:rPr sz="1200" b="1" i="0">
                <a:solidFill>
                  <a:srgbClr val="002E6E"/>
                </a:solidFill>
                <a:latin typeface="Calibri"/>
              </a:rPr>
              <a:t>1 · Morning prompt</a:t>
            </a:r>
          </a:p>
          <a:p>
            <a:pPr algn="ctr"/>
            <a:r>
              <a:rPr sz="1200" b="0" i="0">
                <a:solidFill>
                  <a:srgbClr val="1B2733"/>
                </a:solidFill>
                <a:latin typeface="Calibri"/>
              </a:rPr>
              <a:t>yesterday's collections are ready</a:t>
            </a:r>
          </a:p>
        </p:txBody>
      </p:sp>
      <p:sp>
        <p:nvSpPr>
          <p:cNvPr id="31" name="loop2"/>
          <p:cNvSpPr/>
          <p:nvPr/>
        </p:nvSpPr>
        <p:spPr>
          <a:xfrm>
            <a:off x="9738360" y="3163824"/>
            <a:ext cx="1554480" cy="713232"/>
          </a:xfrm>
          <a:prstGeom prst="roundRect">
            <a:avLst>
              <a:gd name="adj" fmla="val 15000"/>
            </a:avLst>
          </a:prstGeom>
          <a:solidFill>
            <a:srgbClr val="FFFFFF"/>
          </a:solidFill>
          <a:ln w="15875">
            <a:solidFill>
              <a:srgbClr val="002E6E"/>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ctr"/>
            <a:r>
              <a:rPr sz="1200" b="1" i="0">
                <a:solidFill>
                  <a:srgbClr val="002E6E"/>
                </a:solidFill>
                <a:latin typeface="Calibri"/>
              </a:rPr>
              <a:t>2 · Pay</a:t>
            </a:r>
          </a:p>
          <a:p>
            <a:pPr algn="ctr"/>
            <a:r>
              <a:rPr sz="1200" b="0" i="0">
                <a:solidFill>
                  <a:srgbClr val="1B2733"/>
                </a:solidFill>
                <a:latin typeface="Calibri"/>
              </a:rPr>
              <a:t>one flow, one PIN</a:t>
            </a:r>
          </a:p>
        </p:txBody>
      </p:sp>
      <p:sp>
        <p:nvSpPr>
          <p:cNvPr id="32" name="loop3"/>
          <p:cNvSpPr/>
          <p:nvPr/>
        </p:nvSpPr>
        <p:spPr>
          <a:xfrm>
            <a:off x="8366760" y="4261104"/>
            <a:ext cx="2103120" cy="713232"/>
          </a:xfrm>
          <a:prstGeom prst="roundRect">
            <a:avLst>
              <a:gd name="adj" fmla="val 15000"/>
            </a:avLst>
          </a:prstGeom>
          <a:solidFill>
            <a:srgbClr val="FFFFFF"/>
          </a:solidFill>
          <a:ln w="15875">
            <a:solidFill>
              <a:srgbClr val="002E6E"/>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ctr"/>
            <a:r>
              <a:rPr sz="1200" b="1" i="0">
                <a:solidFill>
                  <a:srgbClr val="002E6E"/>
                </a:solidFill>
                <a:latin typeface="Calibri"/>
              </a:rPr>
              <a:t>3 · Record</a:t>
            </a:r>
          </a:p>
          <a:p>
            <a:pPr algn="ctr"/>
            <a:r>
              <a:rPr sz="1200" b="0" i="0">
                <a:solidFill>
                  <a:srgbClr val="1B2733"/>
                </a:solidFill>
                <a:latin typeface="Calibri"/>
              </a:rPr>
              <a:t>settlement notice: 'paid to suppliers'</a:t>
            </a:r>
          </a:p>
        </p:txBody>
      </p:sp>
      <p:sp>
        <p:nvSpPr>
          <p:cNvPr id="33" name="loop4"/>
          <p:cNvSpPr/>
          <p:nvPr/>
        </p:nvSpPr>
        <p:spPr>
          <a:xfrm>
            <a:off x="7543800" y="3163824"/>
            <a:ext cx="1554480" cy="713232"/>
          </a:xfrm>
          <a:prstGeom prst="roundRect">
            <a:avLst>
              <a:gd name="adj" fmla="val 15000"/>
            </a:avLst>
          </a:prstGeom>
          <a:solidFill>
            <a:srgbClr val="FFFFFF"/>
          </a:solidFill>
          <a:ln w="15875">
            <a:solidFill>
              <a:srgbClr val="002E6E"/>
            </a:solid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ctr"/>
            <a:r>
              <a:rPr sz="1200" b="1" i="0">
                <a:solidFill>
                  <a:srgbClr val="002E6E"/>
                </a:solidFill>
                <a:latin typeface="Calibri"/>
              </a:rPr>
              <a:t>4 · Repeat</a:t>
            </a:r>
          </a:p>
          <a:p>
            <a:pPr algn="ctr"/>
            <a:r>
              <a:rPr sz="1200" b="0" i="0">
                <a:solidFill>
                  <a:srgbClr val="1B2733"/>
                </a:solidFill>
                <a:latin typeface="Calibri"/>
              </a:rPr>
              <a:t>saved supplier, one tap</a:t>
            </a:r>
          </a:p>
        </p:txBody>
      </p:sp>
      <p:sp>
        <p:nvSpPr>
          <p:cNvPr id="34" name="competitor"/>
          <p:cNvSpPr/>
          <p:nvPr/>
        </p:nvSpPr>
        <p:spPr>
          <a:xfrm>
            <a:off x="548640" y="5257800"/>
            <a:ext cx="11091672" cy="868680"/>
          </a:xfrm>
          <a:prstGeom prst="roundRect">
            <a:avLst>
              <a:gd name="adj" fmla="val 10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46304" rIns="146304" tIns="146304" bIns="146304">
            <a:noAutofit/>
          </a:bodyPr>
          <a:lstStyle/>
          <a:p>
            <a:pPr algn="l"/>
            <a:r>
              <a:rPr sz="1300" b="1" i="0">
                <a:solidFill>
                  <a:srgbClr val="002E6E"/>
                </a:solidFill>
                <a:latin typeface="Calibri"/>
              </a:rPr>
              <a:t>Competitor response: </a:t>
            </a:r>
            <a:r>
              <a:rPr sz="1300" b="0" i="0">
                <a:solidFill>
                  <a:srgbClr val="1B2733"/>
                </a:solidFill>
                <a:latin typeface="Calibri"/>
              </a:rPr>
              <a:t>PhonePe can copy the flow for merchants whose collections it handles, not for Paytm's. The contest then becomes who handles the merchant's collections, which is Paytm's core business. A head start of months, not a permanent moat: start the pilot as soon as compliance clears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grpId="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childTnLst>
                          </p:cTn>
                        </p:par>
                        <p:par>
                          <p:cTn id="8" fill="hold">
                            <p:stCondLst>
                              <p:cond delay="450"/>
                            </p:stCondLst>
                            <p:childTnLst>
                              <p:par>
                                <p:cTn id="9" presetID="10" presetClass="entr" presetSubtype="0" grpId="0" fill="hold" nodeType="afterEffect">
                                  <p:stCondLst>
                                    <p:cond delay="1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childTnLst>
                          </p:cTn>
                        </p:par>
                        <p:par>
                          <p:cTn id="12" fill="hold">
                            <p:stCondLst>
                              <p:cond delay="1000"/>
                            </p:stCondLst>
                            <p:childTnLst>
                              <p:par>
                                <p:cTn id="13" presetID="10" presetClass="entr" presetSubtype="0" grpId="0" fill="hold" nodeType="afterEffect">
                                  <p:stCondLst>
                                    <p:cond delay="1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50"/>
                                        <p:tgtEl>
                                          <p:spTgt spid="19"/>
                                        </p:tgtEl>
                                      </p:cBhvr>
                                    </p:animEffect>
                                  </p:childTnLst>
                                </p:cTn>
                              </p:par>
                            </p:childTnLst>
                          </p:cTn>
                        </p:par>
                        <p:par>
                          <p:cTn id="16" fill="hold">
                            <p:stCondLst>
                              <p:cond delay="1550"/>
                            </p:stCondLst>
                            <p:childTnLst>
                              <p:par>
                                <p:cTn id="17" presetID="10" presetClass="entr" presetSubtype="0" grpId="0" fill="hold" nodeType="afterEffect">
                                  <p:stCondLst>
                                    <p:cond delay="1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50"/>
                                        <p:tgtEl>
                                          <p:spTgt spid="2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grpId="0" fill="hold"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450"/>
                                        <p:tgtEl>
                                          <p:spTgt spid="30"/>
                                        </p:tgtEl>
                                      </p:cBhvr>
                                    </p:animEffect>
                                  </p:childTnLst>
                                </p:cTn>
                              </p:par>
                            </p:childTnLst>
                          </p:cTn>
                        </p:par>
                        <p:par>
                          <p:cTn id="25" fill="hold">
                            <p:stCondLst>
                              <p:cond delay="450"/>
                            </p:stCondLst>
                            <p:childTnLst>
                              <p:par>
                                <p:cTn id="26" presetID="10" presetClass="entr" presetSubtype="0" grpId="0" fill="hold" nodeType="afterEffect">
                                  <p:stCondLst>
                                    <p:cond delay="10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450"/>
                                        <p:tgtEl>
                                          <p:spTgt spid="31"/>
                                        </p:tgtEl>
                                      </p:cBhvr>
                                    </p:animEffect>
                                  </p:childTnLst>
                                </p:cTn>
                              </p:par>
                            </p:childTnLst>
                          </p:cTn>
                        </p:par>
                        <p:par>
                          <p:cTn id="29" fill="hold">
                            <p:stCondLst>
                              <p:cond delay="1000"/>
                            </p:stCondLst>
                            <p:childTnLst>
                              <p:par>
                                <p:cTn id="30" presetID="10" presetClass="entr" presetSubtype="0" grpId="0" fill="hold" nodeType="afterEffect">
                                  <p:stCondLst>
                                    <p:cond delay="10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50"/>
                                        <p:tgtEl>
                                          <p:spTgt spid="32"/>
                                        </p:tgtEl>
                                      </p:cBhvr>
                                    </p:animEffect>
                                  </p:childTnLst>
                                </p:cTn>
                              </p:par>
                            </p:childTnLst>
                          </p:cTn>
                        </p:par>
                        <p:par>
                          <p:cTn id="33" fill="hold">
                            <p:stCondLst>
                              <p:cond delay="1550"/>
                            </p:stCondLst>
                            <p:childTnLst>
                              <p:par>
                                <p:cTn id="34" presetID="10" presetClass="entr" presetSubtype="0" grpId="0" fill="hold" nodeType="afterEffect">
                                  <p:stCondLst>
                                    <p:cond delay="10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450"/>
                                        <p:tgtEl>
                                          <p:spTgt spid="3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grpId="0" fill="hold" nodeType="click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SOLUTION VALIDATION · AWAITING RESULTS</a:t>
            </a:r>
          </a:p>
        </p:txBody>
      </p:sp>
      <p:sp>
        <p:nvSpPr>
          <p:cNvPr id="3" name="VAL_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400" b="1" i="0">
                <a:solidFill>
                  <a:srgbClr val="D6249F"/>
                </a:solidFill>
                <a:latin typeface="Calibri"/>
              </a:rPr>
              <a:t>[Assertion from the ≥20-user test, e.g. '__ of __ target merchants completed the Settle &amp; Pay task unaided; __% committed to move a named supplier payment']</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Method and recruitment per annexure A8; results recompute from the 'Validation_Log' sheet via fill_validation.py. Secondary sources: S3–S7 (settlement), S9–S11 (regulation). Magenta = to be filled from real results; nothing on this slide is invented.</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10</a:t>
            </a:r>
          </a:p>
        </p:txBody>
      </p:sp>
      <p:grpSp>
        <p:nvGrpSpPr>
          <p:cNvPr id="7" name="methods"/>
          <p:cNvGrpSpPr/>
          <p:nvPr/>
        </p:nvGrpSpPr>
        <p:grpSpPr>
          <a:xfrm>
            <a:off x="548640" y="1691640"/>
            <a:ext cx="7153548" cy="329184"/>
            <a:chOff x="548640" y="1691640"/>
            <a:chExt cx="7153548" cy="329184"/>
          </a:xfrm>
        </p:grpSpPr>
        <p:sp>
          <p:nvSpPr>
            <p:cNvPr id="8" name="TextBox 7"/>
            <p:cNvSpPr txBox="1"/>
            <p:nvPr/>
          </p:nvSpPr>
          <p:spPr>
            <a:xfrm>
              <a:off x="548640" y="1691640"/>
              <a:ext cx="1051560" cy="329184"/>
            </a:xfrm>
            <a:prstGeom prst="rect">
              <a:avLst/>
            </a:prstGeom>
            <a:noFill/>
          </p:spPr>
          <p:txBody>
            <a:bodyPr wrap="square" lIns="36576" rIns="36576" tIns="36576" bIns="36576" anchor="ctr">
              <a:noAutofit/>
            </a:bodyPr>
            <a:lstStyle/>
            <a:p>
              <a:pPr algn="l"/>
              <a:r>
                <a:rPr sz="1000" b="1" i="0">
                  <a:solidFill>
                    <a:srgbClr val="5B6B7C"/>
                  </a:solidFill>
                  <a:latin typeface="Calibri"/>
                </a:rPr>
                <a:t>METHOD</a:t>
              </a:r>
            </a:p>
          </p:txBody>
        </p:sp>
        <p:sp>
          <p:nvSpPr>
            <p:cNvPr id="9" name="Rounded Rectangle 8"/>
            <p:cNvSpPr/>
            <p:nvPr/>
          </p:nvSpPr>
          <p:spPr>
            <a:xfrm>
              <a:off x="1554480" y="1691640"/>
              <a:ext cx="1742658" cy="329184"/>
            </a:xfrm>
            <a:prstGeom prst="roundRect">
              <a:avLst>
                <a:gd name="adj" fmla="val 50000"/>
              </a:avLst>
            </a:prstGeom>
            <a:noFill/>
            <a:ln w="9525">
              <a:solidFill>
                <a:srgbClr val="002E6E"/>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200" b="1" i="0">
                  <a:solidFill>
                    <a:srgbClr val="002E6E"/>
                  </a:solidFill>
                  <a:latin typeface="Calibri"/>
                </a:rPr>
                <a:t>Prototype walkthrough</a:t>
              </a:r>
            </a:p>
          </p:txBody>
        </p:sp>
        <p:sp>
          <p:nvSpPr>
            <p:cNvPr id="10" name="Rounded Rectangle 9"/>
            <p:cNvSpPr/>
            <p:nvPr/>
          </p:nvSpPr>
          <p:spPr>
            <a:xfrm>
              <a:off x="3406866" y="1691640"/>
              <a:ext cx="2773370" cy="329184"/>
            </a:xfrm>
            <a:prstGeom prst="roundRect">
              <a:avLst>
                <a:gd name="adj" fmla="val 50000"/>
              </a:avLst>
            </a:prstGeom>
            <a:noFill/>
            <a:ln w="9525">
              <a:solidFill>
                <a:srgbClr val="002E6E"/>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200" b="1" i="0">
                  <a:solidFill>
                    <a:srgbClr val="002E6E"/>
                  </a:solidFill>
                  <a:latin typeface="Calibri"/>
                </a:rPr>
                <a:t>Concept test on last 5 vendor payments</a:t>
              </a:r>
            </a:p>
          </p:txBody>
        </p:sp>
        <p:sp>
          <p:nvSpPr>
            <p:cNvPr id="11" name="Rounded Rectangle 10"/>
            <p:cNvSpPr/>
            <p:nvPr/>
          </p:nvSpPr>
          <p:spPr>
            <a:xfrm>
              <a:off x="6289964" y="1691640"/>
              <a:ext cx="1412224" cy="329184"/>
            </a:xfrm>
            <a:prstGeom prst="roundRect">
              <a:avLst>
                <a:gd name="adj" fmla="val 50000"/>
              </a:avLst>
            </a:prstGeom>
            <a:noFill/>
            <a:ln w="9525">
              <a:solidFill>
                <a:srgbClr val="002E6E"/>
              </a:solid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200" b="1" i="0">
                  <a:solidFill>
                    <a:srgbClr val="002E6E"/>
                  </a:solidFill>
                  <a:latin typeface="Calibri"/>
                </a:rPr>
                <a:t>Commitment asks</a:t>
              </a:r>
            </a:p>
          </p:txBody>
        </p:sp>
      </p:grpSp>
      <p:sp>
        <p:nvSpPr>
          <p:cNvPr id="12" name="VAL_n"/>
          <p:cNvSpPr/>
          <p:nvPr/>
        </p:nvSpPr>
        <p:spPr>
          <a:xfrm>
            <a:off x="8595360" y="1664208"/>
            <a:ext cx="3044952" cy="384048"/>
          </a:xfrm>
          <a:prstGeom prst="roundRect">
            <a:avLst>
              <a:gd name="adj" fmla="val 30000"/>
            </a:avLst>
          </a:prstGeom>
          <a:noFill/>
          <a:ln w="9525">
            <a:solidFill>
              <a:srgbClr val="D6249F"/>
            </a:solidFill>
            <a:prstDash val="dash"/>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600" b="1" i="0">
                <a:solidFill>
                  <a:srgbClr val="D6249F"/>
                </a:solidFill>
                <a:latin typeface="Calibri"/>
              </a:rPr>
              <a:t>n = [__] </a:t>
            </a:r>
            <a:r>
              <a:rPr sz="1200" b="0" i="0">
                <a:solidFill>
                  <a:srgbClr val="1B2733"/>
                </a:solidFill>
                <a:latin typeface="Calibri"/>
              </a:rPr>
              <a:t>target merchants (≥20)</a:t>
            </a:r>
          </a:p>
        </p:txBody>
      </p:sp>
      <p:sp>
        <p:nvSpPr>
          <p:cNvPr id="13" name="VAL_recruit"/>
          <p:cNvSpPr txBox="1"/>
          <p:nvPr/>
        </p:nvSpPr>
        <p:spPr>
          <a:xfrm>
            <a:off x="548640" y="2121408"/>
            <a:ext cx="11091672" cy="292608"/>
          </a:xfrm>
          <a:prstGeom prst="rect">
            <a:avLst/>
          </a:prstGeom>
          <a:noFill/>
        </p:spPr>
        <p:txBody>
          <a:bodyPr wrap="square" lIns="36576" rIns="36576" tIns="36576" bIns="36576" anchor="t">
            <a:noAutofit/>
          </a:bodyPr>
          <a:lstStyle/>
          <a:p>
            <a:pPr algn="l"/>
            <a:r>
              <a:rPr sz="1200" b="1" i="0">
                <a:solidFill>
                  <a:srgbClr val="002E6E"/>
                </a:solidFill>
                <a:latin typeface="Calibri"/>
              </a:rPr>
              <a:t>Recruited: </a:t>
            </a:r>
            <a:r>
              <a:rPr sz="1200" b="0" i="0">
                <a:solidFill>
                  <a:srgbClr val="1B2733"/>
                </a:solidFill>
                <a:latin typeface="Calibri"/>
              </a:rPr>
              <a:t>owner or app-chooser · collects on Paytm · pays vendors by UPI weekly · settlement profile recorded · every answer marked observed or stated</a:t>
            </a:r>
          </a:p>
        </p:txBody>
      </p:sp>
      <p:grpSp>
        <p:nvGrpSpPr>
          <p:cNvPr id="14" name="behaviour"/>
          <p:cNvGrpSpPr/>
          <p:nvPr/>
        </p:nvGrpSpPr>
        <p:grpSpPr>
          <a:xfrm>
            <a:off x="548640" y="2560320"/>
            <a:ext cx="11119103" cy="1417320"/>
            <a:chOff x="548640" y="2560320"/>
            <a:chExt cx="11119103" cy="1417320"/>
          </a:xfrm>
        </p:grpSpPr>
        <p:sp>
          <p:nvSpPr>
            <p:cNvPr id="15" name="VAL_t1"/>
            <p:cNvSpPr/>
            <p:nvPr/>
          </p:nvSpPr>
          <p:spPr>
            <a:xfrm>
              <a:off x="548640" y="2560320"/>
              <a:ext cx="2697480" cy="1417320"/>
            </a:xfrm>
            <a:prstGeom prst="roundRect">
              <a:avLst>
                <a:gd name="adj" fmla="val 8000"/>
              </a:avLst>
            </a:prstGeom>
            <a:noFill/>
            <a:ln w="9525">
              <a:solidFill>
                <a:srgbClr val="D6249F"/>
              </a:solidFill>
              <a:prstDash val="dash"/>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900" b="1" i="0">
                  <a:solidFill>
                    <a:srgbClr val="5B6B7C"/>
                  </a:solidFill>
                  <a:latin typeface="Calibri"/>
                </a:rPr>
                <a:t>OBSERVED</a:t>
              </a:r>
            </a:p>
            <a:p>
              <a:pPr algn="l">
                <a:spcBef>
                  <a:spcPts val="100"/>
                </a:spcBef>
              </a:pPr>
              <a:r>
                <a:rPr sz="3200" b="1" i="0">
                  <a:solidFill>
                    <a:srgbClr val="D6249F"/>
                  </a:solidFill>
                  <a:latin typeface="Calibri"/>
                </a:rPr>
                <a:t>[__%]</a:t>
              </a:r>
            </a:p>
            <a:p>
              <a:pPr algn="l">
                <a:spcBef>
                  <a:spcPts val="100"/>
                </a:spcBef>
              </a:pPr>
              <a:r>
                <a:rPr sz="1200" b="0" i="0">
                  <a:solidFill>
                    <a:srgbClr val="1B2733"/>
                  </a:solidFill>
                  <a:latin typeface="Calibri"/>
                </a:rPr>
                <a:t>completed the prototype task unaided</a:t>
              </a:r>
            </a:p>
          </p:txBody>
        </p:sp>
        <p:sp>
          <p:nvSpPr>
            <p:cNvPr id="16" name="VAL_t2"/>
            <p:cNvSpPr/>
            <p:nvPr/>
          </p:nvSpPr>
          <p:spPr>
            <a:xfrm>
              <a:off x="3355848" y="2560320"/>
              <a:ext cx="2697480" cy="1417320"/>
            </a:xfrm>
            <a:prstGeom prst="roundRect">
              <a:avLst>
                <a:gd name="adj" fmla="val 8000"/>
              </a:avLst>
            </a:prstGeom>
            <a:noFill/>
            <a:ln w="9525">
              <a:solidFill>
                <a:srgbClr val="D6249F"/>
              </a:solidFill>
              <a:prstDash val="dash"/>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900" b="1" i="0">
                  <a:solidFill>
                    <a:srgbClr val="5B6B7C"/>
                  </a:solidFill>
                  <a:latin typeface="Calibri"/>
                </a:rPr>
                <a:t>COMMITMENT</a:t>
              </a:r>
            </a:p>
            <a:p>
              <a:pPr algn="l">
                <a:spcBef>
                  <a:spcPts val="100"/>
                </a:spcBef>
              </a:pPr>
              <a:r>
                <a:rPr sz="3200" b="1" i="0">
                  <a:solidFill>
                    <a:srgbClr val="D6249F"/>
                  </a:solidFill>
                  <a:latin typeface="Calibri"/>
                </a:rPr>
                <a:t>[__%]</a:t>
              </a:r>
            </a:p>
            <a:p>
              <a:pPr algn="l">
                <a:spcBef>
                  <a:spcPts val="100"/>
                </a:spcBef>
              </a:pPr>
              <a:r>
                <a:rPr sz="1200" b="0" i="0">
                  <a:solidFill>
                    <a:srgbClr val="1B2733"/>
                  </a:solidFill>
                  <a:latin typeface="Calibri"/>
                </a:rPr>
                <a:t>named a specific supplier payment they would move</a:t>
              </a:r>
            </a:p>
          </p:txBody>
        </p:sp>
        <p:sp>
          <p:nvSpPr>
            <p:cNvPr id="17" name="VAL_t3"/>
            <p:cNvSpPr/>
            <p:nvPr/>
          </p:nvSpPr>
          <p:spPr>
            <a:xfrm>
              <a:off x="6163055" y="2560320"/>
              <a:ext cx="2697480" cy="1417320"/>
            </a:xfrm>
            <a:prstGeom prst="roundRect">
              <a:avLst>
                <a:gd name="adj" fmla="val 8000"/>
              </a:avLst>
            </a:prstGeom>
            <a:noFill/>
            <a:ln w="9525">
              <a:solidFill>
                <a:srgbClr val="D6249F"/>
              </a:solidFill>
              <a:prstDash val="dash"/>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900" b="1" i="0">
                  <a:solidFill>
                    <a:srgbClr val="5B6B7C"/>
                  </a:solidFill>
                  <a:latin typeface="Calibri"/>
                </a:rPr>
                <a:t>COMMITMENT</a:t>
              </a:r>
            </a:p>
            <a:p>
              <a:pPr algn="l">
                <a:spcBef>
                  <a:spcPts val="100"/>
                </a:spcBef>
              </a:pPr>
              <a:r>
                <a:rPr sz="3200" b="1" i="0">
                  <a:solidFill>
                    <a:srgbClr val="D6249F"/>
                  </a:solidFill>
                  <a:latin typeface="Calibri"/>
                </a:rPr>
                <a:t>[__%]</a:t>
              </a:r>
            </a:p>
            <a:p>
              <a:pPr algn="l">
                <a:spcBef>
                  <a:spcPts val="100"/>
                </a:spcBef>
              </a:pPr>
              <a:r>
                <a:rPr sz="1200" b="0" i="0">
                  <a:solidFill>
                    <a:srgbClr val="1B2733"/>
                  </a:solidFill>
                  <a:latin typeface="Calibri"/>
                </a:rPr>
                <a:t>agreed to a follow-up trial in 7 days</a:t>
              </a:r>
            </a:p>
          </p:txBody>
        </p:sp>
        <p:sp>
          <p:nvSpPr>
            <p:cNvPr id="18" name="VAL_t4"/>
            <p:cNvSpPr/>
            <p:nvPr/>
          </p:nvSpPr>
          <p:spPr>
            <a:xfrm>
              <a:off x="8970263" y="2560320"/>
              <a:ext cx="2697480" cy="1417320"/>
            </a:xfrm>
            <a:prstGeom prst="roundRect">
              <a:avLst>
                <a:gd name="adj" fmla="val 8000"/>
              </a:avLst>
            </a:prstGeom>
            <a:noFill/>
            <a:ln w="9525">
              <a:solidFill>
                <a:srgbClr val="D6249F"/>
              </a:solidFill>
              <a:prstDash val="dash"/>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900" b="1" i="0">
                  <a:solidFill>
                    <a:srgbClr val="5B6B7C"/>
                  </a:solidFill>
                  <a:latin typeface="Calibri"/>
                </a:rPr>
                <a:t>ACTION</a:t>
              </a:r>
            </a:p>
            <a:p>
              <a:pPr algn="l">
                <a:spcBef>
                  <a:spcPts val="100"/>
                </a:spcBef>
              </a:pPr>
              <a:r>
                <a:rPr sz="3200" b="1" i="0">
                  <a:solidFill>
                    <a:srgbClr val="D6249F"/>
                  </a:solidFill>
                  <a:latin typeface="Calibri"/>
                </a:rPr>
                <a:t>[__%]</a:t>
              </a:r>
            </a:p>
            <a:p>
              <a:pPr algn="l">
                <a:spcBef>
                  <a:spcPts val="100"/>
                </a:spcBef>
              </a:pPr>
              <a:r>
                <a:rPr sz="1200" b="0" i="0">
                  <a:solidFill>
                    <a:srgbClr val="1B2733"/>
                  </a:solidFill>
                  <a:latin typeface="Calibri"/>
                </a:rPr>
                <a:t>enabled instant settlement in the session</a:t>
              </a:r>
            </a:p>
          </p:txBody>
        </p:sp>
      </p:grpSp>
      <p:grpSp>
        <p:nvGrpSpPr>
          <p:cNvPr id="19" name="limits"/>
          <p:cNvGrpSpPr/>
          <p:nvPr/>
        </p:nvGrpSpPr>
        <p:grpSpPr>
          <a:xfrm>
            <a:off x="548640" y="4114800"/>
            <a:ext cx="11091672" cy="1143000"/>
            <a:chOff x="548640" y="4114800"/>
            <a:chExt cx="11091672" cy="1143000"/>
          </a:xfrm>
        </p:grpSpPr>
        <p:sp>
          <p:nvSpPr>
            <p:cNvPr id="20" name="VAL_ctx"/>
            <p:cNvSpPr/>
            <p:nvPr/>
          </p:nvSpPr>
          <p:spPr>
            <a:xfrm>
              <a:off x="548640" y="4114800"/>
              <a:ext cx="6035040" cy="114300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1000" b="1" i="0">
                  <a:solidFill>
                    <a:srgbClr val="5B6B7C"/>
                  </a:solidFill>
                  <a:latin typeface="Calibri"/>
                </a:rPr>
                <a:t>CONTEXT</a:t>
              </a:r>
            </a:p>
            <a:p>
              <a:pPr algn="l">
                <a:spcBef>
                  <a:spcPts val="200"/>
                </a:spcBef>
              </a:pPr>
              <a:r>
                <a:rPr sz="1200" b="0" i="0">
                  <a:solidFill>
                    <a:srgbClr val="1B2733"/>
                  </a:solidFill>
                  <a:latin typeface="Calibri"/>
                </a:rPr>
                <a:t>Used instant settlement in the last month: </a:t>
              </a:r>
              <a:r>
                <a:rPr sz="1200" b="1" i="0">
                  <a:solidFill>
                    <a:srgbClr val="D6249F"/>
                  </a:solidFill>
                  <a:latin typeface="Calibri"/>
                </a:rPr>
                <a:t>[__%]</a:t>
              </a:r>
            </a:p>
            <a:p>
              <a:pPr algn="l">
                <a:spcBef>
                  <a:spcPts val="200"/>
                </a:spcBef>
              </a:pPr>
              <a:r>
                <a:rPr sz="1200" b="0" i="0">
                  <a:solidFill>
                    <a:srgbClr val="1B2733"/>
                  </a:solidFill>
                  <a:latin typeface="Calibri"/>
                </a:rPr>
                <a:t>Settlement: </a:t>
              </a:r>
              <a:r>
                <a:rPr sz="1200" b="1" i="0">
                  <a:solidFill>
                    <a:srgbClr val="D6249F"/>
                  </a:solidFill>
                  <a:latin typeface="Calibri"/>
                </a:rPr>
                <a:t>[__ same day / __ next day / __ separate account]</a:t>
              </a:r>
            </a:p>
            <a:p>
              <a:pPr algn="l">
                <a:spcBef>
                  <a:spcPts val="200"/>
                </a:spcBef>
              </a:pPr>
              <a:r>
                <a:rPr sz="1200" b="0" i="0">
                  <a:solidFill>
                    <a:srgbClr val="1B2733"/>
                  </a:solidFill>
                  <a:latin typeface="Calibri"/>
                </a:rPr>
                <a:t>Top objections: </a:t>
              </a:r>
              <a:r>
                <a:rPr sz="1200" b="1" i="0">
                  <a:solidFill>
                    <a:srgbClr val="D6249F"/>
                  </a:solidFill>
                  <a:latin typeface="Calibri"/>
                </a:rPr>
                <a:t>[Trust __ · Habit __ · Supplier __ · Staff __]</a:t>
              </a:r>
            </a:p>
          </p:txBody>
        </p:sp>
        <p:sp>
          <p:nvSpPr>
            <p:cNvPr id="21" name="VAL_limits"/>
            <p:cNvSpPr/>
            <p:nvPr/>
          </p:nvSpPr>
          <p:spPr>
            <a:xfrm>
              <a:off x="6720840" y="4114800"/>
              <a:ext cx="4919472" cy="114300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1000" b="1" i="0">
                  <a:solidFill>
                    <a:srgbClr val="5B6B7C"/>
                  </a:solidFill>
                  <a:latin typeface="Calibri"/>
                </a:rPr>
                <a:t>LIMITS OF THIS EVIDENCE</a:t>
              </a:r>
            </a:p>
            <a:p>
              <a:pPr algn="l">
                <a:spcBef>
                  <a:spcPts val="200"/>
                </a:spcBef>
              </a:pPr>
              <a:r>
                <a:rPr sz="1200" b="0" i="0">
                  <a:solidFill>
                    <a:srgbClr val="1B2733"/>
                  </a:solidFill>
                  <a:latin typeface="Calibri"/>
                </a:rPr>
                <a:t>Small, non-random sample from our own networks</a:t>
              </a:r>
            </a:p>
            <a:p>
              <a:pPr algn="l">
                <a:spcBef>
                  <a:spcPts val="200"/>
                </a:spcBef>
              </a:pPr>
              <a:r>
                <a:rPr sz="1200" b="0" i="0">
                  <a:solidFill>
                    <a:srgbClr val="1B2733"/>
                  </a:solidFill>
                  <a:latin typeface="Calibri"/>
                </a:rPr>
                <a:t>Concept prototype: no live money movement</a:t>
              </a:r>
            </a:p>
            <a:p>
              <a:pPr algn="l">
                <a:spcBef>
                  <a:spcPts val="200"/>
                </a:spcBef>
              </a:pPr>
              <a:r>
                <a:rPr sz="1200" b="0" i="0">
                  <a:solidFill>
                    <a:srgbClr val="1B2733"/>
                  </a:solidFill>
                  <a:latin typeface="Calibri"/>
                </a:rPr>
                <a:t>Stated answers marked; only observed actions count as 'did'</a:t>
              </a:r>
            </a:p>
          </p:txBody>
        </p:sp>
      </p:grpSp>
      <p:sp>
        <p:nvSpPr>
          <p:cNvPr id="22" name="VAL_context_evidence"/>
          <p:cNvSpPr/>
          <p:nvPr/>
        </p:nvSpPr>
        <p:spPr>
          <a:xfrm>
            <a:off x="548640" y="5376672"/>
            <a:ext cx="11091672" cy="749808"/>
          </a:xfrm>
          <a:prstGeom prst="roundRect">
            <a:avLst>
              <a:gd name="adj" fmla="val 6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28016" rIns="128016" tIns="128016" bIns="128016">
            <a:noAutofit/>
          </a:bodyPr>
          <a:lstStyle/>
          <a:p>
            <a:pPr algn="l"/>
            <a:r>
              <a:rPr sz="1000" b="1" i="0">
                <a:solidFill>
                  <a:srgbClr val="5B6B7C"/>
                </a:solidFill>
                <a:latin typeface="Calibri"/>
              </a:rPr>
              <a:t>SEPARATE FROM THE ≥20-USER TEST (CONTEXT ONLY)   </a:t>
            </a:r>
          </a:p>
          <a:p>
            <a:pPr algn="l">
              <a:spcBef>
                <a:spcPts val="200"/>
              </a:spcBef>
            </a:pPr>
            <a:r>
              <a:rPr sz="1200" b="1" i="0">
                <a:solidFill>
                  <a:srgbClr val="1B2733"/>
                </a:solidFill>
                <a:latin typeface="Calibri"/>
              </a:rPr>
              <a:t>50-row VOC dataset: </a:t>
            </a:r>
            <a:r>
              <a:rPr sz="1200" b="0" i="0">
                <a:solidFill>
                  <a:srgbClr val="1B2733"/>
                </a:solidFill>
                <a:latin typeface="Calibri"/>
              </a:rPr>
              <a:t>synthetic, for hypothesis stress-testing only, not field research. </a:t>
            </a:r>
            <a:r>
              <a:rPr sz="1200" b="1" i="0">
                <a:solidFill>
                  <a:srgbClr val="1B2733"/>
                </a:solidFill>
                <a:latin typeface="Calibri"/>
              </a:rPr>
              <a:t>Exploratory merchant conversations: </a:t>
            </a:r>
            <a:r>
              <a:rPr sz="1200" b="0" i="0">
                <a:solidFill>
                  <a:srgbClr val="1B2733"/>
                </a:solidFill>
                <a:latin typeface="Calibri"/>
              </a:rPr>
              <a:t>genuine, exploratory, </a:t>
            </a:r>
            <a:r>
              <a:rPr sz="1200" b="1" i="0">
                <a:solidFill>
                  <a:srgbClr val="D6249F"/>
                </a:solidFill>
                <a:latin typeface="Calibri"/>
              </a:rPr>
              <a:t>n = [__]</a:t>
            </a:r>
            <a:r>
              <a:rPr sz="1200" b="0" i="0">
                <a:solidFill>
                  <a:srgbClr val="1B2733"/>
                </a:solidFill>
                <a:latin typeface="Calibri"/>
              </a:rPr>
              <a:t> (pharmacy, café, FMCG retailer, tractor dealer, a routine vendor-UPI payer).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grpId="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grpId="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DESIGN &amp; FEASIBILITY</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002E6E"/>
                </a:solidFill>
                <a:latin typeface="Calibri"/>
              </a:rPr>
              <a:t>Every leg exists today; the work is joining them, rated small to large, with four open dependencies</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Sources: S3 app listing (instant settlement; no payer feature); S13 instant settlement since 2018; S14 UPI on current accounts; S10, S11 RBI payout rule. Effort: S = weeks, M = 1–3 months, L = 3+ months (team estimate). Owners are proposed functions.</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11</a:t>
            </a:r>
          </a:p>
        </p:txBody>
      </p:sp>
      <p:grpSp>
        <p:nvGrpSpPr>
          <p:cNvPr id="7" name="mhead"/>
          <p:cNvGrpSpPr/>
          <p:nvPr/>
        </p:nvGrpSpPr>
        <p:grpSpPr>
          <a:xfrm>
            <a:off x="548640" y="1691640"/>
            <a:ext cx="11055095" cy="329184"/>
            <a:chOff x="548640" y="1691640"/>
            <a:chExt cx="11055095" cy="329184"/>
          </a:xfrm>
        </p:grpSpPr>
        <p:sp>
          <p:nvSpPr>
            <p:cNvPr id="8" name="Rectangle 7"/>
            <p:cNvSpPr/>
            <p:nvPr/>
          </p:nvSpPr>
          <p:spPr>
            <a:xfrm>
              <a:off x="548640" y="1691640"/>
              <a:ext cx="2066543" cy="329184"/>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FFFFFF"/>
                  </a:solidFill>
                  <a:latin typeface="Calibri"/>
                </a:rPr>
                <a:t>Component</a:t>
              </a:r>
            </a:p>
          </p:txBody>
        </p:sp>
        <p:sp>
          <p:nvSpPr>
            <p:cNvPr id="9" name="Rectangle 8"/>
            <p:cNvSpPr/>
            <p:nvPr/>
          </p:nvSpPr>
          <p:spPr>
            <a:xfrm>
              <a:off x="2651760" y="1691640"/>
              <a:ext cx="2203704" cy="329184"/>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FFFFFF"/>
                  </a:solidFill>
                  <a:latin typeface="Calibri"/>
                </a:rPr>
                <a:t>Exists today in Paytm</a:t>
              </a:r>
            </a:p>
          </p:txBody>
        </p:sp>
        <p:sp>
          <p:nvSpPr>
            <p:cNvPr id="10" name="Rectangle 9"/>
            <p:cNvSpPr/>
            <p:nvPr/>
          </p:nvSpPr>
          <p:spPr>
            <a:xfrm>
              <a:off x="4892040" y="1691640"/>
              <a:ext cx="2478024" cy="329184"/>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FFFFFF"/>
                  </a:solidFill>
                  <a:latin typeface="Calibri"/>
                </a:rPr>
                <a:t>New build</a:t>
              </a:r>
            </a:p>
          </p:txBody>
        </p:sp>
        <p:sp>
          <p:nvSpPr>
            <p:cNvPr id="11" name="Rectangle 10"/>
            <p:cNvSpPr/>
            <p:nvPr/>
          </p:nvSpPr>
          <p:spPr>
            <a:xfrm>
              <a:off x="7406640" y="1691640"/>
              <a:ext cx="2432304" cy="329184"/>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FFFFFF"/>
                  </a:solidFill>
                  <a:latin typeface="Calibri"/>
                </a:rPr>
                <a:t>Open dependency</a:t>
              </a:r>
            </a:p>
          </p:txBody>
        </p:sp>
        <p:sp>
          <p:nvSpPr>
            <p:cNvPr id="12" name="Rectangle 11"/>
            <p:cNvSpPr/>
            <p:nvPr/>
          </p:nvSpPr>
          <p:spPr>
            <a:xfrm>
              <a:off x="9875520" y="1691640"/>
              <a:ext cx="649224" cy="329184"/>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FFFFFF"/>
                  </a:solidFill>
                  <a:latin typeface="Calibri"/>
                </a:rPr>
                <a:t>Effort</a:t>
              </a:r>
            </a:p>
          </p:txBody>
        </p:sp>
        <p:sp>
          <p:nvSpPr>
            <p:cNvPr id="13" name="Rectangle 12"/>
            <p:cNvSpPr/>
            <p:nvPr/>
          </p:nvSpPr>
          <p:spPr>
            <a:xfrm>
              <a:off x="10561320" y="1691640"/>
              <a:ext cx="1042415" cy="329184"/>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FFFFFF"/>
                  </a:solidFill>
                  <a:latin typeface="Calibri"/>
                </a:rPr>
                <a:t>Owner</a:t>
              </a:r>
            </a:p>
          </p:txBody>
        </p:sp>
      </p:grpSp>
      <p:grpSp>
        <p:nvGrpSpPr>
          <p:cNvPr id="14" name="mrow1"/>
          <p:cNvGrpSpPr/>
          <p:nvPr/>
        </p:nvGrpSpPr>
        <p:grpSpPr>
          <a:xfrm>
            <a:off x="548640" y="2057400"/>
            <a:ext cx="11055095" cy="521207"/>
            <a:chOff x="548640" y="2057400"/>
            <a:chExt cx="11055095" cy="521207"/>
          </a:xfrm>
        </p:grpSpPr>
        <p:sp>
          <p:nvSpPr>
            <p:cNvPr id="15" name="Rectangle 14"/>
            <p:cNvSpPr/>
            <p:nvPr/>
          </p:nvSpPr>
          <p:spPr>
            <a:xfrm>
              <a:off x="548640" y="2057400"/>
              <a:ext cx="2066543"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002E6E"/>
                  </a:solidFill>
                  <a:latin typeface="Calibri"/>
                </a:rPr>
                <a:t>Collections screen</a:t>
              </a:r>
            </a:p>
          </p:txBody>
        </p:sp>
        <p:sp>
          <p:nvSpPr>
            <p:cNvPr id="16" name="Rectangle 15"/>
            <p:cNvSpPr/>
            <p:nvPr/>
          </p:nvSpPr>
          <p:spPr>
            <a:xfrm>
              <a:off x="2651760" y="2057400"/>
              <a:ext cx="220370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Paytm for Business collections and alerts</a:t>
              </a:r>
            </a:p>
          </p:txBody>
        </p:sp>
        <p:sp>
          <p:nvSpPr>
            <p:cNvPr id="17" name="Rectangle 16"/>
            <p:cNvSpPr/>
            <p:nvPr/>
          </p:nvSpPr>
          <p:spPr>
            <a:xfrm>
              <a:off x="4892040" y="2057400"/>
              <a:ext cx="247802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'Pay supplier' button and prompt</a:t>
              </a:r>
            </a:p>
          </p:txBody>
        </p:sp>
        <p:sp>
          <p:nvSpPr>
            <p:cNvPr id="18" name="Rectangle 17"/>
            <p:cNvSpPr/>
            <p:nvPr/>
          </p:nvSpPr>
          <p:spPr>
            <a:xfrm>
              <a:off x="7406640" y="2057400"/>
              <a:ext cx="243230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a:t>
              </a:r>
            </a:p>
          </p:txBody>
        </p:sp>
        <p:sp>
          <p:nvSpPr>
            <p:cNvPr id="19" name="Rectangle 18"/>
            <p:cNvSpPr/>
            <p:nvPr/>
          </p:nvSpPr>
          <p:spPr>
            <a:xfrm>
              <a:off x="9875520" y="2057400"/>
              <a:ext cx="64922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ctr"/>
              <a:r>
                <a:rPr sz="1200" b="1" i="0">
                  <a:solidFill>
                    <a:srgbClr val="1B2733"/>
                  </a:solidFill>
                  <a:latin typeface="Calibri"/>
                </a:rPr>
                <a:t>S</a:t>
              </a:r>
            </a:p>
          </p:txBody>
        </p:sp>
        <p:sp>
          <p:nvSpPr>
            <p:cNvPr id="20" name="Rectangle 19"/>
            <p:cNvSpPr/>
            <p:nvPr/>
          </p:nvSpPr>
          <p:spPr>
            <a:xfrm>
              <a:off x="10561320" y="2057400"/>
              <a:ext cx="1042415"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Merchant app</a:t>
              </a:r>
            </a:p>
          </p:txBody>
        </p:sp>
      </p:grpSp>
      <p:grpSp>
        <p:nvGrpSpPr>
          <p:cNvPr id="21" name="mrow2"/>
          <p:cNvGrpSpPr/>
          <p:nvPr/>
        </p:nvGrpSpPr>
        <p:grpSpPr>
          <a:xfrm>
            <a:off x="548640" y="2606040"/>
            <a:ext cx="11055095" cy="521207"/>
            <a:chOff x="548640" y="2606040"/>
            <a:chExt cx="11055095" cy="521207"/>
          </a:xfrm>
        </p:grpSpPr>
        <p:sp>
          <p:nvSpPr>
            <p:cNvPr id="22" name="Rectangle 21"/>
            <p:cNvSpPr/>
            <p:nvPr/>
          </p:nvSpPr>
          <p:spPr>
            <a:xfrm>
              <a:off x="548640" y="2606040"/>
              <a:ext cx="2066543"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002E6E"/>
                  </a:solidFill>
                  <a:latin typeface="Calibri"/>
                </a:rPr>
                <a:t>Early settlement</a:t>
              </a:r>
            </a:p>
          </p:txBody>
        </p:sp>
        <p:sp>
          <p:nvSpPr>
            <p:cNvPr id="23" name="Rectangle 22"/>
            <p:cNvSpPr/>
            <p:nvPr/>
          </p:nvSpPr>
          <p:spPr>
            <a:xfrm>
              <a:off x="2651760" y="2606040"/>
              <a:ext cx="220370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Manual instant settlement in the app</a:t>
              </a:r>
            </a:p>
          </p:txBody>
        </p:sp>
        <p:sp>
          <p:nvSpPr>
            <p:cNvPr id="24" name="Rectangle 23"/>
            <p:cNvSpPr/>
            <p:nvPr/>
          </p:nvSpPr>
          <p:spPr>
            <a:xfrm>
              <a:off x="4892040" y="2606040"/>
              <a:ext cx="247802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Settle the exact amount; waive the fee when it funds a supplier</a:t>
              </a:r>
            </a:p>
          </p:txBody>
        </p:sp>
        <p:sp>
          <p:nvSpPr>
            <p:cNvPr id="25" name="Rectangle 24"/>
            <p:cNvSpPr/>
            <p:nvPr/>
          </p:nvSpPr>
          <p:spPr>
            <a:xfrm>
              <a:off x="7406640" y="2606040"/>
              <a:ext cx="243230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C62828"/>
                  </a:solidFill>
                  <a:latin typeface="Calibri"/>
                </a:rPr>
                <a:t>◆ Compliance: conditional free pricing; received funds only</a:t>
              </a:r>
            </a:p>
          </p:txBody>
        </p:sp>
        <p:sp>
          <p:nvSpPr>
            <p:cNvPr id="26" name="Rectangle 25"/>
            <p:cNvSpPr/>
            <p:nvPr/>
          </p:nvSpPr>
          <p:spPr>
            <a:xfrm>
              <a:off x="9875520" y="2606040"/>
              <a:ext cx="64922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ctr"/>
              <a:r>
                <a:rPr sz="1200" b="1" i="0">
                  <a:solidFill>
                    <a:srgbClr val="1B2733"/>
                  </a:solidFill>
                  <a:latin typeface="Calibri"/>
                </a:rPr>
                <a:t>S</a:t>
              </a:r>
            </a:p>
          </p:txBody>
        </p:sp>
        <p:sp>
          <p:nvSpPr>
            <p:cNvPr id="27" name="Rectangle 26"/>
            <p:cNvSpPr/>
            <p:nvPr/>
          </p:nvSpPr>
          <p:spPr>
            <a:xfrm>
              <a:off x="10561320" y="2606040"/>
              <a:ext cx="1042415"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Settlement, compliance</a:t>
              </a:r>
            </a:p>
          </p:txBody>
        </p:sp>
      </p:grpSp>
      <p:grpSp>
        <p:nvGrpSpPr>
          <p:cNvPr id="28" name="mrow3"/>
          <p:cNvGrpSpPr/>
          <p:nvPr/>
        </p:nvGrpSpPr>
        <p:grpSpPr>
          <a:xfrm>
            <a:off x="548640" y="3154680"/>
            <a:ext cx="11055095" cy="521207"/>
            <a:chOff x="548640" y="3154680"/>
            <a:chExt cx="11055095" cy="521207"/>
          </a:xfrm>
        </p:grpSpPr>
        <p:sp>
          <p:nvSpPr>
            <p:cNvPr id="29" name="Rectangle 28"/>
            <p:cNvSpPr/>
            <p:nvPr/>
          </p:nvSpPr>
          <p:spPr>
            <a:xfrm>
              <a:off x="548640" y="3154680"/>
              <a:ext cx="2066543"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002E6E"/>
                  </a:solidFill>
                  <a:latin typeface="Calibri"/>
                </a:rPr>
                <a:t>Supplier payment</a:t>
              </a:r>
            </a:p>
          </p:txBody>
        </p:sp>
        <p:sp>
          <p:nvSpPr>
            <p:cNvPr id="30" name="Rectangle 29"/>
            <p:cNvSpPr/>
            <p:nvPr/>
          </p:nvSpPr>
          <p:spPr>
            <a:xfrm>
              <a:off x="2651760" y="3154680"/>
              <a:ext cx="220370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UPI payer flow, name check, QR scan in Paytm UPI app</a:t>
              </a:r>
            </a:p>
          </p:txBody>
        </p:sp>
        <p:sp>
          <p:nvSpPr>
            <p:cNvPr id="31" name="Rectangle 30"/>
            <p:cNvSpPr/>
            <p:nvPr/>
          </p:nvSpPr>
          <p:spPr>
            <a:xfrm>
              <a:off x="4892040" y="3154680"/>
              <a:ext cx="247802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Pilot: hand-off, payee prefilled. Scale: payer flow inside Paytm for Business</a:t>
              </a:r>
            </a:p>
          </p:txBody>
        </p:sp>
        <p:sp>
          <p:nvSpPr>
            <p:cNvPr id="32" name="Rectangle 31"/>
            <p:cNvSpPr/>
            <p:nvPr/>
          </p:nvSpPr>
          <p:spPr>
            <a:xfrm>
              <a:off x="7406640" y="3154680"/>
              <a:ext cx="243230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C62828"/>
                  </a:solidFill>
                  <a:latin typeface="Calibri"/>
                </a:rPr>
                <a:t>◆ Banks: UPI on settlement current accounts</a:t>
              </a:r>
            </a:p>
          </p:txBody>
        </p:sp>
        <p:sp>
          <p:nvSpPr>
            <p:cNvPr id="33" name="Rectangle 32"/>
            <p:cNvSpPr/>
            <p:nvPr/>
          </p:nvSpPr>
          <p:spPr>
            <a:xfrm>
              <a:off x="9875520" y="3154680"/>
              <a:ext cx="64922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ctr"/>
              <a:r>
                <a:rPr sz="1200" b="1" i="0">
                  <a:solidFill>
                    <a:srgbClr val="1B2733"/>
                  </a:solidFill>
                  <a:latin typeface="Calibri"/>
                </a:rPr>
                <a:t>S → M/L</a:t>
              </a:r>
            </a:p>
          </p:txBody>
        </p:sp>
        <p:sp>
          <p:nvSpPr>
            <p:cNvPr id="34" name="Rectangle 33"/>
            <p:cNvSpPr/>
            <p:nvPr/>
          </p:nvSpPr>
          <p:spPr>
            <a:xfrm>
              <a:off x="10561320" y="3154680"/>
              <a:ext cx="1042415"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Payments eng.</a:t>
              </a:r>
            </a:p>
          </p:txBody>
        </p:sp>
      </p:grpSp>
      <p:grpSp>
        <p:nvGrpSpPr>
          <p:cNvPr id="35" name="mrow4"/>
          <p:cNvGrpSpPr/>
          <p:nvPr/>
        </p:nvGrpSpPr>
        <p:grpSpPr>
          <a:xfrm>
            <a:off x="548640" y="3703320"/>
            <a:ext cx="11055095" cy="521207"/>
            <a:chOff x="548640" y="3703320"/>
            <a:chExt cx="11055095" cy="521207"/>
          </a:xfrm>
        </p:grpSpPr>
        <p:sp>
          <p:nvSpPr>
            <p:cNvPr id="36" name="Rectangle 35"/>
            <p:cNvSpPr/>
            <p:nvPr/>
          </p:nvSpPr>
          <p:spPr>
            <a:xfrm>
              <a:off x="548640" y="3703320"/>
              <a:ext cx="2066543"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002E6E"/>
                  </a:solidFill>
                  <a:latin typeface="Calibri"/>
                </a:rPr>
                <a:t>One-PIN sequencing</a:t>
              </a:r>
            </a:p>
          </p:txBody>
        </p:sp>
        <p:sp>
          <p:nvSpPr>
            <p:cNvPr id="37" name="Rectangle 36"/>
            <p:cNvSpPr/>
            <p:nvPr/>
          </p:nvSpPr>
          <p:spPr>
            <a:xfrm>
              <a:off x="2651760" y="3703320"/>
              <a:ext cx="220370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Settlement needs no UPI PIN</a:t>
              </a:r>
            </a:p>
          </p:txBody>
        </p:sp>
        <p:sp>
          <p:nvSpPr>
            <p:cNvPr id="38" name="Rectangle 37"/>
            <p:cNvSpPr/>
            <p:nvPr/>
          </p:nvSpPr>
          <p:spPr>
            <a:xfrm>
              <a:off x="4892040" y="3703320"/>
              <a:ext cx="247802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Wait for the settlement credit, then pay</a:t>
              </a:r>
            </a:p>
          </p:txBody>
        </p:sp>
        <p:sp>
          <p:nvSpPr>
            <p:cNvPr id="39" name="Rectangle 38"/>
            <p:cNvSpPr/>
            <p:nvPr/>
          </p:nvSpPr>
          <p:spPr>
            <a:xfrm>
              <a:off x="7406640" y="3703320"/>
              <a:ext cx="243230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C62828"/>
                  </a:solidFill>
                  <a:latin typeface="Calibri"/>
                </a:rPr>
                <a:t>◆ Settlement-to-credit time by bank</a:t>
              </a:r>
            </a:p>
          </p:txBody>
        </p:sp>
        <p:sp>
          <p:nvSpPr>
            <p:cNvPr id="40" name="Rectangle 39"/>
            <p:cNvSpPr/>
            <p:nvPr/>
          </p:nvSpPr>
          <p:spPr>
            <a:xfrm>
              <a:off x="9875520" y="3703320"/>
              <a:ext cx="64922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ctr"/>
              <a:r>
                <a:rPr sz="1200" b="1" i="0">
                  <a:solidFill>
                    <a:srgbClr val="1B2733"/>
                  </a:solidFill>
                  <a:latin typeface="Calibri"/>
                </a:rPr>
                <a:t>M</a:t>
              </a:r>
            </a:p>
          </p:txBody>
        </p:sp>
        <p:sp>
          <p:nvSpPr>
            <p:cNvPr id="41" name="Rectangle 40"/>
            <p:cNvSpPr/>
            <p:nvPr/>
          </p:nvSpPr>
          <p:spPr>
            <a:xfrm>
              <a:off x="10561320" y="3703320"/>
              <a:ext cx="1042415"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Payments eng.</a:t>
              </a:r>
            </a:p>
          </p:txBody>
        </p:sp>
      </p:grpSp>
      <p:grpSp>
        <p:nvGrpSpPr>
          <p:cNvPr id="42" name="mrow5"/>
          <p:cNvGrpSpPr/>
          <p:nvPr/>
        </p:nvGrpSpPr>
        <p:grpSpPr>
          <a:xfrm>
            <a:off x="548640" y="4251960"/>
            <a:ext cx="11055095" cy="521207"/>
            <a:chOff x="548640" y="4251960"/>
            <a:chExt cx="11055095" cy="521207"/>
          </a:xfrm>
        </p:grpSpPr>
        <p:sp>
          <p:nvSpPr>
            <p:cNvPr id="43" name="Rectangle 42"/>
            <p:cNvSpPr/>
            <p:nvPr/>
          </p:nvSpPr>
          <p:spPr>
            <a:xfrm>
              <a:off x="548640" y="4251960"/>
              <a:ext cx="2066543"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002E6E"/>
                  </a:solidFill>
                  <a:latin typeface="Calibri"/>
                </a:rPr>
                <a:t>Eligible list</a:t>
              </a:r>
            </a:p>
          </p:txBody>
        </p:sp>
        <p:sp>
          <p:nvSpPr>
            <p:cNvPr id="44" name="Rectangle 43"/>
            <p:cNvSpPr/>
            <p:nvPr/>
          </p:nvSpPr>
          <p:spPr>
            <a:xfrm>
              <a:off x="2651760" y="4251960"/>
              <a:ext cx="220370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Settlement cycle and account data</a:t>
              </a:r>
            </a:p>
          </p:txBody>
        </p:sp>
        <p:sp>
          <p:nvSpPr>
            <p:cNvPr id="45" name="Rectangle 44"/>
            <p:cNvSpPr/>
            <p:nvPr/>
          </p:nvSpPr>
          <p:spPr>
            <a:xfrm>
              <a:off x="4892040" y="4251960"/>
              <a:ext cx="247802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Extraction; territory randomisation</a:t>
              </a:r>
            </a:p>
          </p:txBody>
        </p:sp>
        <p:sp>
          <p:nvSpPr>
            <p:cNvPr id="46" name="Rectangle 45"/>
            <p:cNvSpPr/>
            <p:nvPr/>
          </p:nvSpPr>
          <p:spPr>
            <a:xfrm>
              <a:off x="7406640" y="4251960"/>
              <a:ext cx="243230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C62828"/>
                  </a:solidFill>
                  <a:latin typeface="Calibri"/>
                </a:rPr>
                <a:t>◆ Instant settlement live for all device merchants?</a:t>
              </a:r>
            </a:p>
          </p:txBody>
        </p:sp>
        <p:sp>
          <p:nvSpPr>
            <p:cNvPr id="47" name="Rectangle 46"/>
            <p:cNvSpPr/>
            <p:nvPr/>
          </p:nvSpPr>
          <p:spPr>
            <a:xfrm>
              <a:off x="9875520" y="4251960"/>
              <a:ext cx="64922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ctr"/>
              <a:r>
                <a:rPr sz="1200" b="1" i="0">
                  <a:solidFill>
                    <a:srgbClr val="1B2733"/>
                  </a:solidFill>
                  <a:latin typeface="Calibri"/>
                </a:rPr>
                <a:t>S</a:t>
              </a:r>
            </a:p>
          </p:txBody>
        </p:sp>
        <p:sp>
          <p:nvSpPr>
            <p:cNvPr id="48" name="Rectangle 47"/>
            <p:cNvSpPr/>
            <p:nvPr/>
          </p:nvSpPr>
          <p:spPr>
            <a:xfrm>
              <a:off x="10561320" y="4251960"/>
              <a:ext cx="1042415"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Data, field ops</a:t>
              </a:r>
            </a:p>
          </p:txBody>
        </p:sp>
      </p:grpSp>
      <p:grpSp>
        <p:nvGrpSpPr>
          <p:cNvPr id="49" name="mrow6"/>
          <p:cNvGrpSpPr/>
          <p:nvPr/>
        </p:nvGrpSpPr>
        <p:grpSpPr>
          <a:xfrm>
            <a:off x="548640" y="4800600"/>
            <a:ext cx="11055095" cy="521207"/>
            <a:chOff x="548640" y="4800600"/>
            <a:chExt cx="11055095" cy="521207"/>
          </a:xfrm>
        </p:grpSpPr>
        <p:sp>
          <p:nvSpPr>
            <p:cNvPr id="50" name="Rectangle 49"/>
            <p:cNvSpPr/>
            <p:nvPr/>
          </p:nvSpPr>
          <p:spPr>
            <a:xfrm>
              <a:off x="548640" y="4800600"/>
              <a:ext cx="2066543"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002E6E"/>
                  </a:solidFill>
                  <a:latin typeface="Calibri"/>
                </a:rPr>
                <a:t>Habit loop</a:t>
              </a:r>
            </a:p>
          </p:txBody>
        </p:sp>
        <p:sp>
          <p:nvSpPr>
            <p:cNvPr id="51" name="Rectangle 50"/>
            <p:cNvSpPr/>
            <p:nvPr/>
          </p:nvSpPr>
          <p:spPr>
            <a:xfrm>
              <a:off x="2651760" y="4800600"/>
              <a:ext cx="220370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Push notifications, settlement notices</a:t>
              </a:r>
            </a:p>
          </p:txBody>
        </p:sp>
        <p:sp>
          <p:nvSpPr>
            <p:cNvPr id="52" name="Rectangle 51"/>
            <p:cNvSpPr/>
            <p:nvPr/>
          </p:nvSpPr>
          <p:spPr>
            <a:xfrm>
              <a:off x="4892040" y="4800600"/>
              <a:ext cx="247802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Morning prompt; 'paid to suppliers' line</a:t>
              </a:r>
            </a:p>
          </p:txBody>
        </p:sp>
        <p:sp>
          <p:nvSpPr>
            <p:cNvPr id="53" name="Rectangle 52"/>
            <p:cNvSpPr/>
            <p:nvPr/>
          </p:nvSpPr>
          <p:spPr>
            <a:xfrm>
              <a:off x="7406640" y="4800600"/>
              <a:ext cx="243230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a:t>
              </a:r>
            </a:p>
          </p:txBody>
        </p:sp>
        <p:sp>
          <p:nvSpPr>
            <p:cNvPr id="54" name="Rectangle 53"/>
            <p:cNvSpPr/>
            <p:nvPr/>
          </p:nvSpPr>
          <p:spPr>
            <a:xfrm>
              <a:off x="9875520" y="4800600"/>
              <a:ext cx="64922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ctr"/>
              <a:r>
                <a:rPr sz="1200" b="1" i="0">
                  <a:solidFill>
                    <a:srgbClr val="1B2733"/>
                  </a:solidFill>
                  <a:latin typeface="Calibri"/>
                </a:rPr>
                <a:t>S</a:t>
              </a:r>
            </a:p>
          </p:txBody>
        </p:sp>
        <p:sp>
          <p:nvSpPr>
            <p:cNvPr id="55" name="Rectangle 54"/>
            <p:cNvSpPr/>
            <p:nvPr/>
          </p:nvSpPr>
          <p:spPr>
            <a:xfrm>
              <a:off x="10561320" y="4800600"/>
              <a:ext cx="1042415"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Growth</a:t>
              </a:r>
            </a:p>
          </p:txBody>
        </p:sp>
      </p:grpSp>
      <p:grpSp>
        <p:nvGrpSpPr>
          <p:cNvPr id="56" name="mrow7"/>
          <p:cNvGrpSpPr/>
          <p:nvPr/>
        </p:nvGrpSpPr>
        <p:grpSpPr>
          <a:xfrm>
            <a:off x="548640" y="5349240"/>
            <a:ext cx="11055095" cy="521207"/>
            <a:chOff x="548640" y="5349240"/>
            <a:chExt cx="11055095" cy="521207"/>
          </a:xfrm>
        </p:grpSpPr>
        <p:sp>
          <p:nvSpPr>
            <p:cNvPr id="57" name="Rectangle 56"/>
            <p:cNvSpPr/>
            <p:nvPr/>
          </p:nvSpPr>
          <p:spPr>
            <a:xfrm>
              <a:off x="548640" y="5349240"/>
              <a:ext cx="2066543"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1" i="0">
                  <a:solidFill>
                    <a:srgbClr val="002E6E"/>
                  </a:solidFill>
                  <a:latin typeface="Calibri"/>
                </a:rPr>
                <a:t>Staff access (arm B)</a:t>
              </a:r>
            </a:p>
          </p:txBody>
        </p:sp>
        <p:sp>
          <p:nvSpPr>
            <p:cNvPr id="58" name="Rectangle 57"/>
            <p:cNvSpPr/>
            <p:nvPr/>
          </p:nvSpPr>
          <p:spPr>
            <a:xfrm>
              <a:off x="2651760" y="5349240"/>
              <a:ext cx="220370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a:t>
              </a:r>
            </a:p>
          </p:txBody>
        </p:sp>
        <p:sp>
          <p:nvSpPr>
            <p:cNvPr id="59" name="Rectangle 58"/>
            <p:cNvSpPr/>
            <p:nvPr/>
          </p:nvSpPr>
          <p:spPr>
            <a:xfrm>
              <a:off x="4892040" y="5349240"/>
              <a:ext cx="247802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Per-person limits, owner visibility</a:t>
              </a:r>
            </a:p>
          </p:txBody>
        </p:sp>
        <p:sp>
          <p:nvSpPr>
            <p:cNvPr id="60" name="Rectangle 59"/>
            <p:cNvSpPr/>
            <p:nvPr/>
          </p:nvSpPr>
          <p:spPr>
            <a:xfrm>
              <a:off x="7406640" y="5349240"/>
              <a:ext cx="243230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NPCI delegated-payment limits</a:t>
              </a:r>
            </a:p>
          </p:txBody>
        </p:sp>
        <p:sp>
          <p:nvSpPr>
            <p:cNvPr id="61" name="Rectangle 60"/>
            <p:cNvSpPr/>
            <p:nvPr/>
          </p:nvSpPr>
          <p:spPr>
            <a:xfrm>
              <a:off x="9875520" y="5349240"/>
              <a:ext cx="649224"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ctr"/>
              <a:r>
                <a:rPr sz="1200" b="1" i="0">
                  <a:solidFill>
                    <a:srgbClr val="1B2733"/>
                  </a:solidFill>
                  <a:latin typeface="Calibri"/>
                </a:rPr>
                <a:t>M</a:t>
              </a:r>
            </a:p>
          </p:txBody>
        </p:sp>
        <p:sp>
          <p:nvSpPr>
            <p:cNvPr id="62" name="Rectangle 61"/>
            <p:cNvSpPr/>
            <p:nvPr/>
          </p:nvSpPr>
          <p:spPr>
            <a:xfrm>
              <a:off x="10561320" y="5349240"/>
              <a:ext cx="1042415" cy="521207"/>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54864" rIns="54864" tIns="54864" bIns="54864">
              <a:noAutofit/>
            </a:bodyPr>
            <a:lstStyle/>
            <a:p>
              <a:pPr algn="l"/>
              <a:r>
                <a:rPr sz="1200" b="0" i="0">
                  <a:solidFill>
                    <a:srgbClr val="1B2733"/>
                  </a:solidFill>
                  <a:latin typeface="Calibri"/>
                </a:rPr>
                <a:t>Product</a:t>
              </a:r>
            </a:p>
          </p:txBody>
        </p:sp>
      </p:grpSp>
      <p:sp>
        <p:nvSpPr>
          <p:cNvPr id="63" name="feas_summary"/>
          <p:cNvSpPr/>
          <p:nvPr/>
        </p:nvSpPr>
        <p:spPr>
          <a:xfrm>
            <a:off x="548640" y="5943600"/>
            <a:ext cx="11091672" cy="347472"/>
          </a:xfrm>
          <a:prstGeom prst="roundRect">
            <a:avLst>
              <a:gd name="adj" fmla="val 30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ctr"/>
            <a:r>
              <a:rPr sz="1200" b="1" i="0">
                <a:solidFill>
                  <a:srgbClr val="002E6E"/>
                </a:solidFill>
                <a:latin typeface="Calibri"/>
              </a:rPr>
              <a:t>Pilot build: S (weeks)   ·   Scale build: M–L, the full in-app payer flow, only after the scale gate   ·   </a:t>
            </a:r>
            <a:r>
              <a:rPr sz="1200" b="1" i="0">
                <a:solidFill>
                  <a:srgbClr val="C62828"/>
                </a:solidFill>
                <a:latin typeface="Calibri"/>
              </a:rPr>
              <a:t>◆ = one of four open dependencies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grpId="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childTnLst>
                          </p:cTn>
                        </p:par>
                        <p:par>
                          <p:cTn id="8" fill="hold">
                            <p:stCondLst>
                              <p:cond delay="450"/>
                            </p:stCondLst>
                            <p:childTnLst>
                              <p:par>
                                <p:cTn id="9" presetID="10" presetClass="entr" presetSubtype="0" grpId="0" fill="hold" nodeType="afterEffect">
                                  <p:stCondLst>
                                    <p:cond delay="6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300"/>
                                        <p:tgtEl>
                                          <p:spTgt spid="21"/>
                                        </p:tgtEl>
                                      </p:cBhvr>
                                    </p:animEffect>
                                  </p:childTnLst>
                                </p:cTn>
                              </p:par>
                            </p:childTnLst>
                          </p:cTn>
                        </p:par>
                        <p:par>
                          <p:cTn id="12" fill="hold">
                            <p:stCondLst>
                              <p:cond delay="810"/>
                            </p:stCondLst>
                            <p:childTnLst>
                              <p:par>
                                <p:cTn id="13" presetID="10" presetClass="entr" presetSubtype="0" grpId="0" fill="hold" nodeType="afterEffect">
                                  <p:stCondLst>
                                    <p:cond delay="6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300"/>
                                        <p:tgtEl>
                                          <p:spTgt spid="28"/>
                                        </p:tgtEl>
                                      </p:cBhvr>
                                    </p:animEffect>
                                  </p:childTnLst>
                                </p:cTn>
                              </p:par>
                            </p:childTnLst>
                          </p:cTn>
                        </p:par>
                        <p:par>
                          <p:cTn id="16" fill="hold">
                            <p:stCondLst>
                              <p:cond delay="1170"/>
                            </p:stCondLst>
                            <p:childTnLst>
                              <p:par>
                                <p:cTn id="17" presetID="10" presetClass="entr" presetSubtype="0" grpId="0" fill="hold" nodeType="afterEffect">
                                  <p:stCondLst>
                                    <p:cond delay="6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300"/>
                                        <p:tgtEl>
                                          <p:spTgt spid="35"/>
                                        </p:tgtEl>
                                      </p:cBhvr>
                                    </p:animEffect>
                                  </p:childTnLst>
                                </p:cTn>
                              </p:par>
                            </p:childTnLst>
                          </p:cTn>
                        </p:par>
                        <p:par>
                          <p:cTn id="20" fill="hold">
                            <p:stCondLst>
                              <p:cond delay="1530"/>
                            </p:stCondLst>
                            <p:childTnLst>
                              <p:par>
                                <p:cTn id="21" presetID="10" presetClass="entr" presetSubtype="0" grpId="0" fill="hold" nodeType="afterEffect">
                                  <p:stCondLst>
                                    <p:cond delay="6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300"/>
                                        <p:tgtEl>
                                          <p:spTgt spid="42"/>
                                        </p:tgtEl>
                                      </p:cBhvr>
                                    </p:animEffect>
                                  </p:childTnLst>
                                </p:cTn>
                              </p:par>
                            </p:childTnLst>
                          </p:cTn>
                        </p:par>
                        <p:par>
                          <p:cTn id="24" fill="hold">
                            <p:stCondLst>
                              <p:cond delay="1890"/>
                            </p:stCondLst>
                            <p:childTnLst>
                              <p:par>
                                <p:cTn id="25" presetID="10" presetClass="entr" presetSubtype="0" grpId="0" fill="hold" nodeType="afterEffect">
                                  <p:stCondLst>
                                    <p:cond delay="60"/>
                                  </p:stCondLst>
                                  <p:childTnLst>
                                    <p:set>
                                      <p:cBhvr>
                                        <p:cTn id="26" dur="1" fill="hold">
                                          <p:stCondLst>
                                            <p:cond delay="0"/>
                                          </p:stCondLst>
                                        </p:cTn>
                                        <p:tgtEl>
                                          <p:spTgt spid="49"/>
                                        </p:tgtEl>
                                        <p:attrNameLst>
                                          <p:attrName>style.visibility</p:attrName>
                                        </p:attrNameLst>
                                      </p:cBhvr>
                                      <p:to>
                                        <p:strVal val="visible"/>
                                      </p:to>
                                    </p:set>
                                    <p:animEffect transition="in" filter="fade">
                                      <p:cBhvr>
                                        <p:cTn id="27" dur="300"/>
                                        <p:tgtEl>
                                          <p:spTgt spid="49"/>
                                        </p:tgtEl>
                                      </p:cBhvr>
                                    </p:animEffect>
                                  </p:childTnLst>
                                </p:cTn>
                              </p:par>
                            </p:childTnLst>
                          </p:cTn>
                        </p:par>
                        <p:par>
                          <p:cTn id="28" fill="hold">
                            <p:stCondLst>
                              <p:cond delay="2250"/>
                            </p:stCondLst>
                            <p:childTnLst>
                              <p:par>
                                <p:cTn id="29" presetID="10" presetClass="entr" presetSubtype="0" grpId="0" fill="hold" nodeType="afterEffect">
                                  <p:stCondLst>
                                    <p:cond delay="60"/>
                                  </p:stCondLst>
                                  <p:childTnLst>
                                    <p:set>
                                      <p:cBhvr>
                                        <p:cTn id="30" dur="1" fill="hold">
                                          <p:stCondLst>
                                            <p:cond delay="0"/>
                                          </p:stCondLst>
                                        </p:cTn>
                                        <p:tgtEl>
                                          <p:spTgt spid="56"/>
                                        </p:tgtEl>
                                        <p:attrNameLst>
                                          <p:attrName>style.visibility</p:attrName>
                                        </p:attrNameLst>
                                      </p:cBhvr>
                                      <p:to>
                                        <p:strVal val="visible"/>
                                      </p:to>
                                    </p:set>
                                    <p:animEffect transition="in" filter="fade">
                                      <p:cBhvr>
                                        <p:cTn id="31" dur="300"/>
                                        <p:tgtEl>
                                          <p:spTgt spid="5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grpId="0" fill="hold" nodeType="clickEffect">
                                  <p:stCondLst>
                                    <p:cond delay="0"/>
                                  </p:stCondLst>
                                  <p:childTnLst>
                                    <p:set>
                                      <p:cBhvr>
                                        <p:cTn id="35" dur="1" fill="hold">
                                          <p:stCondLst>
                                            <p:cond delay="0"/>
                                          </p:stCondLst>
                                        </p:cTn>
                                        <p:tgtEl>
                                          <p:spTgt spid="63"/>
                                        </p:tgtEl>
                                        <p:attrNameLst>
                                          <p:attrName>style.visibility</p:attrName>
                                        </p:attrNameLst>
                                      </p:cBhvr>
                                      <p:to>
                                        <p:strVal val="visible"/>
                                      </p:to>
                                    </p:set>
                                    <p:animEffect transition="in" filter="fade">
                                      <p:cBhvr>
                                        <p:cTn id="36" dur="45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GO-TO-MARKET</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002E6E"/>
                </a:solidFill>
                <a:latin typeface="Calibri"/>
              </a:rPr>
              <a:t>Paytm can reach, activate and retain this segment through channels it already controls</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Targets are hypotheses from the model (annexure A5) and will be replaced by pilot results. Messages are draft Hinglish lines; comparative claims need brand and legal approval.</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12</a:t>
            </a:r>
          </a:p>
        </p:txBody>
      </p:sp>
      <p:sp>
        <p:nvSpPr>
          <p:cNvPr id="7" name="Rounded Rectangle 6"/>
          <p:cNvSpPr/>
          <p:nvPr/>
        </p:nvSpPr>
        <p:spPr>
          <a:xfrm>
            <a:off x="548640" y="1664208"/>
            <a:ext cx="11091672" cy="457200"/>
          </a:xfrm>
          <a:prstGeom prst="roundRect">
            <a:avLst>
              <a:gd name="adj" fmla="val 20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109728" bIns="109728">
            <a:noAutofit/>
          </a:bodyPr>
          <a:lstStyle/>
          <a:p>
            <a:pPr algn="l"/>
            <a:r>
              <a:rPr sz="1100" b="1" i="0">
                <a:solidFill>
                  <a:srgbClr val="0077B6"/>
                </a:solidFill>
                <a:latin typeface="Calibri"/>
              </a:rPr>
              <a:t>SEGMENT  </a:t>
            </a:r>
            <a:r>
              <a:rPr sz="1200" b="0" i="0">
                <a:solidFill>
                  <a:srgbClr val="1B2733"/>
                </a:solidFill>
                <a:latin typeface="Calibri"/>
              </a:rPr>
              <a:t>Group 1 merchants found in Paytm settlement data: next-day or separate-account settlement, weekly vendor UPI, a stated friction. Start in two cities with dense Soundbox coverage.</a:t>
            </a:r>
          </a:p>
        </p:txBody>
      </p:sp>
      <p:sp>
        <p:nvSpPr>
          <p:cNvPr id="8" name="TextBox 7"/>
          <p:cNvSpPr txBox="1"/>
          <p:nvPr/>
        </p:nvSpPr>
        <p:spPr>
          <a:xfrm>
            <a:off x="2971800" y="2240280"/>
            <a:ext cx="2697480" cy="256032"/>
          </a:xfrm>
          <a:prstGeom prst="rect">
            <a:avLst/>
          </a:prstGeom>
          <a:noFill/>
        </p:spPr>
        <p:txBody>
          <a:bodyPr wrap="square" lIns="36576" rIns="36576" tIns="36576" bIns="36576" anchor="t">
            <a:noAutofit/>
          </a:bodyPr>
          <a:lstStyle/>
          <a:p>
            <a:pPr algn="l"/>
            <a:r>
              <a:rPr sz="1000" b="1" i="0">
                <a:solidFill>
                  <a:srgbClr val="5B6B7C"/>
                </a:solidFill>
                <a:latin typeface="Calibri"/>
              </a:rPr>
              <a:t>CHANNEL AND PARTNER</a:t>
            </a:r>
          </a:p>
        </p:txBody>
      </p:sp>
      <p:sp>
        <p:nvSpPr>
          <p:cNvPr id="9" name="TextBox 8"/>
          <p:cNvSpPr txBox="1"/>
          <p:nvPr/>
        </p:nvSpPr>
        <p:spPr>
          <a:xfrm>
            <a:off x="5806440" y="2240280"/>
            <a:ext cx="2880360" cy="256032"/>
          </a:xfrm>
          <a:prstGeom prst="rect">
            <a:avLst/>
          </a:prstGeom>
          <a:noFill/>
        </p:spPr>
        <p:txBody>
          <a:bodyPr wrap="square" lIns="36576" rIns="36576" tIns="36576" bIns="36576" anchor="t">
            <a:noAutofit/>
          </a:bodyPr>
          <a:lstStyle/>
          <a:p>
            <a:pPr algn="l"/>
            <a:r>
              <a:rPr sz="1000" b="1" i="0">
                <a:solidFill>
                  <a:srgbClr val="5B6B7C"/>
                </a:solidFill>
                <a:latin typeface="Calibri"/>
              </a:rPr>
              <a:t>MESSAGE</a:t>
            </a:r>
          </a:p>
        </p:txBody>
      </p:sp>
      <p:sp>
        <p:nvSpPr>
          <p:cNvPr id="10" name="TextBox 9"/>
          <p:cNvSpPr txBox="1"/>
          <p:nvPr/>
        </p:nvSpPr>
        <p:spPr>
          <a:xfrm>
            <a:off x="8823960" y="2240280"/>
            <a:ext cx="2816352" cy="256032"/>
          </a:xfrm>
          <a:prstGeom prst="rect">
            <a:avLst/>
          </a:prstGeom>
          <a:noFill/>
        </p:spPr>
        <p:txBody>
          <a:bodyPr wrap="square" lIns="36576" rIns="36576" tIns="36576" bIns="36576" anchor="t">
            <a:noAutofit/>
          </a:bodyPr>
          <a:lstStyle/>
          <a:p>
            <a:pPr algn="l"/>
            <a:r>
              <a:rPr sz="1000" b="1" i="0">
                <a:solidFill>
                  <a:srgbClr val="5B6B7C"/>
                </a:solidFill>
                <a:latin typeface="Calibri"/>
              </a:rPr>
              <a:t>METRIC (HYPOTHESIS)</a:t>
            </a:r>
          </a:p>
        </p:txBody>
      </p:sp>
      <p:grpSp>
        <p:nvGrpSpPr>
          <p:cNvPr id="11" name="stage1"/>
          <p:cNvGrpSpPr/>
          <p:nvPr/>
        </p:nvGrpSpPr>
        <p:grpSpPr>
          <a:xfrm>
            <a:off x="548640" y="2560320"/>
            <a:ext cx="11091672" cy="841248"/>
            <a:chOff x="548640" y="2560320"/>
            <a:chExt cx="11091672" cy="841248"/>
          </a:xfrm>
        </p:grpSpPr>
        <p:sp>
          <p:nvSpPr>
            <p:cNvPr id="12" name="Rounded Rectangle 11"/>
            <p:cNvSpPr/>
            <p:nvPr/>
          </p:nvSpPr>
          <p:spPr>
            <a:xfrm>
              <a:off x="548640" y="2560320"/>
              <a:ext cx="2331720" cy="841248"/>
            </a:xfrm>
            <a:prstGeom prst="roundRect">
              <a:avLst>
                <a:gd name="adj" fmla="val 12000"/>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400" b="1" i="0">
                  <a:solidFill>
                    <a:srgbClr val="002E6E"/>
                  </a:solidFill>
                  <a:latin typeface="Calibri"/>
                </a:rPr>
                <a:t>ACQUIRE</a:t>
              </a:r>
            </a:p>
          </p:txBody>
        </p:sp>
        <p:sp>
          <p:nvSpPr>
            <p:cNvPr id="13" name="Rectangle 12"/>
            <p:cNvSpPr/>
            <p:nvPr/>
          </p:nvSpPr>
          <p:spPr>
            <a:xfrm>
              <a:off x="2971800" y="2560320"/>
              <a:ext cx="2697480" cy="841248"/>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0" i="0">
                  <a:solidFill>
                    <a:srgbClr val="1B2733"/>
                  </a:solidFill>
                  <a:latin typeface="Calibri"/>
                </a:rPr>
                <a:t>Soundbox field force visits a list built from settlement data; banner on the collections screen</a:t>
              </a:r>
            </a:p>
          </p:txBody>
        </p:sp>
        <p:sp>
          <p:nvSpPr>
            <p:cNvPr id="14" name="Rectangle 13"/>
            <p:cNvSpPr/>
            <p:nvPr/>
          </p:nvSpPr>
          <p:spPr>
            <a:xfrm>
              <a:off x="5806440" y="2560320"/>
              <a:ext cx="2880360" cy="841248"/>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1">
                  <a:solidFill>
                    <a:srgbClr val="002E6E"/>
                  </a:solidFill>
                  <a:latin typeface="Calibri"/>
                </a:rPr>
                <a:t>“Aaj ki collection se aaj ka supplier, bina charge.”</a:t>
              </a:r>
            </a:p>
            <a:p>
              <a:pPr algn="l"/>
              <a:r>
                <a:rPr sz="1100" b="0" i="0">
                  <a:solidFill>
                    <a:srgbClr val="5B6B7C"/>
                  </a:solidFill>
                  <a:latin typeface="Calibri"/>
                </a:rPr>
                <a:t>Today's collections, today's supplier, no charge</a:t>
              </a:r>
            </a:p>
          </p:txBody>
        </p:sp>
        <p:sp>
          <p:nvSpPr>
            <p:cNvPr id="15" name="Rectangle 14"/>
            <p:cNvSpPr/>
            <p:nvPr/>
          </p:nvSpPr>
          <p:spPr>
            <a:xfrm>
              <a:off x="8823960" y="2560320"/>
              <a:ext cx="2816352" cy="841248"/>
            </a:xfrm>
            <a:prstGeom prst="rect">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0">
                  <a:solidFill>
                    <a:srgbClr val="1B2733"/>
                  </a:solidFill>
                  <a:latin typeface="Calibri"/>
                </a:rPr>
                <a:t>Exposure: 40% of eligible in year one</a:t>
              </a:r>
            </a:p>
          </p:txBody>
        </p:sp>
      </p:grpSp>
      <p:grpSp>
        <p:nvGrpSpPr>
          <p:cNvPr id="16" name="stage2"/>
          <p:cNvGrpSpPr/>
          <p:nvPr/>
        </p:nvGrpSpPr>
        <p:grpSpPr>
          <a:xfrm>
            <a:off x="708659" y="3493008"/>
            <a:ext cx="10931653" cy="841248"/>
            <a:chOff x="708659" y="3493008"/>
            <a:chExt cx="10931653" cy="841248"/>
          </a:xfrm>
        </p:grpSpPr>
        <p:sp>
          <p:nvSpPr>
            <p:cNvPr id="17" name="Rounded Rectangle 16"/>
            <p:cNvSpPr/>
            <p:nvPr/>
          </p:nvSpPr>
          <p:spPr>
            <a:xfrm>
              <a:off x="708659" y="3493008"/>
              <a:ext cx="2011680" cy="841248"/>
            </a:xfrm>
            <a:prstGeom prst="roundRect">
              <a:avLst>
                <a:gd name="adj" fmla="val 12000"/>
              </a:avLst>
            </a:prstGeom>
            <a:solidFill>
              <a:srgbClr val="1D4F9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400" b="1" i="0">
                  <a:solidFill>
                    <a:srgbClr val="FFFFFF"/>
                  </a:solidFill>
                  <a:latin typeface="Calibri"/>
                </a:rPr>
                <a:t>ACTIVATE</a:t>
              </a:r>
            </a:p>
          </p:txBody>
        </p:sp>
        <p:sp>
          <p:nvSpPr>
            <p:cNvPr id="18" name="Rectangle 17"/>
            <p:cNvSpPr/>
            <p:nvPr/>
          </p:nvSpPr>
          <p:spPr>
            <a:xfrm>
              <a:off x="2971800" y="3493008"/>
              <a:ext cx="2697480" cy="841248"/>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0" i="0">
                  <a:solidFill>
                    <a:srgbClr val="1B2733"/>
                  </a:solidFill>
                  <a:latin typeface="Calibri"/>
                </a:rPr>
                <a:t>First payment made together during the visit; prompt at the moment of payment</a:t>
              </a:r>
            </a:p>
          </p:txBody>
        </p:sp>
        <p:sp>
          <p:nvSpPr>
            <p:cNvPr id="19" name="Rectangle 18"/>
            <p:cNvSpPr/>
            <p:nvPr/>
          </p:nvSpPr>
          <p:spPr>
            <a:xfrm>
              <a:off x="5806440" y="3493008"/>
              <a:ext cx="2880360" cy="841248"/>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1">
                  <a:solidFill>
                    <a:srgbClr val="002E6E"/>
                  </a:solidFill>
                  <a:latin typeface="Calibri"/>
                </a:rPr>
                <a:t>“Personal UPI wahi rahega.”</a:t>
              </a:r>
            </a:p>
            <a:p>
              <a:pPr algn="l"/>
              <a:r>
                <a:rPr sz="1100" b="0" i="0">
                  <a:solidFill>
                    <a:srgbClr val="5B6B7C"/>
                  </a:solidFill>
                  <a:latin typeface="Calibri"/>
                </a:rPr>
                <a:t>Your personal UPI stays as it is</a:t>
              </a:r>
            </a:p>
          </p:txBody>
        </p:sp>
        <p:sp>
          <p:nvSpPr>
            <p:cNvPr id="20" name="Rectangle 19"/>
            <p:cNvSpPr/>
            <p:nvPr/>
          </p:nvSpPr>
          <p:spPr>
            <a:xfrm>
              <a:off x="8823960" y="3493008"/>
              <a:ext cx="2816352" cy="841248"/>
            </a:xfrm>
            <a:prstGeom prst="rect">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0">
                  <a:solidFill>
                    <a:srgbClr val="1B2733"/>
                  </a:solidFill>
                  <a:latin typeface="Calibri"/>
                </a:rPr>
                <a:t>First Settle &amp; Pay payment within 30 days: 15–25%</a:t>
              </a:r>
            </a:p>
          </p:txBody>
        </p:sp>
      </p:grpSp>
      <p:grpSp>
        <p:nvGrpSpPr>
          <p:cNvPr id="21" name="stage3"/>
          <p:cNvGrpSpPr/>
          <p:nvPr/>
        </p:nvGrpSpPr>
        <p:grpSpPr>
          <a:xfrm>
            <a:off x="868679" y="4425696"/>
            <a:ext cx="10771633" cy="841248"/>
            <a:chOff x="868679" y="4425696"/>
            <a:chExt cx="10771633" cy="841248"/>
          </a:xfrm>
        </p:grpSpPr>
        <p:sp>
          <p:nvSpPr>
            <p:cNvPr id="22" name="Rounded Rectangle 21"/>
            <p:cNvSpPr/>
            <p:nvPr/>
          </p:nvSpPr>
          <p:spPr>
            <a:xfrm>
              <a:off x="868679" y="4425696"/>
              <a:ext cx="1691640" cy="841248"/>
            </a:xfrm>
            <a:prstGeom prst="roundRect">
              <a:avLst>
                <a:gd name="adj" fmla="val 12000"/>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400" b="1" i="0">
                  <a:solidFill>
                    <a:srgbClr val="FFFFFF"/>
                  </a:solidFill>
                  <a:latin typeface="Calibri"/>
                </a:rPr>
                <a:t>RETAIN</a:t>
              </a:r>
            </a:p>
          </p:txBody>
        </p:sp>
        <p:sp>
          <p:nvSpPr>
            <p:cNvPr id="23" name="Rectangle 22"/>
            <p:cNvSpPr/>
            <p:nvPr/>
          </p:nvSpPr>
          <p:spPr>
            <a:xfrm>
              <a:off x="2971800" y="4425696"/>
              <a:ext cx="2697480" cy="841248"/>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0" i="0">
                  <a:solidFill>
                    <a:srgbClr val="1B2733"/>
                  </a:solidFill>
                  <a:latin typeface="Calibri"/>
                </a:rPr>
                <a:t>Morning push on yesterday's collections; settlement notice; WhatsApp receipt</a:t>
              </a:r>
            </a:p>
          </p:txBody>
        </p:sp>
        <p:sp>
          <p:nvSpPr>
            <p:cNvPr id="24" name="Rectangle 23"/>
            <p:cNvSpPr/>
            <p:nvPr/>
          </p:nvSpPr>
          <p:spPr>
            <a:xfrm>
              <a:off x="5806440" y="4425696"/>
              <a:ext cx="2880360" cy="841248"/>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1">
                  <a:solidFill>
                    <a:srgbClr val="002E6E"/>
                  </a:solidFill>
                  <a:latin typeface="Calibri"/>
                </a:rPr>
                <a:t>“₹9,250 kal ki collection se supplier ke liye ready.”</a:t>
              </a:r>
            </a:p>
            <a:p>
              <a:pPr algn="l"/>
              <a:r>
                <a:rPr sz="1100" b="0" i="0">
                  <a:solidFill>
                    <a:srgbClr val="5B6B7C"/>
                  </a:solidFill>
                  <a:latin typeface="Calibri"/>
                </a:rPr>
                <a:t>Yesterday's collections are ready for suppliers</a:t>
              </a:r>
            </a:p>
          </p:txBody>
        </p:sp>
        <p:sp>
          <p:nvSpPr>
            <p:cNvPr id="25" name="Rectangle 24"/>
            <p:cNvSpPr/>
            <p:nvPr/>
          </p:nvSpPr>
          <p:spPr>
            <a:xfrm>
              <a:off x="8823960" y="4425696"/>
              <a:ext cx="2816352" cy="841248"/>
            </a:xfrm>
            <a:prstGeom prst="rect">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0">
                  <a:solidFill>
                    <a:srgbClr val="1B2733"/>
                  </a:solidFill>
                  <a:latin typeface="Calibri"/>
                </a:rPr>
                <a:t>2+ payments in months 2 and 3: 50%; habit guard ≥30%</a:t>
              </a:r>
            </a:p>
          </p:txBody>
        </p:sp>
      </p:grpSp>
      <p:sp>
        <p:nvSpPr>
          <p:cNvPr id="26" name="Rounded Rectangle 25"/>
          <p:cNvSpPr/>
          <p:nvPr/>
        </p:nvSpPr>
        <p:spPr>
          <a:xfrm>
            <a:off x="548640" y="5468112"/>
            <a:ext cx="11091672" cy="658368"/>
          </a:xfrm>
          <a:prstGeom prst="roundRect">
            <a:avLst>
              <a:gd name="adj" fmla="val 15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109728" bIns="109728">
            <a:noAutofit/>
          </a:bodyPr>
          <a:lstStyle/>
          <a:p>
            <a:pPr algn="l"/>
            <a:r>
              <a:rPr sz="1100" b="1" i="0">
                <a:solidFill>
                  <a:srgbClr val="0077B6"/>
                </a:solidFill>
                <a:latin typeface="Calibri"/>
              </a:rPr>
              <a:t>PARTNERS AND RULES  </a:t>
            </a:r>
            <a:r>
              <a:rPr sz="1200" b="0" i="0">
                <a:solidFill>
                  <a:srgbClr val="1B2733"/>
                </a:solidFill>
                <a:latin typeface="Calibri"/>
              </a:rPr>
              <a:t>Settlement banks for UPI on current accounts now; billing software (Petpooja, Marg, Vyapar, Tally) as later channels. Field incentives paid on repeat use, not sign-ups. No cashback in any message.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grpId="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grpId="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grpId="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90-DAY PILOT</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002E6E"/>
                </a:solidFill>
                <a:latin typeface="Calibri"/>
              </a:rPr>
              <a:t>A 90-day randomised pilot will tell Paytm whether to scale, fix or stop</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Full design: annexure A4 and workbook 'Pilot_Design'. Targets are hypotheses; gates are decision rules. AA = Account Aggregator consented bank-statement panel. ITT = intention to treat.</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13</a:t>
            </a:r>
          </a:p>
        </p:txBody>
      </p:sp>
      <p:sp>
        <p:nvSpPr>
          <p:cNvPr id="7" name="seg1"/>
          <p:cNvSpPr/>
          <p:nvPr/>
        </p:nvSpPr>
        <p:spPr>
          <a:xfrm>
            <a:off x="548640" y="1691640"/>
            <a:ext cx="1688795" cy="658368"/>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100" b="1" i="0">
                <a:solidFill>
                  <a:srgbClr val="FFFFFF"/>
                </a:solidFill>
                <a:latin typeface="Calibri"/>
              </a:rPr>
              <a:t>DAYS 0–14</a:t>
            </a:r>
          </a:p>
          <a:p>
            <a:pPr algn="l"/>
            <a:r>
              <a:rPr sz="1200" b="0" i="0">
                <a:solidFill>
                  <a:srgbClr val="FFFFFF"/>
                </a:solidFill>
                <a:latin typeface="Calibri"/>
              </a:rPr>
              <a:t>Set up</a:t>
            </a:r>
          </a:p>
        </p:txBody>
      </p:sp>
      <p:sp>
        <p:nvSpPr>
          <p:cNvPr id="8" name="seg2"/>
          <p:cNvSpPr/>
          <p:nvPr/>
        </p:nvSpPr>
        <p:spPr>
          <a:xfrm>
            <a:off x="2274011" y="1691640"/>
            <a:ext cx="1935276" cy="658368"/>
          </a:xfrm>
          <a:prstGeom prst="rect">
            <a:avLst/>
          </a:prstGeom>
          <a:solidFill>
            <a:srgbClr val="0077B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100" b="1" i="0">
                <a:solidFill>
                  <a:srgbClr val="FFFFFF"/>
                </a:solidFill>
                <a:latin typeface="Calibri"/>
              </a:rPr>
              <a:t>DAYS 15–30</a:t>
            </a:r>
          </a:p>
          <a:p>
            <a:pPr algn="l"/>
            <a:r>
              <a:rPr sz="1200" b="0" i="0">
                <a:solidFill>
                  <a:srgbClr val="FFFFFF"/>
                </a:solidFill>
                <a:latin typeface="Calibri"/>
              </a:rPr>
              <a:t>Live + field visits</a:t>
            </a:r>
          </a:p>
        </p:txBody>
      </p:sp>
      <p:sp>
        <p:nvSpPr>
          <p:cNvPr id="9" name="seg3"/>
          <p:cNvSpPr/>
          <p:nvPr/>
        </p:nvSpPr>
        <p:spPr>
          <a:xfrm>
            <a:off x="4245864" y="1691640"/>
            <a:ext cx="3660648" cy="658368"/>
          </a:xfrm>
          <a:prstGeom prst="rect">
            <a:avLst/>
          </a:prstGeom>
          <a:solidFill>
            <a:srgbClr val="1D4F9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100" b="1" i="0">
                <a:solidFill>
                  <a:srgbClr val="FFFFFF"/>
                </a:solidFill>
                <a:latin typeface="Calibri"/>
              </a:rPr>
              <a:t>DAYS 31–60</a:t>
            </a:r>
          </a:p>
          <a:p>
            <a:pPr algn="l"/>
            <a:r>
              <a:rPr sz="1200" b="0" i="0">
                <a:solidFill>
                  <a:srgbClr val="FFFFFF"/>
                </a:solidFill>
                <a:latin typeface="Calibri"/>
              </a:rPr>
              <a:t>Habit: visits end, repeat measured</a:t>
            </a:r>
          </a:p>
        </p:txBody>
      </p:sp>
      <p:sp>
        <p:nvSpPr>
          <p:cNvPr id="10" name="seg4"/>
          <p:cNvSpPr/>
          <p:nvPr/>
        </p:nvSpPr>
        <p:spPr>
          <a:xfrm>
            <a:off x="7943088" y="1691640"/>
            <a:ext cx="3660648" cy="658368"/>
          </a:xfrm>
          <a:prstGeom prst="rect">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3152" rIns="73152" tIns="73152" bIns="73152">
            <a:noAutofit/>
          </a:bodyPr>
          <a:lstStyle/>
          <a:p>
            <a:pPr algn="l"/>
            <a:r>
              <a:rPr sz="1100" b="1" i="0">
                <a:solidFill>
                  <a:srgbClr val="FFFFFF"/>
                </a:solidFill>
                <a:latin typeface="Calibri"/>
              </a:rPr>
              <a:t>DAYS 61–90</a:t>
            </a:r>
          </a:p>
          <a:p>
            <a:pPr algn="l"/>
            <a:r>
              <a:rPr sz="1200" b="0" i="0">
                <a:solidFill>
                  <a:srgbClr val="FFFFFF"/>
                </a:solidFill>
                <a:latin typeface="Calibri"/>
              </a:rPr>
              <a:t>Durability: optional price-reversion sub-arm</a:t>
            </a:r>
          </a:p>
        </p:txBody>
      </p:sp>
      <p:sp>
        <p:nvSpPr>
          <p:cNvPr id="11" name="setup_detail"/>
          <p:cNvSpPr txBox="1"/>
          <p:nvPr/>
        </p:nvSpPr>
        <p:spPr>
          <a:xfrm>
            <a:off x="548640" y="2395728"/>
            <a:ext cx="11091672" cy="457200"/>
          </a:xfrm>
          <a:prstGeom prst="rect">
            <a:avLst/>
          </a:prstGeom>
          <a:noFill/>
        </p:spPr>
        <p:txBody>
          <a:bodyPr wrap="square" lIns="36576" rIns="36576" tIns="36576" bIns="36576" anchor="t">
            <a:noAutofit/>
          </a:bodyPr>
          <a:lstStyle/>
          <a:p>
            <a:pPr algn="l"/>
            <a:r>
              <a:rPr sz="1200" b="1" i="0">
                <a:solidFill>
                  <a:srgbClr val="002E6E"/>
                </a:solidFill>
                <a:latin typeface="Calibri"/>
              </a:rPr>
              <a:t>Days 0–14: </a:t>
            </a:r>
            <a:r>
              <a:rPr sz="1200" b="0" i="0">
                <a:solidFill>
                  <a:srgbClr val="1B2733"/>
                </a:solidFill>
                <a:latin typeface="Calibri"/>
              </a:rPr>
              <a:t>pull settlement data, build the eligible list, randomise by field-agent territory, pull a 60-day baseline, recruit the AA panel, ship the light build (prompt, fee waiver, hand-off to Paytm UPI).</a:t>
            </a:r>
          </a:p>
        </p:txBody>
      </p:sp>
      <p:grpSp>
        <p:nvGrpSpPr>
          <p:cNvPr id="12" name="schematic"/>
          <p:cNvGrpSpPr/>
          <p:nvPr/>
        </p:nvGrpSpPr>
        <p:grpSpPr>
          <a:xfrm>
            <a:off x="548640" y="3017520"/>
            <a:ext cx="5394960" cy="3136392"/>
            <a:chOff x="548640" y="3017520"/>
            <a:chExt cx="5394960" cy="3136392"/>
          </a:xfrm>
        </p:grpSpPr>
        <p:sp>
          <p:nvSpPr>
            <p:cNvPr id="13" name="Rounded Rectangle 12"/>
            <p:cNvSpPr/>
            <p:nvPr/>
          </p:nvSpPr>
          <p:spPr>
            <a:xfrm>
              <a:off x="548640" y="3017520"/>
              <a:ext cx="5394960" cy="457200"/>
            </a:xfrm>
            <a:prstGeom prst="roundRect">
              <a:avLst>
                <a:gd name="adj" fmla="val 20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200" b="1" i="0">
                  <a:solidFill>
                    <a:srgbClr val="002E6E"/>
                  </a:solidFill>
                  <a:latin typeface="Calibri"/>
                </a:rPr>
                <a:t>Eligible list, two cities: next-day or separate-account settlement</a:t>
              </a:r>
            </a:p>
          </p:txBody>
        </p:sp>
        <p:cxnSp>
          <p:nvCxnSpPr>
            <p:cNvPr id="14" name="Connector 13"/>
            <p:cNvCxnSpPr/>
            <p:nvPr/>
          </p:nvCxnSpPr>
          <p:spPr>
            <a:xfrm>
              <a:off x="3246120" y="3474720"/>
              <a:ext cx="0" cy="182880"/>
            </a:xfrm>
            <a:prstGeom prst="line">
              <a:avLst/>
            </a:prstGeom>
            <a:ln w="19050">
              <a:solidFill>
                <a:srgbClr val="5B6B7C"/>
              </a:solidFill>
              <a:tailEnd type="triangle" w="med" len="med"/>
            </a:ln>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1463040" y="3675887"/>
              <a:ext cx="3566160" cy="365760"/>
            </a:xfrm>
            <a:prstGeom prst="roundRect">
              <a:avLst>
                <a:gd name="adj" fmla="val 30000"/>
              </a:avLst>
            </a:prstGeom>
            <a:solidFill>
              <a:srgbClr val="002E6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200" b="1" i="0">
                  <a:solidFill>
                    <a:srgbClr val="FFFFFF"/>
                  </a:solidFill>
                  <a:latin typeface="Calibri"/>
                </a:rPr>
                <a:t>Randomise by field-agent territory</a:t>
              </a:r>
            </a:p>
          </p:txBody>
        </p:sp>
        <p:cxnSp>
          <p:nvCxnSpPr>
            <p:cNvPr id="16" name="Connector 15"/>
            <p:cNvCxnSpPr/>
            <p:nvPr/>
          </p:nvCxnSpPr>
          <p:spPr>
            <a:xfrm flipH="1">
              <a:off x="1783080" y="4041648"/>
              <a:ext cx="594360" cy="182880"/>
            </a:xfrm>
            <a:prstGeom prst="line">
              <a:avLst/>
            </a:prstGeom>
            <a:ln w="19050">
              <a:solidFill>
                <a:srgbClr val="5B6B7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4114800" y="4041648"/>
              <a:ext cx="594360" cy="182880"/>
            </a:xfrm>
            <a:prstGeom prst="line">
              <a:avLst/>
            </a:prstGeom>
            <a:ln w="19050">
              <a:solidFill>
                <a:srgbClr val="5B6B7C"/>
              </a:solidFill>
              <a:tailEnd type="triangle" w="med" len="med"/>
            </a:ln>
          </p:spPr>
          <p:style>
            <a:lnRef idx="2">
              <a:schemeClr val="accent1"/>
            </a:lnRef>
            <a:fillRef idx="0">
              <a:schemeClr val="accent1"/>
            </a:fillRef>
            <a:effectRef idx="0">
              <a:schemeClr val="accent1"/>
            </a:effectRef>
            <a:fontRef idx="minor">
              <a:schemeClr val="tx1"/>
            </a:fontRef>
          </p:style>
        </p:cxnSp>
        <p:sp>
          <p:nvSpPr>
            <p:cNvPr id="18" name="Rounded Rectangle 17"/>
            <p:cNvSpPr/>
            <p:nvPr/>
          </p:nvSpPr>
          <p:spPr>
            <a:xfrm>
              <a:off x="548640" y="4251960"/>
              <a:ext cx="2651760" cy="1097280"/>
            </a:xfrm>
            <a:prstGeom prst="roundRect">
              <a:avLst>
                <a:gd name="adj" fmla="val 8000"/>
              </a:avLst>
            </a:prstGeom>
            <a:solidFill>
              <a:srgbClr val="DCEB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tIns="91440" bIns="91440">
              <a:noAutofit/>
            </a:bodyPr>
            <a:lstStyle/>
            <a:p>
              <a:pPr algn="l"/>
              <a:r>
                <a:rPr sz="1300" b="1" i="0">
                  <a:solidFill>
                    <a:srgbClr val="002E6E"/>
                  </a:solidFill>
                  <a:latin typeface="Calibri"/>
                </a:rPr>
                <a:t>Treatment ≈3,000</a:t>
              </a:r>
            </a:p>
            <a:p>
              <a:pPr algn="l">
                <a:spcBef>
                  <a:spcPts val="200"/>
                </a:spcBef>
              </a:pPr>
              <a:r>
                <a:rPr sz="1200" b="0" i="0">
                  <a:solidFill>
                    <a:srgbClr val="1B2733"/>
                  </a:solidFill>
                  <a:latin typeface="Calibri"/>
                </a:rPr>
                <a:t>Arm A: Settle &amp; Pay, light build</a:t>
              </a:r>
            </a:p>
            <a:p>
              <a:pPr algn="l">
                <a:spcBef>
                  <a:spcPts val="200"/>
                </a:spcBef>
              </a:pPr>
              <a:r>
                <a:rPr sz="1200" b="0" i="0">
                  <a:solidFill>
                    <a:srgbClr val="1B2733"/>
                  </a:solidFill>
                  <a:latin typeface="Calibri"/>
                </a:rPr>
                <a:t>Arm B: + staff access, multi-payer shops</a:t>
              </a:r>
            </a:p>
          </p:txBody>
        </p:sp>
        <p:sp>
          <p:nvSpPr>
            <p:cNvPr id="19" name="Rounded Rectangle 18"/>
            <p:cNvSpPr/>
            <p:nvPr/>
          </p:nvSpPr>
          <p:spPr>
            <a:xfrm>
              <a:off x="3291840" y="4251960"/>
              <a:ext cx="2651760" cy="1097280"/>
            </a:xfrm>
            <a:prstGeom prst="roundRect">
              <a:avLst>
                <a:gd name="adj" fmla="val 8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tIns="91440" bIns="91440">
              <a:noAutofit/>
            </a:bodyPr>
            <a:lstStyle/>
            <a:p>
              <a:pPr algn="l"/>
              <a:r>
                <a:rPr sz="1300" b="1" i="0">
                  <a:solidFill>
                    <a:srgbClr val="002E6E"/>
                  </a:solidFill>
                  <a:latin typeface="Calibri"/>
                </a:rPr>
                <a:t>Control ≈3,000</a:t>
              </a:r>
            </a:p>
            <a:p>
              <a:pPr algn="l">
                <a:spcBef>
                  <a:spcPts val="200"/>
                </a:spcBef>
              </a:pPr>
              <a:r>
                <a:rPr sz="1200" b="0" i="0">
                  <a:solidFill>
                    <a:srgbClr val="1B2733"/>
                  </a:solidFill>
                  <a:latin typeface="Calibri"/>
                </a:rPr>
                <a:t>No prompt, no fee waiver</a:t>
              </a:r>
            </a:p>
            <a:p>
              <a:pPr algn="l">
                <a:spcBef>
                  <a:spcPts val="200"/>
                </a:spcBef>
              </a:pPr>
              <a:r>
                <a:rPr sz="1200" b="0" i="0">
                  <a:solidFill>
                    <a:srgbClr val="1B2733"/>
                  </a:solidFill>
                  <a:latin typeface="Calibri"/>
                </a:rPr>
                <a:t>Same baseline and metrics</a:t>
              </a:r>
            </a:p>
          </p:txBody>
        </p:sp>
        <p:sp>
          <p:nvSpPr>
            <p:cNvPr id="20" name="TextBox 19"/>
            <p:cNvSpPr txBox="1"/>
            <p:nvPr/>
          </p:nvSpPr>
          <p:spPr>
            <a:xfrm>
              <a:off x="548640" y="5440680"/>
              <a:ext cx="5394960" cy="713232"/>
            </a:xfrm>
            <a:prstGeom prst="rect">
              <a:avLst/>
            </a:prstGeom>
            <a:noFill/>
          </p:spPr>
          <p:txBody>
            <a:bodyPr wrap="square" lIns="36576" rIns="36576" tIns="36576" bIns="36576" anchor="t">
              <a:noAutofit/>
            </a:bodyPr>
            <a:lstStyle/>
            <a:p>
              <a:pPr algn="l"/>
              <a:r>
                <a:rPr sz="1200" b="1" i="0">
                  <a:solidFill>
                    <a:srgbClr val="002E6E"/>
                  </a:solidFill>
                  <a:latin typeface="Calibri"/>
                </a:rPr>
                <a:t>Main metric: </a:t>
              </a:r>
              <a:r>
                <a:rPr sz="1200" b="0" i="0">
                  <a:solidFill>
                    <a:srgbClr val="1B2733"/>
                  </a:solidFill>
                  <a:latin typeface="Calibri"/>
                </a:rPr>
                <a:t>ITT change in Paytm share of business UPI value, treatment vs control; target +4 to +6 pts. </a:t>
              </a:r>
              <a:r>
                <a:rPr sz="1200" b="1" i="0">
                  <a:solidFill>
                    <a:srgbClr val="002E6E"/>
                  </a:solidFill>
                  <a:latin typeface="Calibri"/>
                </a:rPr>
                <a:t>Baseline: </a:t>
              </a:r>
              <a:r>
                <a:rPr sz="1200" b="0" i="0">
                  <a:solidFill>
                    <a:srgbClr val="1B2733"/>
                  </a:solidFill>
                  <a:latin typeface="Calibri"/>
                </a:rPr>
                <a:t>60-day pre-period; AA panel ≈300 per arm.</a:t>
              </a:r>
            </a:p>
          </p:txBody>
        </p:sp>
      </p:grpSp>
      <p:grpSp>
        <p:nvGrpSpPr>
          <p:cNvPr id="21" name="gates"/>
          <p:cNvGrpSpPr/>
          <p:nvPr/>
        </p:nvGrpSpPr>
        <p:grpSpPr>
          <a:xfrm>
            <a:off x="6263640" y="3017520"/>
            <a:ext cx="5376672" cy="3154680"/>
            <a:chOff x="6263640" y="3017520"/>
            <a:chExt cx="5376672" cy="3154680"/>
          </a:xfrm>
        </p:grpSpPr>
        <p:sp>
          <p:nvSpPr>
            <p:cNvPr id="22" name="TextBox 21"/>
            <p:cNvSpPr txBox="1"/>
            <p:nvPr/>
          </p:nvSpPr>
          <p:spPr>
            <a:xfrm>
              <a:off x="6263640" y="3017520"/>
              <a:ext cx="5376672" cy="292608"/>
            </a:xfrm>
            <a:prstGeom prst="rect">
              <a:avLst/>
            </a:prstGeom>
            <a:noFill/>
          </p:spPr>
          <p:txBody>
            <a:bodyPr wrap="square" lIns="36576" rIns="36576" tIns="36576" bIns="36576" anchor="t">
              <a:noAutofit/>
            </a:bodyPr>
            <a:lstStyle/>
            <a:p>
              <a:pPr algn="l"/>
              <a:r>
                <a:rPr sz="1000" b="1" i="0">
                  <a:solidFill>
                    <a:srgbClr val="5B6B7C"/>
                  </a:solidFill>
                  <a:latin typeface="Calibri"/>
                </a:rPr>
                <a:t>DECISION GATES AT DAY 90</a:t>
              </a:r>
            </a:p>
          </p:txBody>
        </p:sp>
        <p:sp>
          <p:nvSpPr>
            <p:cNvPr id="23" name="Rounded Rectangle 22"/>
            <p:cNvSpPr/>
            <p:nvPr/>
          </p:nvSpPr>
          <p:spPr>
            <a:xfrm>
              <a:off x="6263640" y="3337560"/>
              <a:ext cx="960120" cy="777240"/>
            </a:xfrm>
            <a:prstGeom prst="roundRect">
              <a:avLst>
                <a:gd name="adj" fmla="val 10000"/>
              </a:avLst>
            </a:prstGeom>
            <a:solidFill>
              <a:srgbClr val="1E8E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200" b="1" i="0">
                  <a:solidFill>
                    <a:srgbClr val="FFFFFF"/>
                  </a:solidFill>
                  <a:latin typeface="Calibri"/>
                </a:rPr>
                <a:t>SCALE</a:t>
              </a:r>
            </a:p>
          </p:txBody>
        </p:sp>
        <p:sp>
          <p:nvSpPr>
            <p:cNvPr id="24" name="Rectangle 23"/>
            <p:cNvSpPr/>
            <p:nvPr/>
          </p:nvSpPr>
          <p:spPr>
            <a:xfrm>
              <a:off x="7296912" y="3337560"/>
              <a:ext cx="4343400" cy="777240"/>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0">
                  <a:solidFill>
                    <a:srgbClr val="1B2733"/>
                  </a:solidFill>
                  <a:latin typeface="Calibri"/>
                </a:rPr>
                <a:t>Activation ≥15%, repeat ≥40% and a significant ITT share lift</a:t>
              </a:r>
            </a:p>
            <a:p>
              <a:pPr algn="l"/>
              <a:r>
                <a:rPr sz="1200" b="0" i="0">
                  <a:solidFill>
                    <a:srgbClr val="5B6B7C"/>
                  </a:solidFill>
                  <a:latin typeface="Calibri"/>
                </a:rPr>
                <a:t>→ Full in-app payer flow (M/L) → all eligible merchants via settlement data → Soundbox waves by city → bank partners</a:t>
              </a:r>
            </a:p>
          </p:txBody>
        </p:sp>
        <p:sp>
          <p:nvSpPr>
            <p:cNvPr id="25" name="Rounded Rectangle 24"/>
            <p:cNvSpPr/>
            <p:nvPr/>
          </p:nvSpPr>
          <p:spPr>
            <a:xfrm>
              <a:off x="6263640" y="4187952"/>
              <a:ext cx="960120" cy="777240"/>
            </a:xfrm>
            <a:prstGeom prst="roundRect">
              <a:avLst>
                <a:gd name="adj" fmla="val 10000"/>
              </a:avLst>
            </a:prstGeom>
            <a:solidFill>
              <a:srgbClr val="F2B20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200" b="1" i="0">
                  <a:solidFill>
                    <a:srgbClr val="1B2733"/>
                  </a:solidFill>
                  <a:latin typeface="Calibri"/>
                </a:rPr>
                <a:t>REVISE</a:t>
              </a:r>
            </a:p>
          </p:txBody>
        </p:sp>
        <p:sp>
          <p:nvSpPr>
            <p:cNvPr id="26" name="Rectangle 25"/>
            <p:cNvSpPr/>
            <p:nvPr/>
          </p:nvSpPr>
          <p:spPr>
            <a:xfrm>
              <a:off x="7296912" y="4187952"/>
              <a:ext cx="4343400" cy="777240"/>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0">
                  <a:solidFill>
                    <a:srgbClr val="1B2733"/>
                  </a:solidFill>
                  <a:latin typeface="Calibri"/>
                </a:rPr>
                <a:t>Activation fine, habit guard &lt;15% (gap-only use)</a:t>
              </a:r>
            </a:p>
            <a:p>
              <a:pPr algn="l"/>
              <a:r>
                <a:rPr sz="1200" b="0" i="0">
                  <a:solidFill>
                    <a:srgbClr val="5B6B7C"/>
                  </a:solidFill>
                  <a:latin typeface="Calibri"/>
                </a:rPr>
                <a:t>→ Reposition on one flow and staff access; strengthen the morning prompt; re-test</a:t>
              </a:r>
            </a:p>
          </p:txBody>
        </p:sp>
        <p:sp>
          <p:nvSpPr>
            <p:cNvPr id="27" name="Rounded Rectangle 26"/>
            <p:cNvSpPr/>
            <p:nvPr/>
          </p:nvSpPr>
          <p:spPr>
            <a:xfrm>
              <a:off x="6263640" y="5038344"/>
              <a:ext cx="960120" cy="777240"/>
            </a:xfrm>
            <a:prstGeom prst="roundRect">
              <a:avLst>
                <a:gd name="adj" fmla="val 10000"/>
              </a:avLst>
            </a:prstGeom>
            <a:solidFill>
              <a:srgbClr val="C6282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rIns="36576" tIns="36576" bIns="36576">
              <a:noAutofit/>
            </a:bodyPr>
            <a:lstStyle/>
            <a:p>
              <a:pPr algn="ctr"/>
              <a:r>
                <a:rPr sz="1200" b="1" i="0">
                  <a:solidFill>
                    <a:srgbClr val="FFFFFF"/>
                  </a:solidFill>
                  <a:latin typeface="Calibri"/>
                </a:rPr>
                <a:t>STOP</a:t>
              </a:r>
            </a:p>
          </p:txBody>
        </p:sp>
        <p:sp>
          <p:nvSpPr>
            <p:cNvPr id="28" name="Rectangle 27"/>
            <p:cNvSpPr/>
            <p:nvPr/>
          </p:nvSpPr>
          <p:spPr>
            <a:xfrm>
              <a:off x="7296912" y="5038344"/>
              <a:ext cx="4343400" cy="777240"/>
            </a:xfrm>
            <a:prstGeom prst="rect">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0">
                  <a:solidFill>
                    <a:srgbClr val="1B2733"/>
                  </a:solidFill>
                  <a:latin typeface="Calibri"/>
                </a:rPr>
                <a:t>Activation &lt;8%</a:t>
              </a:r>
            </a:p>
            <a:p>
              <a:pPr algn="l"/>
              <a:r>
                <a:rPr sz="1200" b="0" i="0">
                  <a:solidFill>
                    <a:srgbClr val="5B6B7C"/>
                  </a:solidFill>
                  <a:latin typeface="Calibri"/>
                </a:rPr>
                <a:t>→ Stop; keep the settlement-awareness learning</a:t>
              </a:r>
            </a:p>
          </p:txBody>
        </p:sp>
        <p:sp>
          <p:nvSpPr>
            <p:cNvPr id="29" name="TextBox 28"/>
            <p:cNvSpPr txBox="1"/>
            <p:nvPr/>
          </p:nvSpPr>
          <p:spPr>
            <a:xfrm>
              <a:off x="6263640" y="5897880"/>
              <a:ext cx="5376672" cy="274320"/>
            </a:xfrm>
            <a:prstGeom prst="rect">
              <a:avLst/>
            </a:prstGeom>
            <a:noFill/>
          </p:spPr>
          <p:txBody>
            <a:bodyPr wrap="square" lIns="36576" rIns="36576" tIns="36576" bIns="36576" anchor="t">
              <a:noAutofit/>
            </a:bodyPr>
            <a:lstStyle/>
            <a:p>
              <a:pPr algn="l"/>
              <a:r>
                <a:rPr sz="1200" b="1" i="0">
                  <a:solidFill>
                    <a:srgbClr val="002E6E"/>
                  </a:solidFill>
                  <a:latin typeface="Calibri"/>
                </a:rPr>
                <a:t>Safety commitment: </a:t>
              </a:r>
              <a:r>
                <a:rPr sz="1200" b="0" i="0">
                  <a:solidFill>
                    <a:srgbClr val="1B2733"/>
                  </a:solidFill>
                  <a:latin typeface="Calibri"/>
                </a:rPr>
                <a:t>wrong-payee payments near zero.</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grpId="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400"/>
                                        <p:tgtEl>
                                          <p:spTgt spid="7"/>
                                        </p:tgtEl>
                                      </p:cBhvr>
                                    </p:animEffect>
                                  </p:childTnLst>
                                </p:cTn>
                              </p:par>
                            </p:childTnLst>
                          </p:cTn>
                        </p:par>
                        <p:par>
                          <p:cTn id="8" fill="hold">
                            <p:stCondLst>
                              <p:cond delay="400"/>
                            </p:stCondLst>
                            <p:childTnLst>
                              <p:par>
                                <p:cTn id="9" presetID="22" presetClass="entr" presetSubtype="8" grpId="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400"/>
                                        <p:tgtEl>
                                          <p:spTgt spid="8"/>
                                        </p:tgtEl>
                                      </p:cBhvr>
                                    </p:animEffect>
                                  </p:childTnLst>
                                </p:cTn>
                              </p:par>
                            </p:childTnLst>
                          </p:cTn>
                        </p:par>
                        <p:par>
                          <p:cTn id="12" fill="hold">
                            <p:stCondLst>
                              <p:cond delay="800"/>
                            </p:stCondLst>
                            <p:childTnLst>
                              <p:par>
                                <p:cTn id="13" presetID="22" presetClass="entr" presetSubtype="8" grpId="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400"/>
                                        <p:tgtEl>
                                          <p:spTgt spid="9"/>
                                        </p:tgtEl>
                                      </p:cBhvr>
                                    </p:animEffect>
                                  </p:childTnLst>
                                </p:cTn>
                              </p:par>
                            </p:childTnLst>
                          </p:cTn>
                        </p:par>
                        <p:par>
                          <p:cTn id="16" fill="hold">
                            <p:stCondLst>
                              <p:cond delay="1200"/>
                            </p:stCondLst>
                            <p:childTnLst>
                              <p:par>
                                <p:cTn id="17" presetID="22" presetClass="entr" presetSubtype="8" grpId="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grpId="0"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BUSINESS IMPACT</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002E6E"/>
                </a:solidFill>
                <a:latin typeface="Calibri"/>
              </a:rPr>
              <a:t>Base case (projection): +1.6 points of Paytm share of segment vendor UPI in year one, ≈₹2,660 crore a year, at ≈₹3,200 per extra active merchant</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Projection, not forecast: annexure workbook Funnel_Model, Share_Metric, Unit_Costs, Sensitivity. Cost per ₹ = year-one cost ÷ annual run-rate GMV; with a 50% year-one ramp it is ≈₹0.023. Pool = addressable vendor UPI, not incremental Paytm GMV.</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14</a:t>
            </a:r>
          </a:p>
        </p:txBody>
      </p:sp>
      <p:sp>
        <p:nvSpPr>
          <p:cNvPr id="7" name="TextBox 6"/>
          <p:cNvSpPr txBox="1"/>
          <p:nvPr/>
        </p:nvSpPr>
        <p:spPr>
          <a:xfrm>
            <a:off x="548640" y="1691640"/>
            <a:ext cx="3749039" cy="274320"/>
          </a:xfrm>
          <a:prstGeom prst="rect">
            <a:avLst/>
          </a:prstGeom>
          <a:noFill/>
        </p:spPr>
        <p:txBody>
          <a:bodyPr wrap="square" lIns="36576" rIns="36576" tIns="36576" bIns="36576" anchor="t">
            <a:noAutofit/>
          </a:bodyPr>
          <a:lstStyle/>
          <a:p>
            <a:pPr algn="l"/>
            <a:r>
              <a:rPr sz="1000" b="1" i="0">
                <a:solidFill>
                  <a:srgbClr val="5B6B7C"/>
                </a:solidFill>
                <a:latin typeface="Calibri"/>
              </a:rPr>
              <a:t>BASE-CASE FUNNEL, MERCHANTS (LAKH)</a:t>
            </a:r>
          </a:p>
        </p:txBody>
      </p:sp>
      <p:sp>
        <p:nvSpPr>
          <p:cNvPr id="8" name="Rounded Rectangle 7"/>
          <p:cNvSpPr/>
          <p:nvPr/>
        </p:nvSpPr>
        <p:spPr>
          <a:xfrm>
            <a:off x="3291840" y="1719072"/>
            <a:ext cx="728186" cy="173736"/>
          </a:xfrm>
          <a:prstGeom prst="roundRect">
            <a:avLst>
              <a:gd name="adj" fmla="val 50000"/>
            </a:avLst>
          </a:prstGeom>
          <a:solidFill>
            <a:srgbClr val="2F6FD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800" b="1" i="0">
                <a:solidFill>
                  <a:srgbClr val="FFFFFF"/>
                </a:solidFill>
                <a:latin typeface="Calibri"/>
              </a:rPr>
              <a:t>PROJECTION</a:t>
            </a:r>
          </a:p>
        </p:txBody>
      </p:sp>
      <p:graphicFrame>
        <p:nvGraphicFramePr>
          <p:cNvPr id="9" name="funnel_chart"/>
          <p:cNvGraphicFramePr>
            <a:graphicFrameLocks noGrp="1"/>
          </p:cNvGraphicFramePr>
          <p:nvPr/>
        </p:nvGraphicFramePr>
        <p:xfrm>
          <a:off x="411480" y="1965960"/>
          <a:ext cx="3977639" cy="2377440"/>
        </p:xfrm>
        <a:graphic>
          <a:graphicData uri="http://schemas.openxmlformats.org/drawingml/2006/chart">
            <c:chart xmlns:c="http://schemas.openxmlformats.org/drawingml/2006/chart" r:id="rId2"/>
          </a:graphicData>
        </a:graphic>
      </p:graphicFrame>
      <p:sp>
        <p:nvSpPr>
          <p:cNvPr id="10" name="Rounded Rectangle 9"/>
          <p:cNvSpPr/>
          <p:nvPr/>
        </p:nvSpPr>
        <p:spPr>
          <a:xfrm>
            <a:off x="548640" y="4434840"/>
            <a:ext cx="3749039" cy="96012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rIns="109728" tIns="109728" bIns="109728">
            <a:noAutofit/>
          </a:bodyPr>
          <a:lstStyle/>
          <a:p>
            <a:pPr algn="l"/>
            <a:r>
              <a:rPr sz="1000" b="1" i="0">
                <a:solidFill>
                  <a:srgbClr val="5B6B7C"/>
                </a:solidFill>
                <a:latin typeface="Calibri"/>
              </a:rPr>
              <a:t>EARLY INDICATORS (PILOT TARGETS)</a:t>
            </a:r>
          </a:p>
          <a:p>
            <a:pPr algn="l">
              <a:spcBef>
                <a:spcPts val="200"/>
              </a:spcBef>
            </a:pPr>
            <a:r>
              <a:rPr sz="1200" b="0" i="0">
                <a:solidFill>
                  <a:srgbClr val="1B2733"/>
                </a:solidFill>
                <a:latin typeface="Calibri"/>
              </a:rPr>
              <a:t>Activation 15–25% · repeat 50% · 6–8 payments a month · habit guard ≥30% · ≈65 MTU per 1,000 exposed</a:t>
            </a:r>
          </a:p>
        </p:txBody>
      </p:sp>
      <p:grpSp>
        <p:nvGrpSpPr>
          <p:cNvPr id="11" name="kpis"/>
          <p:cNvGrpSpPr/>
          <p:nvPr/>
        </p:nvGrpSpPr>
        <p:grpSpPr>
          <a:xfrm>
            <a:off x="4572000" y="1691640"/>
            <a:ext cx="3429000" cy="3666744"/>
            <a:chOff x="4572000" y="1691640"/>
            <a:chExt cx="3429000" cy="3666744"/>
          </a:xfrm>
        </p:grpSpPr>
        <p:sp>
          <p:nvSpPr>
            <p:cNvPr id="12" name="Rounded Rectangle 11"/>
            <p:cNvSpPr/>
            <p:nvPr/>
          </p:nvSpPr>
          <p:spPr>
            <a:xfrm>
              <a:off x="4572000" y="1691640"/>
              <a:ext cx="3429000" cy="1161288"/>
            </a:xfrm>
            <a:prstGeom prst="roundRect">
              <a:avLst>
                <a:gd name="adj" fmla="val 6000"/>
              </a:avLst>
            </a:prstGeom>
            <a:solidFill>
              <a:srgbClr val="EEF5FC"/>
            </a:solidFill>
            <a:ln w="19050">
              <a:solidFill>
                <a:srgbClr val="00BAF2"/>
              </a:solidFill>
            </a:ln>
            <a:effectLst/>
          </p:spPr>
          <p:style>
            <a:lnRef idx="1">
              <a:schemeClr val="accent1"/>
            </a:lnRef>
            <a:fillRef idx="3">
              <a:schemeClr val="accent1"/>
            </a:fillRef>
            <a:effectRef idx="0">
              <a:schemeClr val="accent1"/>
            </a:effectRef>
            <a:fontRef idx="minor">
              <a:schemeClr val="lt1"/>
            </a:fontRef>
          </p:style>
          <p:txBody>
            <a:bodyPr rtlCol="0" anchor="t" wrap="square" lIns="109728" rIns="109728" tIns="109728" bIns="109728">
              <a:noAutofit/>
            </a:bodyPr>
            <a:lstStyle/>
            <a:p>
              <a:pPr algn="l"/>
              <a:r>
                <a:rPr sz="900" b="1" i="0">
                  <a:solidFill>
                    <a:srgbClr val="5B6B7C"/>
                  </a:solidFill>
                  <a:latin typeface="Calibri"/>
                </a:rPr>
                <a:t>MAIN METRIC</a:t>
              </a:r>
            </a:p>
            <a:p>
              <a:pPr algn="l"/>
              <a:r>
                <a:rPr sz="2400" b="1" i="0">
                  <a:solidFill>
                    <a:srgbClr val="0077B6"/>
                  </a:solidFill>
                  <a:latin typeface="Calibri"/>
                </a:rPr>
                <a:t>+1.6 pts</a:t>
              </a:r>
            </a:p>
            <a:p>
              <a:pPr algn="l"/>
              <a:r>
                <a:rPr sz="1200" b="0" i="0">
                  <a:solidFill>
                    <a:srgbClr val="1B2733"/>
                  </a:solidFill>
                  <a:latin typeface="Calibri"/>
                </a:rPr>
                <a:t>Paytm share of segment vendor-UPI value, end of year one (+3.9 pts across exposed merchants)</a:t>
              </a:r>
            </a:p>
          </p:txBody>
        </p:sp>
        <p:sp>
          <p:nvSpPr>
            <p:cNvPr id="13" name="Rounded Rectangle 12"/>
            <p:cNvSpPr/>
            <p:nvPr/>
          </p:nvSpPr>
          <p:spPr>
            <a:xfrm>
              <a:off x="4572000" y="2944368"/>
              <a:ext cx="3429000" cy="1161288"/>
            </a:xfrm>
            <a:prstGeom prst="roundRect">
              <a:avLst>
                <a:gd name="adj" fmla="val 6000"/>
              </a:avLst>
            </a:prstGeom>
            <a:solidFill>
              <a:srgbClr val="FFFFFF"/>
            </a:solidFill>
            <a:ln w="9525">
              <a:solidFill>
                <a:srgbClr val="C9D3DE"/>
              </a:solidFill>
            </a:ln>
            <a:effectLst/>
          </p:spPr>
          <p:style>
            <a:lnRef idx="1">
              <a:schemeClr val="accent1"/>
            </a:lnRef>
            <a:fillRef idx="3">
              <a:schemeClr val="accent1"/>
            </a:fillRef>
            <a:effectRef idx="0">
              <a:schemeClr val="accent1"/>
            </a:effectRef>
            <a:fontRef idx="minor">
              <a:schemeClr val="lt1"/>
            </a:fontRef>
          </p:style>
          <p:txBody>
            <a:bodyPr rtlCol="0" anchor="t" wrap="square" lIns="109728" rIns="109728" tIns="109728" bIns="109728">
              <a:noAutofit/>
            </a:bodyPr>
            <a:lstStyle/>
            <a:p>
              <a:pPr algn="l"/>
              <a:r>
                <a:rPr sz="900" b="1" i="0">
                  <a:solidFill>
                    <a:srgbClr val="5B6B7C"/>
                  </a:solidFill>
                  <a:latin typeface="Calibri"/>
                </a:rPr>
                <a:t>OPPORTUNITY</a:t>
              </a:r>
            </a:p>
            <a:p>
              <a:pPr algn="l"/>
              <a:r>
                <a:rPr sz="2400" b="1" i="0">
                  <a:solidFill>
                    <a:srgbClr val="002E6E"/>
                  </a:solidFill>
                  <a:latin typeface="Calibri"/>
                </a:rPr>
                <a:t>₹2,660 crore</a:t>
              </a:r>
            </a:p>
            <a:p>
              <a:pPr algn="l"/>
              <a:r>
                <a:rPr sz="1200" b="0" i="0">
                  <a:solidFill>
                    <a:srgbClr val="1B2733"/>
                  </a:solidFill>
                  <a:latin typeface="Calibri"/>
                </a:rPr>
                <a:t>annual run-rate; range ₹240–19,400 crore, from a ₹1.7 lakh crore-a-year addressable pool</a:t>
              </a:r>
            </a:p>
          </p:txBody>
        </p:sp>
        <p:sp>
          <p:nvSpPr>
            <p:cNvPr id="14" name="Rounded Rectangle 13"/>
            <p:cNvSpPr/>
            <p:nvPr/>
          </p:nvSpPr>
          <p:spPr>
            <a:xfrm>
              <a:off x="4572000" y="4197096"/>
              <a:ext cx="3429000" cy="1161288"/>
            </a:xfrm>
            <a:prstGeom prst="roundRect">
              <a:avLst>
                <a:gd name="adj" fmla="val 6000"/>
              </a:avLst>
            </a:prstGeom>
            <a:solidFill>
              <a:srgbClr val="FFFFFF"/>
            </a:solidFill>
            <a:ln w="9525">
              <a:solidFill>
                <a:srgbClr val="C9D3DE"/>
              </a:solidFill>
            </a:ln>
            <a:effectLst/>
          </p:spPr>
          <p:style>
            <a:lnRef idx="1">
              <a:schemeClr val="accent1"/>
            </a:lnRef>
            <a:fillRef idx="3">
              <a:schemeClr val="accent1"/>
            </a:fillRef>
            <a:effectRef idx="0">
              <a:schemeClr val="accent1"/>
            </a:effectRef>
            <a:fontRef idx="minor">
              <a:schemeClr val="lt1"/>
            </a:fontRef>
          </p:style>
          <p:txBody>
            <a:bodyPr rtlCol="0" anchor="t" wrap="square" lIns="109728" rIns="109728" tIns="109728" bIns="109728">
              <a:noAutofit/>
            </a:bodyPr>
            <a:lstStyle/>
            <a:p>
              <a:pPr algn="l"/>
              <a:r>
                <a:rPr sz="900" b="1" i="0">
                  <a:solidFill>
                    <a:srgbClr val="5B6B7C"/>
                  </a:solidFill>
                  <a:latin typeface="Calibri"/>
                </a:rPr>
                <a:t>UNIT COST</a:t>
              </a:r>
            </a:p>
            <a:p>
              <a:pPr algn="l"/>
              <a:r>
                <a:rPr sz="2400" b="1" i="0">
                  <a:solidFill>
                    <a:srgbClr val="002E6E"/>
                  </a:solidFill>
                  <a:latin typeface="Calibri"/>
                </a:rPr>
                <a:t>₹3,200</a:t>
              </a:r>
            </a:p>
            <a:p>
              <a:pPr algn="l"/>
              <a:r>
                <a:rPr sz="1200" b="0" i="0">
                  <a:solidFill>
                    <a:srgbClr val="1B2733"/>
                  </a:solidFill>
                  <a:latin typeface="Calibri"/>
                </a:rPr>
                <a:t>per incremental MTU (₹3,900 with build); ₹0.009 per ₹ of GMV (₹0.011 with build)</a:t>
              </a:r>
            </a:p>
          </p:txBody>
        </p:sp>
      </p:grpSp>
      <p:sp>
        <p:nvSpPr>
          <p:cNvPr id="15" name="TextBox 14"/>
          <p:cNvSpPr txBox="1"/>
          <p:nvPr/>
        </p:nvSpPr>
        <p:spPr>
          <a:xfrm>
            <a:off x="8275320" y="1691640"/>
            <a:ext cx="3364992" cy="274320"/>
          </a:xfrm>
          <a:prstGeom prst="rect">
            <a:avLst/>
          </a:prstGeom>
          <a:noFill/>
        </p:spPr>
        <p:txBody>
          <a:bodyPr wrap="square" lIns="36576" rIns="36576" tIns="36576" bIns="36576" anchor="t">
            <a:noAutofit/>
          </a:bodyPr>
          <a:lstStyle/>
          <a:p>
            <a:pPr algn="l"/>
            <a:r>
              <a:rPr sz="1000" b="1" i="0">
                <a:solidFill>
                  <a:srgbClr val="5B6B7C"/>
                </a:solidFill>
                <a:latin typeface="Calibri"/>
              </a:rPr>
              <a:t>SENSITIVITY: ANNUAL RUN-RATE, ₹ CRORE</a:t>
            </a:r>
          </a:p>
        </p:txBody>
      </p:sp>
      <p:graphicFrame>
        <p:nvGraphicFramePr>
          <p:cNvPr id="16" name="sens_chart"/>
          <p:cNvGraphicFramePr>
            <a:graphicFrameLocks noGrp="1"/>
          </p:cNvGraphicFramePr>
          <p:nvPr/>
        </p:nvGraphicFramePr>
        <p:xfrm>
          <a:off x="8138160" y="1965960"/>
          <a:ext cx="3611880" cy="2377440"/>
        </p:xfrm>
        <a:graphic>
          <a:graphicData uri="http://schemas.openxmlformats.org/drawingml/2006/chart">
            <c:chart xmlns:c="http://schemas.openxmlformats.org/drawingml/2006/chart" r:id="rId3"/>
          </a:graphicData>
        </a:graphic>
      </p:graphicFrame>
      <p:sp>
        <p:nvSpPr>
          <p:cNvPr id="17" name="sens_note"/>
          <p:cNvSpPr/>
          <p:nvPr/>
        </p:nvSpPr>
        <p:spPr>
          <a:xfrm>
            <a:off x="8275320" y="4434840"/>
            <a:ext cx="3364992" cy="960120"/>
          </a:xfrm>
          <a:prstGeom prst="roundRect">
            <a:avLst>
              <a:gd name="adj" fmla="val 6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rIns="109728" tIns="109728" bIns="109728">
            <a:noAutofit/>
          </a:bodyPr>
          <a:lstStyle/>
          <a:p>
            <a:pPr algn="l"/>
            <a:r>
              <a:rPr sz="1200" b="0" i="0">
                <a:solidFill>
                  <a:srgbClr val="1B2733"/>
                </a:solidFill>
                <a:latin typeface="Calibri"/>
              </a:rPr>
              <a:t>Each halving halves every output; the floor assumes only gap-day payments move (habit guard 30%).</a:t>
            </a:r>
          </a:p>
        </p:txBody>
      </p:sp>
      <p:sp>
        <p:nvSpPr>
          <p:cNvPr id="18" name="durability"/>
          <p:cNvSpPr/>
          <p:nvPr/>
        </p:nvSpPr>
        <p:spPr>
          <a:xfrm>
            <a:off x="548640" y="5532120"/>
            <a:ext cx="11091672" cy="640080"/>
          </a:xfrm>
          <a:prstGeom prst="roundRect">
            <a:avLst>
              <a:gd name="adj" fmla="val 15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rIns="109728" tIns="109728" bIns="109728">
            <a:noAutofit/>
          </a:bodyPr>
          <a:lstStyle/>
          <a:p>
            <a:pPr algn="l"/>
            <a:r>
              <a:rPr sz="1100" b="1" i="0">
                <a:solidFill>
                  <a:srgbClr val="0077B6"/>
                </a:solidFill>
                <a:latin typeface="Calibri"/>
              </a:rPr>
              <a:t>HOLDS WITHOUT INCENTIVES?  </a:t>
            </a:r>
            <a:r>
              <a:rPr sz="1200" b="0" i="0">
                <a:solidFill>
                  <a:srgbClr val="1B2733"/>
                </a:solidFill>
                <a:latin typeface="Calibri"/>
              </a:rPr>
              <a:t>No cashback: free settlement is permanent pricing, not a promotion. The pilot tests (a) repeat after field visits end, days 31–90; (b) the habit-guard share; (c) an optional price-reversion sub-arm, days 61–90.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grpId="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7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grpId="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grpId="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700"/>
                                        <p:tgtEl>
                                          <p:spTgt spid="16"/>
                                        </p:tgtEl>
                                      </p:cBhvr>
                                    </p:animEffect>
                                  </p:childTnLst>
                                </p:cTn>
                              </p:par>
                            </p:childTnLst>
                          </p:cTn>
                        </p:par>
                        <p:par>
                          <p:cTn id="18" fill="hold">
                            <p:stCondLst>
                              <p:cond delay="700"/>
                            </p:stCondLst>
                            <p:childTnLst>
                              <p:par>
                                <p:cTn id="19" presetID="10" presetClass="entr" presetSubtype="0" grpId="0" fill="hold" nodeType="after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Graphic spid="16" grpId="0">
        <p:bldAsOne/>
      </p:bldGraphic>
      <p:bldP spid="1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2E6E"/>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00BAF2"/>
                </a:solidFill>
                <a:latin typeface="Calibri"/>
              </a:rPr>
              <a:t>RISKS AND DECISION</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600" b="1" i="0">
                <a:solidFill>
                  <a:srgbClr val="FFFFFF"/>
                </a:solidFill>
                <a:latin typeface="Calibri"/>
              </a:rPr>
              <a:t>Approve the 90-day pilot; scale only on the gates. Competitors can copy the feature, but not for Paytm's merchants</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A9C1E0"/>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A9C1E0"/>
                </a:solidFill>
                <a:latin typeface="Calibri"/>
              </a:rPr>
              <a:t>Full registers: annexure A6. Gate thresholds: workbook 'Pilot_Design'. Owners are proposed functions, not confirmed people. Screens illustrative.</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A9C1E0"/>
                </a:solidFill>
                <a:latin typeface="Calibri"/>
              </a:rPr>
              <a:t>15</a:t>
            </a:r>
          </a:p>
        </p:txBody>
      </p:sp>
      <p:sp>
        <p:nvSpPr>
          <p:cNvPr id="7" name="TextBox 6"/>
          <p:cNvSpPr txBox="1"/>
          <p:nvPr/>
        </p:nvSpPr>
        <p:spPr>
          <a:xfrm>
            <a:off x="548640" y="1691640"/>
            <a:ext cx="5852160" cy="274320"/>
          </a:xfrm>
          <a:prstGeom prst="rect">
            <a:avLst/>
          </a:prstGeom>
          <a:noFill/>
        </p:spPr>
        <p:txBody>
          <a:bodyPr wrap="square" lIns="36576" rIns="36576" tIns="36576" bIns="36576" anchor="t">
            <a:noAutofit/>
          </a:bodyPr>
          <a:lstStyle/>
          <a:p>
            <a:pPr algn="l"/>
            <a:r>
              <a:rPr sz="1000" b="1" i="0">
                <a:solidFill>
                  <a:srgbClr val="00BAF2"/>
                </a:solidFill>
                <a:latin typeface="Calibri"/>
              </a:rPr>
              <a:t>TOP RISKS AND HOW WE REDUCE THEM</a:t>
            </a:r>
          </a:p>
        </p:txBody>
      </p:sp>
      <p:sp>
        <p:nvSpPr>
          <p:cNvPr id="8" name="Rectangle 7"/>
          <p:cNvSpPr/>
          <p:nvPr/>
        </p:nvSpPr>
        <p:spPr>
          <a:xfrm>
            <a:off x="548640" y="1993392"/>
            <a:ext cx="2514600" cy="548640"/>
          </a:xfrm>
          <a:prstGeom prst="rect">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0">
                <a:solidFill>
                  <a:srgbClr val="FFFFFF"/>
                </a:solidFill>
                <a:latin typeface="Calibri"/>
              </a:rPr>
              <a:t>Segment smaller than the proxy</a:t>
            </a:r>
          </a:p>
        </p:txBody>
      </p:sp>
      <p:sp>
        <p:nvSpPr>
          <p:cNvPr id="9" name="Rectangle 8"/>
          <p:cNvSpPr/>
          <p:nvPr/>
        </p:nvSpPr>
        <p:spPr>
          <a:xfrm>
            <a:off x="3108960" y="1993392"/>
            <a:ext cx="3291840" cy="548640"/>
          </a:xfrm>
          <a:prstGeom prst="rect">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0" i="0">
                <a:solidFill>
                  <a:srgbClr val="A9C1E0"/>
                </a:solidFill>
                <a:latin typeface="Calibri"/>
              </a:rPr>
              <a:t>Size it from settlement data in days 0–14; shrink the target or lead with staff access</a:t>
            </a:r>
          </a:p>
        </p:txBody>
      </p:sp>
      <p:sp>
        <p:nvSpPr>
          <p:cNvPr id="10" name="Rectangle 9"/>
          <p:cNvSpPr/>
          <p:nvPr/>
        </p:nvSpPr>
        <p:spPr>
          <a:xfrm>
            <a:off x="548640" y="2596896"/>
            <a:ext cx="2514600" cy="548640"/>
          </a:xfrm>
          <a:prstGeom prst="rect">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0">
                <a:solidFill>
                  <a:srgbClr val="FFFFFF"/>
                </a:solidFill>
                <a:latin typeface="Calibri"/>
              </a:rPr>
              <a:t>Habit wins even without the step</a:t>
            </a:r>
          </a:p>
        </p:txBody>
      </p:sp>
      <p:sp>
        <p:nvSpPr>
          <p:cNvPr id="11" name="Rectangle 10"/>
          <p:cNvSpPr/>
          <p:nvPr/>
        </p:nvSpPr>
        <p:spPr>
          <a:xfrm>
            <a:off x="3108960" y="2596896"/>
            <a:ext cx="3291840" cy="548640"/>
          </a:xfrm>
          <a:prstGeom prst="rect">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0" i="0">
                <a:solidFill>
                  <a:srgbClr val="A9C1E0"/>
                </a:solidFill>
                <a:latin typeface="Calibri"/>
              </a:rPr>
              <a:t>Morning prompt; habit-guard metric; 'revise' gate below 15%</a:t>
            </a:r>
          </a:p>
        </p:txBody>
      </p:sp>
      <p:sp>
        <p:nvSpPr>
          <p:cNvPr id="12" name="Rectangle 11"/>
          <p:cNvSpPr/>
          <p:nvPr/>
        </p:nvSpPr>
        <p:spPr>
          <a:xfrm>
            <a:off x="548640" y="3200400"/>
            <a:ext cx="2514600" cy="548640"/>
          </a:xfrm>
          <a:prstGeom prst="rect">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0">
                <a:solidFill>
                  <a:srgbClr val="FFFFFF"/>
                </a:solidFill>
                <a:latin typeface="Calibri"/>
              </a:rPr>
              <a:t>PhonePe copies, or makes Settle Now free</a:t>
            </a:r>
          </a:p>
        </p:txBody>
      </p:sp>
      <p:sp>
        <p:nvSpPr>
          <p:cNvPr id="13" name="Rectangle 12"/>
          <p:cNvSpPr/>
          <p:nvPr/>
        </p:nvSpPr>
        <p:spPr>
          <a:xfrm>
            <a:off x="3108960" y="3200400"/>
            <a:ext cx="3291840" cy="548640"/>
          </a:xfrm>
          <a:prstGeom prst="rect">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0" i="0">
                <a:solidFill>
                  <a:srgbClr val="A9C1E0"/>
                </a:solidFill>
                <a:latin typeface="Calibri"/>
              </a:rPr>
              <a:t>Only for its own merchants; move first and lock in the habit</a:t>
            </a:r>
          </a:p>
        </p:txBody>
      </p:sp>
      <p:sp>
        <p:nvSpPr>
          <p:cNvPr id="14" name="Rectangle 13"/>
          <p:cNvSpPr/>
          <p:nvPr/>
        </p:nvSpPr>
        <p:spPr>
          <a:xfrm>
            <a:off x="548640" y="3803904"/>
            <a:ext cx="2514600" cy="548640"/>
          </a:xfrm>
          <a:prstGeom prst="rect">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1" i="0">
                <a:solidFill>
                  <a:srgbClr val="FFFFFF"/>
                </a:solidFill>
                <a:latin typeface="Calibri"/>
              </a:rPr>
              <a:t>Compliance reads free settlement differently</a:t>
            </a:r>
          </a:p>
        </p:txBody>
      </p:sp>
      <p:sp>
        <p:nvSpPr>
          <p:cNvPr id="15" name="Rectangle 14"/>
          <p:cNvSpPr/>
          <p:nvPr/>
        </p:nvSpPr>
        <p:spPr>
          <a:xfrm>
            <a:off x="3108960" y="3803904"/>
            <a:ext cx="3291840" cy="548640"/>
          </a:xfrm>
          <a:prstGeom prst="rect">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200" b="0" i="0">
                <a:solidFill>
                  <a:srgbClr val="A9C1E0"/>
                </a:solidFill>
                <a:latin typeface="Calibri"/>
              </a:rPr>
              <a:t>Settle received funds only; confirm before launch; fallback: priced settlement + hand-off</a:t>
            </a:r>
          </a:p>
        </p:txBody>
      </p:sp>
      <p:grpSp>
        <p:nvGrpSpPr>
          <p:cNvPr id="16" name="roadmap"/>
          <p:cNvGrpSpPr/>
          <p:nvPr/>
        </p:nvGrpSpPr>
        <p:grpSpPr>
          <a:xfrm>
            <a:off x="548640" y="4480560"/>
            <a:ext cx="5989320" cy="1810512"/>
            <a:chOff x="548640" y="4480560"/>
            <a:chExt cx="5989320" cy="1810512"/>
          </a:xfrm>
        </p:grpSpPr>
        <p:sp>
          <p:nvSpPr>
            <p:cNvPr id="17" name="TextBox 16"/>
            <p:cNvSpPr txBox="1"/>
            <p:nvPr/>
          </p:nvSpPr>
          <p:spPr>
            <a:xfrm>
              <a:off x="548640" y="4480560"/>
              <a:ext cx="5852160" cy="274320"/>
            </a:xfrm>
            <a:prstGeom prst="rect">
              <a:avLst/>
            </a:prstGeom>
            <a:noFill/>
          </p:spPr>
          <p:txBody>
            <a:bodyPr wrap="square" lIns="36576" rIns="36576" tIns="36576" bIns="36576" anchor="t">
              <a:noAutofit/>
            </a:bodyPr>
            <a:lstStyle/>
            <a:p>
              <a:pPr algn="l"/>
              <a:r>
                <a:rPr sz="1000" b="1" i="0">
                  <a:solidFill>
                    <a:srgbClr val="00BAF2"/>
                  </a:solidFill>
                  <a:latin typeface="Calibri"/>
                </a:rPr>
                <a:t>ROADMAP AND GATES</a:t>
              </a:r>
            </a:p>
          </p:txBody>
        </p:sp>
        <p:cxnSp>
          <p:nvCxnSpPr>
            <p:cNvPr id="18" name="Connector 17"/>
            <p:cNvCxnSpPr/>
            <p:nvPr/>
          </p:nvCxnSpPr>
          <p:spPr>
            <a:xfrm>
              <a:off x="731520" y="5257800"/>
              <a:ext cx="5486400" cy="0"/>
            </a:xfrm>
            <a:prstGeom prst="line">
              <a:avLst/>
            </a:prstGeom>
            <a:ln w="25400">
              <a:solidFill>
                <a:srgbClr val="A9C1E0"/>
              </a:solidFill>
            </a:ln>
          </p:spPr>
          <p:style>
            <a:lnRef idx="2">
              <a:schemeClr val="accent1"/>
            </a:lnRef>
            <a:fillRef idx="0">
              <a:schemeClr val="accent1"/>
            </a:fillRef>
            <a:effectRef idx="0">
              <a:schemeClr val="accent1"/>
            </a:effectRef>
            <a:fontRef idx="minor">
              <a:schemeClr val="tx1"/>
            </a:fontRef>
          </p:style>
        </p:cxnSp>
        <p:sp>
          <p:nvSpPr>
            <p:cNvPr id="19" name="Oval 18"/>
            <p:cNvSpPr/>
            <p:nvPr/>
          </p:nvSpPr>
          <p:spPr>
            <a:xfrm>
              <a:off x="658368" y="5184648"/>
              <a:ext cx="146304" cy="146304"/>
            </a:xfrm>
            <a:prstGeom prst="ellipse">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0" name="TextBox 19"/>
            <p:cNvSpPr txBox="1"/>
            <p:nvPr/>
          </p:nvSpPr>
          <p:spPr>
            <a:xfrm>
              <a:off x="685800" y="5468112"/>
              <a:ext cx="1783080" cy="502920"/>
            </a:xfrm>
            <a:prstGeom prst="rect">
              <a:avLst/>
            </a:prstGeom>
            <a:noFill/>
          </p:spPr>
          <p:txBody>
            <a:bodyPr wrap="square" lIns="36576" rIns="36576" tIns="36576" bIns="36576" anchor="t">
              <a:noAutofit/>
            </a:bodyPr>
            <a:lstStyle/>
            <a:p>
              <a:pPr algn="l"/>
              <a:r>
                <a:rPr sz="1200" b="1" i="0">
                  <a:solidFill>
                    <a:srgbClr val="FFFFFF"/>
                  </a:solidFill>
                  <a:latin typeface="Calibri"/>
                </a:rPr>
                <a:t>Weeks 0–2</a:t>
              </a:r>
            </a:p>
            <a:p>
              <a:pPr algn="l"/>
              <a:r>
                <a:rPr sz="1200" b="0" i="0">
                  <a:solidFill>
                    <a:srgbClr val="A9C1E0"/>
                  </a:solidFill>
                  <a:latin typeface="Calibri"/>
                </a:rPr>
                <a:t>Data + compliance check</a:t>
              </a:r>
            </a:p>
          </p:txBody>
        </p:sp>
        <p:sp>
          <p:nvSpPr>
            <p:cNvPr id="21" name="Oval 20"/>
            <p:cNvSpPr/>
            <p:nvPr/>
          </p:nvSpPr>
          <p:spPr>
            <a:xfrm>
              <a:off x="2487168" y="5184648"/>
              <a:ext cx="146304" cy="146304"/>
            </a:xfrm>
            <a:prstGeom prst="ellipse">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2" name="TextBox 21"/>
            <p:cNvSpPr txBox="1"/>
            <p:nvPr/>
          </p:nvSpPr>
          <p:spPr>
            <a:xfrm>
              <a:off x="2514600" y="5468112"/>
              <a:ext cx="1783080" cy="502920"/>
            </a:xfrm>
            <a:prstGeom prst="rect">
              <a:avLst/>
            </a:prstGeom>
            <a:noFill/>
          </p:spPr>
          <p:txBody>
            <a:bodyPr wrap="square" lIns="36576" rIns="36576" tIns="36576" bIns="36576" anchor="t">
              <a:noAutofit/>
            </a:bodyPr>
            <a:lstStyle/>
            <a:p>
              <a:pPr algn="l"/>
              <a:r>
                <a:rPr sz="1200" b="1" i="0">
                  <a:solidFill>
                    <a:srgbClr val="FFFFFF"/>
                  </a:solidFill>
                  <a:latin typeface="Calibri"/>
                </a:rPr>
                <a:t>Days 0–90</a:t>
              </a:r>
            </a:p>
            <a:p>
              <a:pPr algn="l"/>
              <a:r>
                <a:rPr sz="1200" b="0" i="0">
                  <a:solidFill>
                    <a:srgbClr val="A9C1E0"/>
                  </a:solidFill>
                  <a:latin typeface="Calibri"/>
                </a:rPr>
                <a:t>Pilot, 3,000 vs 3,000</a:t>
              </a:r>
            </a:p>
          </p:txBody>
        </p:sp>
        <p:sp>
          <p:nvSpPr>
            <p:cNvPr id="23" name="Oval 22"/>
            <p:cNvSpPr/>
            <p:nvPr/>
          </p:nvSpPr>
          <p:spPr>
            <a:xfrm>
              <a:off x="4315968" y="5184648"/>
              <a:ext cx="146304" cy="146304"/>
            </a:xfrm>
            <a:prstGeom prst="ellipse">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4" name="TextBox 23"/>
            <p:cNvSpPr txBox="1"/>
            <p:nvPr/>
          </p:nvSpPr>
          <p:spPr>
            <a:xfrm>
              <a:off x="4343400" y="5468112"/>
              <a:ext cx="1783080" cy="502920"/>
            </a:xfrm>
            <a:prstGeom prst="rect">
              <a:avLst/>
            </a:prstGeom>
            <a:noFill/>
          </p:spPr>
          <p:txBody>
            <a:bodyPr wrap="square" lIns="36576" rIns="36576" tIns="36576" bIns="36576" anchor="t">
              <a:noAutofit/>
            </a:bodyPr>
            <a:lstStyle/>
            <a:p>
              <a:pPr algn="l"/>
              <a:r>
                <a:rPr sz="1200" b="1" i="0">
                  <a:solidFill>
                    <a:srgbClr val="FFFFFF"/>
                  </a:solidFill>
                  <a:latin typeface="Calibri"/>
                </a:rPr>
                <a:t>Months 4–12</a:t>
              </a:r>
            </a:p>
            <a:p>
              <a:pPr algn="l"/>
              <a:r>
                <a:rPr sz="1200" b="0" i="0">
                  <a:solidFill>
                    <a:srgbClr val="A9C1E0"/>
                  </a:solidFill>
                  <a:latin typeface="Calibri"/>
                </a:rPr>
                <a:t>Full payer flow, city waves</a:t>
              </a:r>
            </a:p>
          </p:txBody>
        </p:sp>
        <p:sp>
          <p:nvSpPr>
            <p:cNvPr id="25" name="Diamond 24"/>
            <p:cNvSpPr/>
            <p:nvPr/>
          </p:nvSpPr>
          <p:spPr>
            <a:xfrm>
              <a:off x="1947672" y="5102352"/>
              <a:ext cx="310896" cy="310896"/>
            </a:xfrm>
            <a:prstGeom prst="diamond">
              <a:avLst/>
            </a:prstGeom>
            <a:solidFill>
              <a:srgbClr val="F2B2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6" name="TextBox 25"/>
            <p:cNvSpPr txBox="1"/>
            <p:nvPr/>
          </p:nvSpPr>
          <p:spPr>
            <a:xfrm>
              <a:off x="1051560" y="4773168"/>
              <a:ext cx="2103120" cy="274320"/>
            </a:xfrm>
            <a:prstGeom prst="rect">
              <a:avLst/>
            </a:prstGeom>
            <a:noFill/>
          </p:spPr>
          <p:txBody>
            <a:bodyPr wrap="square" lIns="36576" rIns="36576" tIns="36576" bIns="36576" anchor="b">
              <a:noAutofit/>
            </a:bodyPr>
            <a:lstStyle/>
            <a:p>
              <a:pPr algn="ctr"/>
              <a:r>
                <a:rPr sz="1100" b="1" i="0">
                  <a:solidFill>
                    <a:srgbClr val="F2B200"/>
                  </a:solidFill>
                  <a:latin typeface="Calibri"/>
                </a:rPr>
                <a:t>G0  </a:t>
              </a:r>
              <a:r>
                <a:rPr sz="1100" b="0" i="0">
                  <a:solidFill>
                    <a:srgbClr val="FFFFFF"/>
                  </a:solidFill>
                  <a:latin typeface="Calibri"/>
                </a:rPr>
                <a:t>segment ≥25% + compliance</a:t>
              </a:r>
            </a:p>
          </p:txBody>
        </p:sp>
        <p:sp>
          <p:nvSpPr>
            <p:cNvPr id="27" name="Diamond 26"/>
            <p:cNvSpPr/>
            <p:nvPr/>
          </p:nvSpPr>
          <p:spPr>
            <a:xfrm>
              <a:off x="3867912" y="5102352"/>
              <a:ext cx="310896" cy="310896"/>
            </a:xfrm>
            <a:prstGeom prst="diamond">
              <a:avLst/>
            </a:prstGeom>
            <a:solidFill>
              <a:srgbClr val="F2B2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28" name="TextBox 27"/>
            <p:cNvSpPr txBox="1"/>
            <p:nvPr/>
          </p:nvSpPr>
          <p:spPr>
            <a:xfrm>
              <a:off x="3200400" y="4773168"/>
              <a:ext cx="1645920" cy="274320"/>
            </a:xfrm>
            <a:prstGeom prst="rect">
              <a:avLst/>
            </a:prstGeom>
            <a:noFill/>
          </p:spPr>
          <p:txBody>
            <a:bodyPr wrap="square" lIns="36576" rIns="36576" tIns="36576" bIns="36576" anchor="b">
              <a:noAutofit/>
            </a:bodyPr>
            <a:lstStyle/>
            <a:p>
              <a:pPr algn="ctr"/>
              <a:r>
                <a:rPr sz="1100" b="1" i="0">
                  <a:solidFill>
                    <a:srgbClr val="F2B200"/>
                  </a:solidFill>
                  <a:latin typeface="Calibri"/>
                </a:rPr>
                <a:t>G1  </a:t>
              </a:r>
              <a:r>
                <a:rPr sz="1100" b="0" i="0">
                  <a:solidFill>
                    <a:srgbClr val="FFFFFF"/>
                  </a:solidFill>
                  <a:latin typeface="Calibri"/>
                </a:rPr>
                <a:t>scale / revise / stop</a:t>
              </a:r>
            </a:p>
          </p:txBody>
        </p:sp>
        <p:sp>
          <p:nvSpPr>
            <p:cNvPr id="29" name="Diamond 28"/>
            <p:cNvSpPr/>
            <p:nvPr/>
          </p:nvSpPr>
          <p:spPr>
            <a:xfrm>
              <a:off x="5788152" y="5102352"/>
              <a:ext cx="310896" cy="310896"/>
            </a:xfrm>
            <a:prstGeom prst="diamond">
              <a:avLst/>
            </a:prstGeom>
            <a:solidFill>
              <a:srgbClr val="F2B2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0" name="TextBox 29"/>
            <p:cNvSpPr txBox="1"/>
            <p:nvPr/>
          </p:nvSpPr>
          <p:spPr>
            <a:xfrm>
              <a:off x="5349240" y="4773168"/>
              <a:ext cx="1188720" cy="274320"/>
            </a:xfrm>
            <a:prstGeom prst="rect">
              <a:avLst/>
            </a:prstGeom>
            <a:noFill/>
          </p:spPr>
          <p:txBody>
            <a:bodyPr wrap="square" lIns="36576" rIns="36576" tIns="36576" bIns="36576" anchor="b">
              <a:noAutofit/>
            </a:bodyPr>
            <a:lstStyle/>
            <a:p>
              <a:pPr algn="ctr"/>
              <a:r>
                <a:rPr sz="1100" b="1" i="0">
                  <a:solidFill>
                    <a:srgbClr val="F2B200"/>
                  </a:solidFill>
                  <a:latin typeface="Calibri"/>
                </a:rPr>
                <a:t>G2  </a:t>
              </a:r>
              <a:r>
                <a:rPr sz="1100" b="0" i="0">
                  <a:solidFill>
                    <a:srgbClr val="FFFFFF"/>
                  </a:solidFill>
                  <a:latin typeface="Calibri"/>
                </a:rPr>
                <a:t>lift holds</a:t>
              </a:r>
            </a:p>
          </p:txBody>
        </p:sp>
        <p:sp>
          <p:nvSpPr>
            <p:cNvPr id="31" name="TextBox 30"/>
            <p:cNvSpPr txBox="1"/>
            <p:nvPr/>
          </p:nvSpPr>
          <p:spPr>
            <a:xfrm>
              <a:off x="548640" y="6035040"/>
              <a:ext cx="5852160" cy="256032"/>
            </a:xfrm>
            <a:prstGeom prst="rect">
              <a:avLst/>
            </a:prstGeom>
            <a:noFill/>
          </p:spPr>
          <p:txBody>
            <a:bodyPr wrap="square" lIns="36576" rIns="36576" tIns="36576" bIns="36576" anchor="t">
              <a:noAutofit/>
            </a:bodyPr>
            <a:lstStyle/>
            <a:p>
              <a:pPr algn="l"/>
              <a:r>
                <a:rPr sz="1200" b="1" i="0">
                  <a:solidFill>
                    <a:srgbClr val="FFFFFF"/>
                  </a:solidFill>
                  <a:latin typeface="Calibri"/>
                </a:rPr>
                <a:t>Owners: </a:t>
              </a:r>
              <a:r>
                <a:rPr sz="1200" b="0" i="0">
                  <a:solidFill>
                    <a:srgbClr val="A9C1E0"/>
                  </a:solidFill>
                  <a:latin typeface="Calibri"/>
                </a:rPr>
                <a:t>data team · compliance · merchant product · field ops</a:t>
              </a:r>
            </a:p>
          </p:txBody>
        </p:sp>
      </p:grpSp>
      <p:sp>
        <p:nvSpPr>
          <p:cNvPr id="32" name="TextBox 31"/>
          <p:cNvSpPr txBox="1"/>
          <p:nvPr/>
        </p:nvSpPr>
        <p:spPr>
          <a:xfrm>
            <a:off x="6858000" y="1691640"/>
            <a:ext cx="4782312" cy="274320"/>
          </a:xfrm>
          <a:prstGeom prst="rect">
            <a:avLst/>
          </a:prstGeom>
          <a:noFill/>
        </p:spPr>
        <p:txBody>
          <a:bodyPr wrap="square" lIns="36576" rIns="36576" tIns="36576" bIns="36576" anchor="t">
            <a:noAutofit/>
          </a:bodyPr>
          <a:lstStyle/>
          <a:p>
            <a:pPr algn="ctr"/>
            <a:r>
              <a:rPr sz="1000" b="1" i="0">
                <a:solidFill>
                  <a:srgbClr val="00BAF2"/>
                </a:solidFill>
                <a:latin typeface="Calibri"/>
              </a:rPr>
              <a:t>THE SAME MERCHANT, AFTER</a:t>
            </a:r>
          </a:p>
        </p:txBody>
      </p:sp>
      <p:grpSp>
        <p:nvGrpSpPr>
          <p:cNvPr id="33" name="!!phoneL_end"/>
          <p:cNvGrpSpPr/>
          <p:nvPr/>
        </p:nvGrpSpPr>
        <p:grpSpPr>
          <a:xfrm>
            <a:off x="7178040" y="2011680"/>
            <a:ext cx="2011680" cy="3090672"/>
            <a:chOff x="7178040" y="2011680"/>
            <a:chExt cx="2011680" cy="3090672"/>
          </a:xfrm>
        </p:grpSpPr>
        <p:sp>
          <p:nvSpPr>
            <p:cNvPr id="34" name="cL_body"/>
            <p:cNvSpPr/>
            <p:nvPr/>
          </p:nvSpPr>
          <p:spPr>
            <a:xfrm>
              <a:off x="7178040" y="2011680"/>
              <a:ext cx="2011680" cy="2743200"/>
            </a:xfrm>
            <a:prstGeom prst="roundRect">
              <a:avLst>
                <a:gd name="adj" fmla="val 9000"/>
              </a:avLst>
            </a:prstGeom>
            <a:solidFill>
              <a:srgbClr val="1A223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5" name="cL_screen"/>
            <p:cNvSpPr/>
            <p:nvPr/>
          </p:nvSpPr>
          <p:spPr>
            <a:xfrm>
              <a:off x="7260336" y="2192731"/>
              <a:ext cx="1847088" cy="2397556"/>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6" name="cL_speaker"/>
            <p:cNvSpPr/>
            <p:nvPr/>
          </p:nvSpPr>
          <p:spPr>
            <a:xfrm>
              <a:off x="7955279" y="2075688"/>
              <a:ext cx="457200" cy="54864"/>
            </a:xfrm>
            <a:prstGeom prst="roundRect">
              <a:avLst>
                <a:gd name="adj" fmla="val 50000"/>
              </a:avLst>
            </a:prstGeom>
            <a:solidFill>
              <a:srgbClr val="3A45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37" name="cL_header"/>
            <p:cNvSpPr/>
            <p:nvPr/>
          </p:nvSpPr>
          <p:spPr>
            <a:xfrm>
              <a:off x="7260336" y="2192731"/>
              <a:ext cx="1847088" cy="384048"/>
            </a:xfrm>
            <a:prstGeom prst="rect">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100" b="1" i="0">
                  <a:solidFill>
                    <a:srgbClr val="FFFFFF"/>
                  </a:solidFill>
                  <a:latin typeface="Calibri"/>
                </a:rPr>
                <a:t>Paytm for Business</a:t>
              </a:r>
            </a:p>
          </p:txBody>
        </p:sp>
        <p:sp>
          <p:nvSpPr>
            <p:cNvPr id="38" name="TextBox 37"/>
            <p:cNvSpPr txBox="1"/>
            <p:nvPr/>
          </p:nvSpPr>
          <p:spPr>
            <a:xfrm>
              <a:off x="7370063" y="2759659"/>
              <a:ext cx="1627632" cy="411480"/>
            </a:xfrm>
            <a:prstGeom prst="rect">
              <a:avLst/>
            </a:prstGeom>
            <a:noFill/>
          </p:spPr>
          <p:txBody>
            <a:bodyPr wrap="square" lIns="36576" rIns="36576" tIns="36576" bIns="36576" anchor="t">
              <a:noAutofit/>
            </a:bodyPr>
            <a:lstStyle/>
            <a:p>
              <a:pPr algn="ctr"/>
              <a:r>
                <a:rPr sz="1800" b="1" i="0">
                  <a:solidFill>
                    <a:srgbClr val="002E6E"/>
                  </a:solidFill>
                  <a:latin typeface="Calibri"/>
                </a:rPr>
                <a:t>₹12,400</a:t>
              </a:r>
            </a:p>
          </p:txBody>
        </p:sp>
        <p:sp>
          <p:nvSpPr>
            <p:cNvPr id="39" name="TextBox 38"/>
            <p:cNvSpPr txBox="1"/>
            <p:nvPr/>
          </p:nvSpPr>
          <p:spPr>
            <a:xfrm>
              <a:off x="7370063" y="3235147"/>
              <a:ext cx="1627632" cy="640080"/>
            </a:xfrm>
            <a:prstGeom prst="rect">
              <a:avLst/>
            </a:prstGeom>
            <a:noFill/>
          </p:spPr>
          <p:txBody>
            <a:bodyPr wrap="square" lIns="36576" rIns="36576" tIns="36576" bIns="36576" anchor="t">
              <a:noAutofit/>
            </a:bodyPr>
            <a:lstStyle/>
            <a:p>
              <a:pPr algn="ctr"/>
              <a:r>
                <a:rPr sz="1100" b="0" i="0">
                  <a:solidFill>
                    <a:srgbClr val="5B6B7C"/>
                  </a:solidFill>
                  <a:latin typeface="Calibri"/>
                </a:rPr>
                <a:t>collected today</a:t>
              </a:r>
            </a:p>
          </p:txBody>
        </p:sp>
        <p:sp>
          <p:nvSpPr>
            <p:cNvPr id="40" name="TextBox 39"/>
            <p:cNvSpPr txBox="1"/>
            <p:nvPr/>
          </p:nvSpPr>
          <p:spPr>
            <a:xfrm>
              <a:off x="7178040" y="4828032"/>
              <a:ext cx="2011680" cy="274320"/>
            </a:xfrm>
            <a:prstGeom prst="rect">
              <a:avLst/>
            </a:prstGeom>
            <a:noFill/>
          </p:spPr>
          <p:txBody>
            <a:bodyPr wrap="square" lIns="36576" rIns="36576" tIns="36576" bIns="36576" anchor="t">
              <a:noAutofit/>
            </a:bodyPr>
            <a:lstStyle/>
            <a:p>
              <a:pPr algn="ctr"/>
              <a:r>
                <a:rPr sz="1100" b="1" i="0">
                  <a:solidFill>
                    <a:srgbClr val="00BAF2"/>
                  </a:solidFill>
                  <a:latin typeface="Calibri"/>
                </a:rPr>
                <a:t>MONEY IN · PAYTM</a:t>
              </a:r>
            </a:p>
          </p:txBody>
        </p:sp>
      </p:grpSp>
      <p:grpSp>
        <p:nvGrpSpPr>
          <p:cNvPr id="41" name="phoneR_before"/>
          <p:cNvGrpSpPr/>
          <p:nvPr/>
        </p:nvGrpSpPr>
        <p:grpSpPr>
          <a:xfrm>
            <a:off x="9464040" y="2011680"/>
            <a:ext cx="2011680" cy="2743200"/>
            <a:chOff x="9464040" y="2011680"/>
            <a:chExt cx="2011680" cy="2743200"/>
          </a:xfrm>
        </p:grpSpPr>
        <p:sp>
          <p:nvSpPr>
            <p:cNvPr id="42" name="cR0_body"/>
            <p:cNvSpPr/>
            <p:nvPr/>
          </p:nvSpPr>
          <p:spPr>
            <a:xfrm>
              <a:off x="9464040" y="2011680"/>
              <a:ext cx="2011680" cy="2743200"/>
            </a:xfrm>
            <a:prstGeom prst="roundRect">
              <a:avLst>
                <a:gd name="adj" fmla="val 9000"/>
              </a:avLst>
            </a:prstGeom>
            <a:solidFill>
              <a:srgbClr val="1A223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3" name="cR0_screen"/>
            <p:cNvSpPr/>
            <p:nvPr/>
          </p:nvSpPr>
          <p:spPr>
            <a:xfrm>
              <a:off x="9546336" y="2192731"/>
              <a:ext cx="1847088" cy="2397556"/>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4" name="cR0_speaker"/>
            <p:cNvSpPr/>
            <p:nvPr/>
          </p:nvSpPr>
          <p:spPr>
            <a:xfrm>
              <a:off x="10241280" y="2075688"/>
              <a:ext cx="457200" cy="54864"/>
            </a:xfrm>
            <a:prstGeom prst="roundRect">
              <a:avLst>
                <a:gd name="adj" fmla="val 50000"/>
              </a:avLst>
            </a:prstGeom>
            <a:solidFill>
              <a:srgbClr val="3A45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45" name="cR0_header"/>
            <p:cNvSpPr/>
            <p:nvPr/>
          </p:nvSpPr>
          <p:spPr>
            <a:xfrm>
              <a:off x="9546336" y="2192731"/>
              <a:ext cx="1847088" cy="384048"/>
            </a:xfrm>
            <a:prstGeom prst="rect">
              <a:avLst/>
            </a:prstGeom>
            <a:solidFill>
              <a:srgbClr val="4A556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100" b="1" i="0">
                  <a:solidFill>
                    <a:srgbClr val="FFFFFF"/>
                  </a:solidFill>
                  <a:latin typeface="Calibri"/>
                </a:rPr>
                <a:t>Another UPI app</a:t>
              </a:r>
            </a:p>
          </p:txBody>
        </p:sp>
        <p:sp>
          <p:nvSpPr>
            <p:cNvPr id="46" name="TextBox 45"/>
            <p:cNvSpPr txBox="1"/>
            <p:nvPr/>
          </p:nvSpPr>
          <p:spPr>
            <a:xfrm>
              <a:off x="9656063" y="2759659"/>
              <a:ext cx="1627632" cy="411480"/>
            </a:xfrm>
            <a:prstGeom prst="rect">
              <a:avLst/>
            </a:prstGeom>
            <a:noFill/>
          </p:spPr>
          <p:txBody>
            <a:bodyPr wrap="square" lIns="36576" rIns="36576" tIns="36576" bIns="36576" anchor="t">
              <a:noAutofit/>
            </a:bodyPr>
            <a:lstStyle/>
            <a:p>
              <a:pPr algn="ctr"/>
              <a:r>
                <a:rPr sz="1800" b="1" i="0">
                  <a:solidFill>
                    <a:srgbClr val="002E6E"/>
                  </a:solidFill>
                  <a:latin typeface="Calibri"/>
                </a:rPr>
                <a:t>₹6,800</a:t>
              </a:r>
            </a:p>
          </p:txBody>
        </p:sp>
        <p:sp>
          <p:nvSpPr>
            <p:cNvPr id="47" name="TextBox 46"/>
            <p:cNvSpPr txBox="1"/>
            <p:nvPr/>
          </p:nvSpPr>
          <p:spPr>
            <a:xfrm>
              <a:off x="9656063" y="3235147"/>
              <a:ext cx="1627632" cy="640080"/>
            </a:xfrm>
            <a:prstGeom prst="rect">
              <a:avLst/>
            </a:prstGeom>
            <a:noFill/>
          </p:spPr>
          <p:txBody>
            <a:bodyPr wrap="square" lIns="36576" rIns="36576" tIns="36576" bIns="36576" anchor="t">
              <a:noAutofit/>
            </a:bodyPr>
            <a:lstStyle/>
            <a:p>
              <a:pPr algn="ctr"/>
              <a:r>
                <a:rPr sz="1100" b="0" i="0">
                  <a:solidFill>
                    <a:srgbClr val="5B6B7C"/>
                  </a:solidFill>
                  <a:latin typeface="Calibri"/>
                </a:rPr>
                <a:t>to Sharma Traders</a:t>
              </a:r>
            </a:p>
          </p:txBody>
        </p:sp>
      </p:grpSp>
      <p:grpSp>
        <p:nvGrpSpPr>
          <p:cNvPr id="48" name="!!phoneR_end"/>
          <p:cNvGrpSpPr/>
          <p:nvPr/>
        </p:nvGrpSpPr>
        <p:grpSpPr>
          <a:xfrm>
            <a:off x="9464040" y="2011680"/>
            <a:ext cx="2011680" cy="3090672"/>
            <a:chOff x="9464040" y="2011680"/>
            <a:chExt cx="2011680" cy="3090672"/>
          </a:xfrm>
        </p:grpSpPr>
        <p:sp>
          <p:nvSpPr>
            <p:cNvPr id="49" name="cR_body"/>
            <p:cNvSpPr/>
            <p:nvPr/>
          </p:nvSpPr>
          <p:spPr>
            <a:xfrm>
              <a:off x="9464040" y="2011680"/>
              <a:ext cx="2011680" cy="2743200"/>
            </a:xfrm>
            <a:prstGeom prst="roundRect">
              <a:avLst>
                <a:gd name="adj" fmla="val 9000"/>
              </a:avLst>
            </a:prstGeom>
            <a:solidFill>
              <a:srgbClr val="1A223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0" name="cR_screen"/>
            <p:cNvSpPr/>
            <p:nvPr/>
          </p:nvSpPr>
          <p:spPr>
            <a:xfrm>
              <a:off x="9546336" y="2192731"/>
              <a:ext cx="1847088" cy="2397556"/>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1" name="cR_speaker"/>
            <p:cNvSpPr/>
            <p:nvPr/>
          </p:nvSpPr>
          <p:spPr>
            <a:xfrm>
              <a:off x="10241280" y="2075688"/>
              <a:ext cx="457200" cy="54864"/>
            </a:xfrm>
            <a:prstGeom prst="roundRect">
              <a:avLst>
                <a:gd name="adj" fmla="val 50000"/>
              </a:avLst>
            </a:prstGeom>
            <a:solidFill>
              <a:srgbClr val="3A45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p:txBody>
        </p:sp>
        <p:sp>
          <p:nvSpPr>
            <p:cNvPr id="52" name="cR_header"/>
            <p:cNvSpPr/>
            <p:nvPr/>
          </p:nvSpPr>
          <p:spPr>
            <a:xfrm>
              <a:off x="9546336" y="2192731"/>
              <a:ext cx="1847088" cy="384048"/>
            </a:xfrm>
            <a:prstGeom prst="rect">
              <a:avLst/>
            </a:prstGeom>
            <a:solidFill>
              <a:srgbClr val="0B3F8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l"/>
              <a:r>
                <a:rPr sz="1100" b="1" i="0">
                  <a:solidFill>
                    <a:srgbClr val="FFFFFF"/>
                  </a:solidFill>
                  <a:latin typeface="Calibri"/>
                </a:rPr>
                <a:t>Paytm for Business</a:t>
              </a:r>
            </a:p>
          </p:txBody>
        </p:sp>
        <p:sp>
          <p:nvSpPr>
            <p:cNvPr id="53" name="TextBox 52"/>
            <p:cNvSpPr txBox="1"/>
            <p:nvPr/>
          </p:nvSpPr>
          <p:spPr>
            <a:xfrm>
              <a:off x="9656063" y="2759659"/>
              <a:ext cx="1627632" cy="411480"/>
            </a:xfrm>
            <a:prstGeom prst="rect">
              <a:avLst/>
            </a:prstGeom>
            <a:noFill/>
          </p:spPr>
          <p:txBody>
            <a:bodyPr wrap="square" lIns="36576" rIns="36576" tIns="36576" bIns="36576" anchor="t">
              <a:noAutofit/>
            </a:bodyPr>
            <a:lstStyle/>
            <a:p>
              <a:pPr algn="ctr"/>
              <a:r>
                <a:rPr sz="1800" b="1" i="0">
                  <a:solidFill>
                    <a:srgbClr val="002E6E"/>
                  </a:solidFill>
                  <a:latin typeface="Calibri"/>
                </a:rPr>
                <a:t>₹6,800</a:t>
              </a:r>
            </a:p>
          </p:txBody>
        </p:sp>
        <p:sp>
          <p:nvSpPr>
            <p:cNvPr id="54" name="TextBox 53"/>
            <p:cNvSpPr txBox="1"/>
            <p:nvPr/>
          </p:nvSpPr>
          <p:spPr>
            <a:xfrm>
              <a:off x="9656063" y="3235147"/>
              <a:ext cx="1627632" cy="640080"/>
            </a:xfrm>
            <a:prstGeom prst="rect">
              <a:avLst/>
            </a:prstGeom>
            <a:noFill/>
          </p:spPr>
          <p:txBody>
            <a:bodyPr wrap="square" lIns="36576" rIns="36576" tIns="36576" bIns="36576" anchor="t">
              <a:noAutofit/>
            </a:bodyPr>
            <a:lstStyle/>
            <a:p>
              <a:pPr algn="ctr"/>
              <a:r>
                <a:rPr sz="1100" b="0" i="0">
                  <a:solidFill>
                    <a:srgbClr val="5B6B7C"/>
                  </a:solidFill>
                  <a:latin typeface="Calibri"/>
                </a:rPr>
                <a:t>to Sharma Traders, from today's collections</a:t>
              </a:r>
            </a:p>
          </p:txBody>
        </p:sp>
        <p:sp>
          <p:nvSpPr>
            <p:cNvPr id="55" name="TextBox 54"/>
            <p:cNvSpPr txBox="1"/>
            <p:nvPr/>
          </p:nvSpPr>
          <p:spPr>
            <a:xfrm>
              <a:off x="9464040" y="4828032"/>
              <a:ext cx="2011680" cy="274320"/>
            </a:xfrm>
            <a:prstGeom prst="rect">
              <a:avLst/>
            </a:prstGeom>
            <a:noFill/>
          </p:spPr>
          <p:txBody>
            <a:bodyPr wrap="square" lIns="36576" rIns="36576" tIns="36576" bIns="36576" anchor="t">
              <a:noAutofit/>
            </a:bodyPr>
            <a:lstStyle/>
            <a:p>
              <a:pPr algn="ctr"/>
              <a:r>
                <a:rPr sz="1100" b="1" i="0">
                  <a:solidFill>
                    <a:srgbClr val="00BAF2"/>
                  </a:solidFill>
                  <a:latin typeface="Calibri"/>
                </a:rPr>
                <a:t>MONEY OUT · PAYTM</a:t>
              </a:r>
            </a:p>
          </p:txBody>
        </p:sp>
      </p:grpSp>
      <p:sp>
        <p:nvSpPr>
          <p:cNvPr id="56" name="same_app"/>
          <p:cNvSpPr txBox="1"/>
          <p:nvPr/>
        </p:nvSpPr>
        <p:spPr>
          <a:xfrm>
            <a:off x="6858000" y="5212080"/>
            <a:ext cx="4782312" cy="365760"/>
          </a:xfrm>
          <a:prstGeom prst="rect">
            <a:avLst/>
          </a:prstGeom>
          <a:noFill/>
        </p:spPr>
        <p:txBody>
          <a:bodyPr wrap="square" lIns="36576" rIns="36576" tIns="36576" bIns="36576" anchor="t">
            <a:noAutofit/>
          </a:bodyPr>
          <a:lstStyle/>
          <a:p>
            <a:pPr algn="ctr"/>
            <a:r>
              <a:rPr sz="1600" b="1" i="0">
                <a:solidFill>
                  <a:srgbClr val="00BAF2"/>
                </a:solidFill>
                <a:latin typeface="Calibri"/>
              </a:rPr>
              <a:t>Same merchant. Same money. Same app.</a:t>
            </a:r>
          </a:p>
        </p:txBody>
      </p:sp>
      <p:sp>
        <p:nvSpPr>
          <p:cNvPr id="57" name="ask"/>
          <p:cNvSpPr/>
          <p:nvPr/>
        </p:nvSpPr>
        <p:spPr>
          <a:xfrm>
            <a:off x="6858000" y="5623560"/>
            <a:ext cx="4782312" cy="548640"/>
          </a:xfrm>
          <a:prstGeom prst="roundRect">
            <a:avLst>
              <a:gd name="adj" fmla="val 30000"/>
            </a:avLst>
          </a:prstGeom>
          <a:solidFill>
            <a:srgbClr val="00BA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0" bIns="91440">
            <a:noAutofit/>
          </a:bodyPr>
          <a:lstStyle/>
          <a:p>
            <a:pPr algn="ctr"/>
            <a:r>
              <a:rPr sz="1300" b="1" i="0">
                <a:solidFill>
                  <a:srgbClr val="002E6E"/>
                </a:solidFill>
                <a:latin typeface="Calibri"/>
              </a:rPr>
              <a:t>The ask: </a:t>
            </a:r>
            <a:r>
              <a:rPr sz="1300" b="0" i="0">
                <a:solidFill>
                  <a:srgbClr val="002E6E"/>
                </a:solidFill>
                <a:latin typeface="Calibri"/>
              </a:rPr>
              <a:t>approve the 90-day pilot, 3,000 vs 3,000 merchants in two cities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grpId="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700"/>
                                        <p:tgtEl>
                                          <p:spTgt spid="48"/>
                                        </p:tgtEl>
                                      </p:cBhvr>
                                    </p:animEffect>
                                  </p:childTnLst>
                                </p:cTn>
                              </p:par>
                            </p:childTnLst>
                          </p:cTn>
                        </p:par>
                        <p:par>
                          <p:cTn id="8" fill="hold">
                            <p:stCondLst>
                              <p:cond delay="700"/>
                            </p:stCondLst>
                            <p:childTnLst>
                              <p:par>
                                <p:cTn id="9" presetID="10" presetClass="entr" presetSubtype="0" grpId="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fade">
                                      <p:cBhvr>
                                        <p:cTn id="11" dur="450"/>
                                        <p:tgtEl>
                                          <p:spTgt spid="5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grpId="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8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2E6E"/>
        </a:solidFill>
        <a:effectLst/>
      </p:bgPr>
    </p:bg>
    <p:spTree>
      <p:nvGrpSpPr>
        <p:cNvPr id="1" name=""/>
        <p:cNvGrpSpPr/>
        <p:nvPr/>
      </p:nvGrpSpPr>
      <p:grpSpPr/>
      <p:sp>
        <p:nvSpPr>
          <p:cNvPr id="2" name="Eyebrow"/>
          <p:cNvSpPr txBox="1"/>
          <p:nvPr/>
        </p:nvSpPr>
        <p:spPr>
          <a:xfrm>
            <a:off x="731520" y="1097280"/>
            <a:ext cx="7315200" cy="320040"/>
          </a:xfrm>
          <a:prstGeom prst="rect">
            <a:avLst/>
          </a:prstGeom>
          <a:noFill/>
        </p:spPr>
        <p:txBody>
          <a:bodyPr wrap="square" lIns="36576" rIns="36576" tIns="36576" bIns="36576" anchor="t">
            <a:noAutofit/>
          </a:bodyPr>
          <a:lstStyle/>
          <a:p>
            <a:pPr algn="l"/>
            <a:r>
              <a:rPr sz="1200" b="1" i="0">
                <a:solidFill>
                  <a:srgbClr val="A9C1E0"/>
                </a:solidFill>
                <a:latin typeface="Calibri"/>
              </a:rPr>
              <a:t>NOT PART OF THE 15-SLIDE DECK</a:t>
            </a:r>
          </a:p>
        </p:txBody>
      </p:sp>
      <p:sp>
        <p:nvSpPr>
          <p:cNvPr id="3" name="Title"/>
          <p:cNvSpPr txBox="1"/>
          <p:nvPr/>
        </p:nvSpPr>
        <p:spPr>
          <a:xfrm>
            <a:off x="731520" y="1508760"/>
            <a:ext cx="7315200" cy="1005840"/>
          </a:xfrm>
          <a:prstGeom prst="rect">
            <a:avLst/>
          </a:prstGeom>
          <a:noFill/>
        </p:spPr>
        <p:txBody>
          <a:bodyPr wrap="square" lIns="36576" rIns="36576" tIns="36576" bIns="36576" anchor="t">
            <a:noAutofit/>
          </a:bodyPr>
          <a:lstStyle/>
          <a:p>
            <a:pPr algn="l"/>
            <a:r>
              <a:rPr sz="5400" b="1" i="0">
                <a:solidFill>
                  <a:srgbClr val="FFFFFF"/>
                </a:solidFill>
                <a:latin typeface="Calibri"/>
              </a:rPr>
              <a:t>Annexures</a:t>
            </a:r>
          </a:p>
        </p:txBody>
      </p:sp>
      <p:sp>
        <p:nvSpPr>
          <p:cNvPr id="4" name="TextBox 3"/>
          <p:cNvSpPr txBox="1"/>
          <p:nvPr/>
        </p:nvSpPr>
        <p:spPr>
          <a:xfrm>
            <a:off x="731520" y="2971800"/>
            <a:ext cx="5303520" cy="457200"/>
          </a:xfrm>
          <a:prstGeom prst="rect">
            <a:avLst/>
          </a:prstGeom>
          <a:noFill/>
        </p:spPr>
        <p:txBody>
          <a:bodyPr wrap="square" lIns="36576" rIns="36576" tIns="36576" bIns="36576" anchor="ctr">
            <a:noAutofit/>
          </a:bodyPr>
          <a:lstStyle/>
          <a:p>
            <a:pPr algn="l"/>
            <a:r>
              <a:rPr sz="1600" b="1" i="0">
                <a:solidFill>
                  <a:srgbClr val="00BAF2"/>
                </a:solidFill>
                <a:latin typeface="Calibri"/>
              </a:rPr>
              <a:t>A1   </a:t>
            </a:r>
            <a:r>
              <a:rPr sz="1600" b="0" i="0">
                <a:solidFill>
                  <a:srgbClr val="FFFFFF"/>
                </a:solidFill>
                <a:latin typeface="Calibri"/>
              </a:rPr>
              <a:t>Evidence status and methodology</a:t>
            </a:r>
          </a:p>
        </p:txBody>
      </p:sp>
      <p:sp>
        <p:nvSpPr>
          <p:cNvPr id="5" name="TextBox 4"/>
          <p:cNvSpPr txBox="1"/>
          <p:nvPr/>
        </p:nvSpPr>
        <p:spPr>
          <a:xfrm>
            <a:off x="731520" y="3538728"/>
            <a:ext cx="5303520" cy="457200"/>
          </a:xfrm>
          <a:prstGeom prst="rect">
            <a:avLst/>
          </a:prstGeom>
          <a:noFill/>
        </p:spPr>
        <p:txBody>
          <a:bodyPr wrap="square" lIns="36576" rIns="36576" tIns="36576" bIns="36576" anchor="ctr">
            <a:noAutofit/>
          </a:bodyPr>
          <a:lstStyle/>
          <a:p>
            <a:pPr algn="l"/>
            <a:r>
              <a:rPr sz="1600" b="1" i="0">
                <a:solidFill>
                  <a:srgbClr val="00BAF2"/>
                </a:solidFill>
                <a:latin typeface="Calibri"/>
              </a:rPr>
              <a:t>A2   </a:t>
            </a:r>
            <a:r>
              <a:rPr sz="1600" b="0" i="0">
                <a:solidFill>
                  <a:srgbClr val="FFFFFF"/>
                </a:solidFill>
                <a:latin typeface="Calibri"/>
              </a:rPr>
              <a:t>Full VOC and segment tables</a:t>
            </a:r>
          </a:p>
        </p:txBody>
      </p:sp>
      <p:sp>
        <p:nvSpPr>
          <p:cNvPr id="6" name="TextBox 5"/>
          <p:cNvSpPr txBox="1"/>
          <p:nvPr/>
        </p:nvSpPr>
        <p:spPr>
          <a:xfrm>
            <a:off x="731520" y="4105656"/>
            <a:ext cx="5303520" cy="457200"/>
          </a:xfrm>
          <a:prstGeom prst="rect">
            <a:avLst/>
          </a:prstGeom>
          <a:noFill/>
        </p:spPr>
        <p:txBody>
          <a:bodyPr wrap="square" lIns="36576" rIns="36576" tIns="36576" bIns="36576" anchor="ctr">
            <a:noAutofit/>
          </a:bodyPr>
          <a:lstStyle/>
          <a:p>
            <a:pPr algn="l"/>
            <a:r>
              <a:rPr sz="1600" b="1" i="0">
                <a:solidFill>
                  <a:srgbClr val="00BAF2"/>
                </a:solidFill>
                <a:latin typeface="Calibri"/>
              </a:rPr>
              <a:t>A3   </a:t>
            </a:r>
            <a:r>
              <a:rPr sz="1600" b="0" i="0">
                <a:solidFill>
                  <a:srgbClr val="FFFFFF"/>
                </a:solidFill>
                <a:latin typeface="Calibri"/>
              </a:rPr>
              <a:t>Full prototype flow and edge cases</a:t>
            </a:r>
          </a:p>
        </p:txBody>
      </p:sp>
      <p:sp>
        <p:nvSpPr>
          <p:cNvPr id="7" name="TextBox 6"/>
          <p:cNvSpPr txBox="1"/>
          <p:nvPr/>
        </p:nvSpPr>
        <p:spPr>
          <a:xfrm>
            <a:off x="731520" y="4672583"/>
            <a:ext cx="5303520" cy="457200"/>
          </a:xfrm>
          <a:prstGeom prst="rect">
            <a:avLst/>
          </a:prstGeom>
          <a:noFill/>
        </p:spPr>
        <p:txBody>
          <a:bodyPr wrap="square" lIns="36576" rIns="36576" tIns="36576" bIns="36576" anchor="ctr">
            <a:noAutofit/>
          </a:bodyPr>
          <a:lstStyle/>
          <a:p>
            <a:pPr algn="l"/>
            <a:r>
              <a:rPr sz="1600" b="1" i="0">
                <a:solidFill>
                  <a:srgbClr val="00BAF2"/>
                </a:solidFill>
                <a:latin typeface="Calibri"/>
              </a:rPr>
              <a:t>A4   </a:t>
            </a:r>
            <a:r>
              <a:rPr sz="1600" b="0" i="0">
                <a:solidFill>
                  <a:srgbClr val="FFFFFF"/>
                </a:solidFill>
                <a:latin typeface="Calibri"/>
              </a:rPr>
              <a:t>Pilot measurement methodology and metric definitions</a:t>
            </a:r>
          </a:p>
        </p:txBody>
      </p:sp>
      <p:sp>
        <p:nvSpPr>
          <p:cNvPr id="8" name="TextBox 7"/>
          <p:cNvSpPr txBox="1"/>
          <p:nvPr/>
        </p:nvSpPr>
        <p:spPr>
          <a:xfrm>
            <a:off x="6217920" y="2971800"/>
            <a:ext cx="5303520" cy="457200"/>
          </a:xfrm>
          <a:prstGeom prst="rect">
            <a:avLst/>
          </a:prstGeom>
          <a:noFill/>
        </p:spPr>
        <p:txBody>
          <a:bodyPr wrap="square" lIns="36576" rIns="36576" tIns="36576" bIns="36576" anchor="ctr">
            <a:noAutofit/>
          </a:bodyPr>
          <a:lstStyle/>
          <a:p>
            <a:pPr algn="l"/>
            <a:r>
              <a:rPr sz="1600" b="1" i="0">
                <a:solidFill>
                  <a:srgbClr val="00BAF2"/>
                </a:solidFill>
                <a:latin typeface="Calibri"/>
              </a:rPr>
              <a:t>A5   </a:t>
            </a:r>
            <a:r>
              <a:rPr sz="1600" b="0" i="0">
                <a:solidFill>
                  <a:srgbClr val="FFFFFF"/>
                </a:solidFill>
                <a:latin typeface="Calibri"/>
              </a:rPr>
              <a:t>Financial model and unit-cost detail</a:t>
            </a:r>
          </a:p>
        </p:txBody>
      </p:sp>
      <p:sp>
        <p:nvSpPr>
          <p:cNvPr id="9" name="TextBox 8"/>
          <p:cNvSpPr txBox="1"/>
          <p:nvPr/>
        </p:nvSpPr>
        <p:spPr>
          <a:xfrm>
            <a:off x="6217920" y="3538728"/>
            <a:ext cx="5303520" cy="457200"/>
          </a:xfrm>
          <a:prstGeom prst="rect">
            <a:avLst/>
          </a:prstGeom>
          <a:noFill/>
        </p:spPr>
        <p:txBody>
          <a:bodyPr wrap="square" lIns="36576" rIns="36576" tIns="36576" bIns="36576" anchor="ctr">
            <a:noAutofit/>
          </a:bodyPr>
          <a:lstStyle/>
          <a:p>
            <a:pPr algn="l"/>
            <a:r>
              <a:rPr sz="1600" b="1" i="0">
                <a:solidFill>
                  <a:srgbClr val="00BAF2"/>
                </a:solidFill>
                <a:latin typeface="Calibri"/>
              </a:rPr>
              <a:t>A6   </a:t>
            </a:r>
            <a:r>
              <a:rPr sz="1600" b="0" i="0">
                <a:solidFill>
                  <a:srgbClr val="FFFFFF"/>
                </a:solidFill>
                <a:latin typeface="Calibri"/>
              </a:rPr>
              <a:t>Dependency and risk registers</a:t>
            </a:r>
          </a:p>
        </p:txBody>
      </p:sp>
      <p:sp>
        <p:nvSpPr>
          <p:cNvPr id="10" name="TextBox 9"/>
          <p:cNvSpPr txBox="1"/>
          <p:nvPr/>
        </p:nvSpPr>
        <p:spPr>
          <a:xfrm>
            <a:off x="6217920" y="4105656"/>
            <a:ext cx="5303520" cy="457200"/>
          </a:xfrm>
          <a:prstGeom prst="rect">
            <a:avLst/>
          </a:prstGeom>
          <a:noFill/>
        </p:spPr>
        <p:txBody>
          <a:bodyPr wrap="square" lIns="36576" rIns="36576" tIns="36576" bIns="36576" anchor="ctr">
            <a:noAutofit/>
          </a:bodyPr>
          <a:lstStyle/>
          <a:p>
            <a:pPr algn="l"/>
            <a:r>
              <a:rPr sz="1600" b="1" i="0">
                <a:solidFill>
                  <a:srgbClr val="00BAF2"/>
                </a:solidFill>
                <a:latin typeface="Calibri"/>
              </a:rPr>
              <a:t>A7   </a:t>
            </a:r>
            <a:r>
              <a:rPr sz="1600" b="0" i="0">
                <a:solidFill>
                  <a:srgbClr val="FFFFFF"/>
                </a:solidFill>
                <a:latin typeface="Calibri"/>
              </a:rPr>
              <a:t>Round 1 to Round 2 change log</a:t>
            </a:r>
          </a:p>
        </p:txBody>
      </p:sp>
      <p:sp>
        <p:nvSpPr>
          <p:cNvPr id="11" name="TextBox 10"/>
          <p:cNvSpPr txBox="1"/>
          <p:nvPr/>
        </p:nvSpPr>
        <p:spPr>
          <a:xfrm>
            <a:off x="6217920" y="4672583"/>
            <a:ext cx="5303520" cy="457200"/>
          </a:xfrm>
          <a:prstGeom prst="rect">
            <a:avLst/>
          </a:prstGeom>
          <a:noFill/>
        </p:spPr>
        <p:txBody>
          <a:bodyPr wrap="square" lIns="36576" rIns="36576" tIns="36576" bIns="36576" anchor="ctr">
            <a:noAutofit/>
          </a:bodyPr>
          <a:lstStyle/>
          <a:p>
            <a:pPr algn="l"/>
            <a:r>
              <a:rPr sz="1600" b="1" i="0">
                <a:solidFill>
                  <a:srgbClr val="00BAF2"/>
                </a:solidFill>
                <a:latin typeface="Calibri"/>
              </a:rPr>
              <a:t>A8   </a:t>
            </a:r>
            <a:r>
              <a:rPr sz="1600" b="0" i="0">
                <a:solidFill>
                  <a:srgbClr val="FFFFFF"/>
                </a:solidFill>
                <a:latin typeface="Calibri"/>
              </a:rPr>
              <a:t>Validation interview guide</a:t>
            </a:r>
          </a:p>
        </p:txBody>
      </p:sp>
      <p:sp>
        <p:nvSpPr>
          <p:cNvPr id="12" name="TextBox 11"/>
          <p:cNvSpPr txBox="1"/>
          <p:nvPr/>
        </p:nvSpPr>
        <p:spPr>
          <a:xfrm>
            <a:off x="731520" y="5486400"/>
            <a:ext cx="10515600" cy="548640"/>
          </a:xfrm>
          <a:prstGeom prst="rect">
            <a:avLst/>
          </a:prstGeom>
          <a:noFill/>
        </p:spPr>
        <p:txBody>
          <a:bodyPr wrap="square" lIns="36576" rIns="36576" tIns="36576" bIns="36576" anchor="t">
            <a:noAutofit/>
          </a:bodyPr>
          <a:lstStyle/>
          <a:p>
            <a:pPr algn="l"/>
            <a:r>
              <a:rPr sz="1300" b="0" i="0">
                <a:solidFill>
                  <a:srgbClr val="A9C1E0"/>
                </a:solidFill>
                <a:latin typeface="Calibri"/>
              </a:rPr>
              <a:t>Companion workbook: Paytitude_R2_Annexure.xlsx (live formulas; Validation_Log ready for the ≥20-user results)</a:t>
            </a:r>
          </a:p>
        </p:txBody>
      </p:sp>
      <p:sp>
        <p:nvSpPr>
          <p:cNvPr id="13" name="TextBox 12"/>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A9C1E0"/>
                </a:solidFill>
                <a:latin typeface="Calibri"/>
              </a:rPr>
              <a:t>Track B · Paytitude</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ANNEXURE A1</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400" b="1" i="0">
                <a:solidFill>
                  <a:srgbClr val="002E6E"/>
                </a:solidFill>
                <a:latin typeface="Calibri"/>
              </a:rPr>
              <a:t>Evidence status: what is fact, what is synthetic, what is still to be validated</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Full source list with URLs and verification status: workbook 'Sources'. Disclosure quoted verbatim from Paytm_Track_B_VOCs.xlsx, 'Methodology Notes'.</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A1</a:t>
            </a:r>
          </a:p>
        </p:txBody>
      </p:sp>
      <p:sp>
        <p:nvSpPr>
          <p:cNvPr id="7" name="Rounded Rectangle 6"/>
          <p:cNvSpPr/>
          <p:nvPr/>
        </p:nvSpPr>
        <p:spPr>
          <a:xfrm>
            <a:off x="548640" y="1691640"/>
            <a:ext cx="3593592" cy="3611880"/>
          </a:xfrm>
          <a:prstGeom prst="roundRect">
            <a:avLst>
              <a:gd name="adj" fmla="val 4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37160" rIns="137160" tIns="137160" bIns="137160">
            <a:noAutofit/>
          </a:bodyPr>
          <a:lstStyle/>
          <a:p>
            <a:pPr algn="l"/>
            <a:r>
              <a:rPr sz="1000" b="1" i="0">
                <a:solidFill>
                  <a:srgbClr val="5B6B7C"/>
                </a:solidFill>
                <a:latin typeface="Calibri"/>
              </a:rPr>
              <a:t>SYNTHETIC DATASET (50 ROWS)</a:t>
            </a:r>
          </a:p>
          <a:p>
            <a:pPr algn="l">
              <a:spcBef>
                <a:spcPts val="500"/>
              </a:spcBef>
            </a:pPr>
            <a:r>
              <a:rPr sz="1300" b="1" i="1">
                <a:solidFill>
                  <a:srgbClr val="002E6E"/>
                </a:solidFill>
                <a:latin typeface="Calibri"/>
              </a:rPr>
              <a:t>“This is synthetic research for hypothesis stress-testing, not customer evidence.”</a:t>
            </a:r>
          </a:p>
          <a:p>
            <a:pPr algn="l">
              <a:spcBef>
                <a:spcPts val="500"/>
              </a:spcBef>
            </a:pPr>
            <a:r>
              <a:rPr sz="1300" b="0" i="0">
                <a:solidFill>
                  <a:srgbClr val="1B2733"/>
                </a:solidFill>
                <a:latin typeface="Calibri"/>
              </a:rPr>
              <a:t>16 cities (Mumbai 12); 47 of 50 'small'; no category above 5 rows</a:t>
            </a:r>
          </a:p>
          <a:p>
            <a:pPr algn="l">
              <a:spcBef>
                <a:spcPts val="500"/>
              </a:spcBef>
            </a:pPr>
            <a:r>
              <a:rPr sz="1300" b="0" i="0">
                <a:solidFill>
                  <a:srgbClr val="1B2733"/>
                </a:solidFill>
                <a:latin typeface="Calibri"/>
              </a:rPr>
              <a:t>Audit: 11 hard contradictions (V10, V11, V12, V17, V19, V23, V34, V35, V36, V40, V42); none in Group 1; clean sample n = 39</a:t>
            </a:r>
          </a:p>
          <a:p>
            <a:pPr algn="l">
              <a:spcBef>
                <a:spcPts val="500"/>
              </a:spcBef>
            </a:pPr>
            <a:r>
              <a:rPr sz="1300" b="0" i="0">
                <a:solidFill>
                  <a:srgbClr val="1B2733"/>
                </a:solidFill>
                <a:latin typeface="Calibri"/>
              </a:rPr>
              <a:t>15 distinct first quotes across 50 rows: quotes illustrate, never count</a:t>
            </a:r>
          </a:p>
          <a:p>
            <a:pPr algn="l">
              <a:spcBef>
                <a:spcPts val="500"/>
              </a:spcBef>
            </a:pPr>
            <a:r>
              <a:rPr sz="1300" b="1" i="0">
                <a:solidFill>
                  <a:srgbClr val="1B2733"/>
                </a:solidFill>
                <a:latin typeface="Calibri"/>
              </a:rPr>
              <a:t>Used for: </a:t>
            </a:r>
            <a:r>
              <a:rPr sz="1300" b="0" i="0">
                <a:solidFill>
                  <a:srgbClr val="1B2733"/>
                </a:solidFill>
                <a:latin typeface="Calibri"/>
              </a:rPr>
              <a:t>segment logic and model proxies only</a:t>
            </a:r>
          </a:p>
        </p:txBody>
      </p:sp>
      <p:sp>
        <p:nvSpPr>
          <p:cNvPr id="8" name="Rounded Rectangle 7"/>
          <p:cNvSpPr/>
          <p:nvPr/>
        </p:nvSpPr>
        <p:spPr>
          <a:xfrm>
            <a:off x="685800" y="4983480"/>
            <a:ext cx="719714" cy="201168"/>
          </a:xfrm>
          <a:prstGeom prst="roundRect">
            <a:avLst>
              <a:gd name="adj" fmla="val 50000"/>
            </a:avLst>
          </a:prstGeom>
          <a:solidFill>
            <a:srgbClr val="F2B200"/>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1B2733"/>
                </a:solidFill>
                <a:latin typeface="Calibri"/>
              </a:rPr>
              <a:t>SYNTHETIC</a:t>
            </a:r>
          </a:p>
        </p:txBody>
      </p:sp>
      <p:sp>
        <p:nvSpPr>
          <p:cNvPr id="9" name="Rounded Rectangle 8"/>
          <p:cNvSpPr/>
          <p:nvPr/>
        </p:nvSpPr>
        <p:spPr>
          <a:xfrm>
            <a:off x="4297679" y="1691640"/>
            <a:ext cx="3593592" cy="3611880"/>
          </a:xfrm>
          <a:prstGeom prst="roundRect">
            <a:avLst>
              <a:gd name="adj" fmla="val 4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37160" rIns="137160" tIns="137160" bIns="137160">
            <a:noAutofit/>
          </a:bodyPr>
          <a:lstStyle/>
          <a:p>
            <a:pPr algn="l"/>
            <a:r>
              <a:rPr sz="1000" b="1" i="0">
                <a:solidFill>
                  <a:srgbClr val="5B6B7C"/>
                </a:solidFill>
                <a:latin typeface="Calibri"/>
              </a:rPr>
              <a:t>EXPLORATORY CONVERSATIONS</a:t>
            </a:r>
          </a:p>
          <a:p>
            <a:pPr algn="l">
              <a:spcBef>
                <a:spcPts val="500"/>
              </a:spcBef>
            </a:pPr>
            <a:r>
              <a:rPr sz="1300" b="1" i="0">
                <a:solidFill>
                  <a:srgbClr val="D6249F"/>
                </a:solidFill>
                <a:latin typeface="Calibri"/>
              </a:rPr>
              <a:t>n = [__]</a:t>
            </a:r>
            <a:r>
              <a:rPr sz="1300" b="0" i="0">
                <a:solidFill>
                  <a:srgbClr val="1B2733"/>
                </a:solidFill>
                <a:latin typeface="Calibri"/>
              </a:rPr>
              <a:t> genuine, exploratory conversations</a:t>
            </a:r>
          </a:p>
          <a:p>
            <a:pPr algn="l">
              <a:spcBef>
                <a:spcPts val="500"/>
              </a:spcBef>
            </a:pPr>
            <a:r>
              <a:rPr sz="1300" b="0" i="0">
                <a:solidFill>
                  <a:srgbClr val="1B2733"/>
                </a:solidFill>
                <a:latin typeface="Calibri"/>
              </a:rPr>
              <a:t>Pharmacy, café, FMCG retailer, tractor dealer, and a merchant who routinely pays vendors by UPI</a:t>
            </a:r>
          </a:p>
          <a:p>
            <a:pPr algn="l">
              <a:spcBef>
                <a:spcPts val="500"/>
              </a:spcBef>
            </a:pPr>
            <a:r>
              <a:rPr sz="1300" b="0" i="0">
                <a:solidFill>
                  <a:srgbClr val="1B2733"/>
                </a:solidFill>
                <a:latin typeface="Calibri"/>
              </a:rPr>
              <a:t>Notes and verbatims to be added to workbook 'VOC_Real'</a:t>
            </a:r>
          </a:p>
          <a:p>
            <a:pPr algn="l">
              <a:spcBef>
                <a:spcPts val="500"/>
              </a:spcBef>
            </a:pPr>
            <a:r>
              <a:rPr sz="1300" b="1" i="0">
                <a:solidFill>
                  <a:srgbClr val="1B2733"/>
                </a:solidFill>
                <a:latin typeface="Calibri"/>
              </a:rPr>
              <a:t>Not validation: </a:t>
            </a:r>
            <a:r>
              <a:rPr sz="1300" b="0" i="0">
                <a:solidFill>
                  <a:srgbClr val="1B2733"/>
                </a:solidFill>
                <a:latin typeface="Calibri"/>
              </a:rPr>
              <a:t>too few and not structured for the ≥20-user test</a:t>
            </a:r>
          </a:p>
        </p:txBody>
      </p:sp>
      <p:sp>
        <p:nvSpPr>
          <p:cNvPr id="10" name="Rounded Rectangle 9"/>
          <p:cNvSpPr/>
          <p:nvPr/>
        </p:nvSpPr>
        <p:spPr>
          <a:xfrm>
            <a:off x="4434840" y="4983480"/>
            <a:ext cx="1403729" cy="201168"/>
          </a:xfrm>
          <a:prstGeom prst="roundRect">
            <a:avLst>
              <a:gd name="adj" fmla="val 50000"/>
            </a:avLst>
          </a:prstGeom>
          <a:solidFill>
            <a:srgbClr val="0077B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GENUINE · EXPLORATORY</a:t>
            </a:r>
          </a:p>
        </p:txBody>
      </p:sp>
      <p:sp>
        <p:nvSpPr>
          <p:cNvPr id="11" name="Rounded Rectangle 10"/>
          <p:cNvSpPr/>
          <p:nvPr/>
        </p:nvSpPr>
        <p:spPr>
          <a:xfrm>
            <a:off x="8046719" y="1691640"/>
            <a:ext cx="3593592" cy="3611880"/>
          </a:xfrm>
          <a:prstGeom prst="roundRect">
            <a:avLst>
              <a:gd name="adj" fmla="val 4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37160" rIns="137160" tIns="137160" bIns="137160">
            <a:noAutofit/>
          </a:bodyPr>
          <a:lstStyle/>
          <a:p>
            <a:pPr algn="l"/>
            <a:r>
              <a:rPr sz="1000" b="1" i="0">
                <a:solidFill>
                  <a:srgbClr val="5B6B7C"/>
                </a:solidFill>
                <a:latin typeface="Calibri"/>
              </a:rPr>
              <a:t>SECONDARY SOURCES</a:t>
            </a:r>
          </a:p>
          <a:p>
            <a:pPr algn="l">
              <a:spcBef>
                <a:spcPts val="500"/>
              </a:spcBef>
            </a:pPr>
            <a:r>
              <a:rPr sz="1300" b="0" i="0">
                <a:solidFill>
                  <a:srgbClr val="1B2733"/>
                </a:solidFill>
                <a:latin typeface="Calibri"/>
              </a:rPr>
              <a:t>Paytm Q1 FY27 release: 1.57 crore device merchants (S1)</a:t>
            </a:r>
          </a:p>
          <a:p>
            <a:pPr algn="l">
              <a:spcBef>
                <a:spcPts val="500"/>
              </a:spcBef>
            </a:pPr>
            <a:r>
              <a:rPr sz="1300" b="0" i="0">
                <a:solidFill>
                  <a:srgbClr val="1B2733"/>
                </a:solidFill>
                <a:latin typeface="Calibri"/>
              </a:rPr>
              <a:t>NPCI app-wise share, Aug 2026, via secondary report (S2)</a:t>
            </a:r>
          </a:p>
          <a:p>
            <a:pPr algn="l">
              <a:spcBef>
                <a:spcPts val="500"/>
              </a:spcBef>
            </a:pPr>
            <a:r>
              <a:rPr sz="1300" b="0" i="0">
                <a:solidFill>
                  <a:srgbClr val="1B2733"/>
                </a:solidFill>
                <a:latin typeface="Calibri"/>
              </a:rPr>
              <a:t>Paytm for Business listing and support pages (S3–S5)</a:t>
            </a:r>
          </a:p>
          <a:p>
            <a:pPr algn="l">
              <a:spcBef>
                <a:spcPts val="500"/>
              </a:spcBef>
            </a:pPr>
            <a:r>
              <a:rPr sz="1300" b="0" i="0">
                <a:solidFill>
                  <a:srgbClr val="1B2733"/>
                </a:solidFill>
                <a:latin typeface="Calibri"/>
              </a:rPr>
              <a:t>PhonePe Settle Now help pages (S6–S8)</a:t>
            </a:r>
          </a:p>
          <a:p>
            <a:pPr algn="l">
              <a:spcBef>
                <a:spcPts val="500"/>
              </a:spcBef>
            </a:pPr>
            <a:r>
              <a:rPr sz="1300" b="0" i="0">
                <a:solidFill>
                  <a:srgbClr val="1B2733"/>
                </a:solidFill>
                <a:latin typeface="Calibri"/>
              </a:rPr>
              <a:t>RBI PA Directions 2025 press release and legal summaries (S9–S12)</a:t>
            </a:r>
          </a:p>
        </p:txBody>
      </p:sp>
      <p:sp>
        <p:nvSpPr>
          <p:cNvPr id="12" name="Rounded Rectangle 11"/>
          <p:cNvSpPr/>
          <p:nvPr/>
        </p:nvSpPr>
        <p:spPr>
          <a:xfrm>
            <a:off x="8183879" y="4983480"/>
            <a:ext cx="432732" cy="201168"/>
          </a:xfrm>
          <a:prstGeom prst="roundRect">
            <a:avLst>
              <a:gd name="adj" fmla="val 50000"/>
            </a:avLst>
          </a:prstGeom>
          <a:solidFill>
            <a:srgbClr val="1E8E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900" b="1" i="0">
                <a:solidFill>
                  <a:srgbClr val="FFFFFF"/>
                </a:solidFill>
                <a:latin typeface="Calibri"/>
              </a:rPr>
              <a:t>FACT</a:t>
            </a:r>
          </a:p>
        </p:txBody>
      </p:sp>
      <p:sp>
        <p:nvSpPr>
          <p:cNvPr id="13" name="Rounded Rectangle 12"/>
          <p:cNvSpPr/>
          <p:nvPr/>
        </p:nvSpPr>
        <p:spPr>
          <a:xfrm>
            <a:off x="548640" y="5440680"/>
            <a:ext cx="11091672" cy="685800"/>
          </a:xfrm>
          <a:prstGeom prst="roundRect">
            <a:avLst>
              <a:gd name="adj" fmla="val 10000"/>
            </a:avLst>
          </a:prstGeom>
          <a:noFill/>
          <a:ln w="9525">
            <a:solidFill>
              <a:srgbClr val="D6249F"/>
            </a:solidFill>
            <a:prstDash val="dash"/>
          </a:ln>
          <a:effectLst/>
        </p:spPr>
        <p:style>
          <a:lnRef idx="1">
            <a:schemeClr val="accent1"/>
          </a:lnRef>
          <a:fillRef idx="3">
            <a:schemeClr val="accent1"/>
          </a:fillRef>
          <a:effectRef idx="0">
            <a:schemeClr val="accent1"/>
          </a:effectRef>
          <a:fontRef idx="minor">
            <a:schemeClr val="lt1"/>
          </a:fontRef>
        </p:style>
        <p:txBody>
          <a:bodyPr rtlCol="0" anchor="ctr" wrap="square" lIns="128016" rIns="128016" tIns="128016" bIns="128016">
            <a:noAutofit/>
          </a:bodyPr>
          <a:lstStyle/>
          <a:p>
            <a:pPr algn="l"/>
            <a:r>
              <a:rPr sz="1200" b="1" i="0">
                <a:solidFill>
                  <a:srgbClr val="D6249F"/>
                </a:solidFill>
                <a:latin typeface="Calibri"/>
              </a:rPr>
              <a:t>VALIDATION (≥20 TARGET USERS): </a:t>
            </a:r>
            <a:r>
              <a:rPr sz="1200" b="0" i="0">
                <a:solidFill>
                  <a:srgbClr val="1B2733"/>
                </a:solidFill>
                <a:latin typeface="Calibri"/>
              </a:rPr>
              <a:t>not yet run at the time of this build. Interview guide in A8; 'Validation_Log' sheet and fill_validation.py recompute slide 10 and re-export the PDF.</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ANNEXURE A2</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400" b="1" i="0">
                <a:solidFill>
                  <a:srgbClr val="002E6E"/>
                </a:solidFill>
                <a:latin typeface="Calibri"/>
              </a:rPr>
              <a:t>Full VOC and segment tables (synthetic dataset)</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Source: S16, computed live in workbook 'Segment_Rules' (COUNTIFS over 'VOC_Synthetic'). SYNTHETIC: illustrates the hypothesis; counts are not market shares.</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A2</a:t>
            </a:r>
          </a:p>
        </p:txBody>
      </p:sp>
      <p:graphicFrame>
        <p:nvGraphicFramePr>
          <p:cNvPr id="7" name="a2_groups"/>
          <p:cNvGraphicFramePr>
            <a:graphicFrameLocks noGrp="1"/>
          </p:cNvGraphicFramePr>
          <p:nvPr/>
        </p:nvGraphicFramePr>
        <p:xfrm>
          <a:off x="548640" y="1691640"/>
          <a:ext cx="6492240" cy="2194560"/>
        </p:xfrm>
        <a:graphic>
          <a:graphicData uri="http://schemas.openxmlformats.org/drawingml/2006/table">
            <a:tbl>
              <a:tblPr firstRow="1">
                <a:tableStyleId>{5C22544A-7EE6-4342-B048-85BDC9FD1C3A}</a:tableStyleId>
              </a:tblPr>
              <a:tblGrid>
                <a:gridCol w="1005840"/>
                <a:gridCol w="3383280"/>
                <a:gridCol w="868680"/>
                <a:gridCol w="1234440"/>
              </a:tblGrid>
              <a:tr h="329184">
                <a:tc>
                  <a:txBody>
                    <a:bodyPr wrap="square"/>
                    <a:lstStyle/>
                    <a:p>
                      <a:r>
                        <a:rPr sz="1200" b="1" i="0">
                          <a:solidFill>
                            <a:srgbClr val="FFFFFF"/>
                          </a:solidFill>
                          <a:latin typeface="Calibri"/>
                        </a:rPr>
                        <a:t>Group</a:t>
                      </a:r>
                    </a:p>
                  </a:txBody>
                  <a:tcPr marL="54864" marR="54864" marT="27432" marB="27432">
                    <a:solidFill>
                      <a:srgbClr val="002E6E"/>
                    </a:solidFill>
                  </a:tcPr>
                </a:tc>
                <a:tc>
                  <a:txBody>
                    <a:bodyPr wrap="square"/>
                    <a:lstStyle/>
                    <a:p>
                      <a:r>
                        <a:rPr sz="1200" b="1" i="0">
                          <a:solidFill>
                            <a:srgbClr val="FFFFFF"/>
                          </a:solidFill>
                          <a:latin typeface="Calibri"/>
                        </a:rPr>
                        <a:t>Inclusion rule</a:t>
                      </a:r>
                    </a:p>
                  </a:txBody>
                  <a:tcPr marL="54864" marR="54864" marT="27432" marB="27432">
                    <a:solidFill>
                      <a:srgbClr val="002E6E"/>
                    </a:solidFill>
                  </a:tcPr>
                </a:tc>
                <a:tc>
                  <a:txBody>
                    <a:bodyPr wrap="square"/>
                    <a:lstStyle/>
                    <a:p>
                      <a:r>
                        <a:rPr sz="1200" b="1" i="0">
                          <a:solidFill>
                            <a:srgbClr val="FFFFFF"/>
                          </a:solidFill>
                          <a:latin typeface="Calibri"/>
                        </a:rPr>
                        <a:t>Merchants</a:t>
                      </a:r>
                    </a:p>
                  </a:txBody>
                  <a:tcPr marL="54864" marR="54864" marT="27432" marB="27432">
                    <a:solidFill>
                      <a:srgbClr val="002E6E"/>
                    </a:solidFill>
                  </a:tcPr>
                </a:tc>
                <a:tc>
                  <a:txBody>
                    <a:bodyPr wrap="square"/>
                    <a:lstStyle/>
                    <a:p>
                      <a:r>
                        <a:rPr sz="1200" b="1" i="0">
                          <a:solidFill>
                            <a:srgbClr val="FFFFFF"/>
                          </a:solidFill>
                          <a:latin typeface="Calibri"/>
                        </a:rPr>
                        <a:t>Yes / maybe / no</a:t>
                      </a:r>
                    </a:p>
                  </a:txBody>
                  <a:tcPr marL="54864" marR="54864" marT="27432" marB="27432">
                    <a:solidFill>
                      <a:srgbClr val="002E6E"/>
                    </a:solidFill>
                  </a:tcPr>
                </a:tc>
              </a:tr>
              <a:tr h="621792">
                <a:tc>
                  <a:txBody>
                    <a:bodyPr wrap="square"/>
                    <a:lstStyle/>
                    <a:p>
                      <a:r>
                        <a:rPr sz="1200" b="1" i="0">
                          <a:solidFill>
                            <a:srgbClr val="1B2733"/>
                          </a:solidFill>
                          <a:latin typeface="Calibri"/>
                        </a:rPr>
                        <a:t>1 · High potential</a:t>
                      </a:r>
                    </a:p>
                  </a:txBody>
                  <a:tcPr marL="54864" marR="54864" marT="27432" marB="27432">
                    <a:solidFill>
                      <a:srgbClr val="FFFFFF"/>
                    </a:solidFill>
                  </a:tcPr>
                </a:tc>
                <a:tc>
                  <a:txBody>
                    <a:bodyPr wrap="square"/>
                    <a:lstStyle/>
                    <a:p>
                      <a:r>
                        <a:rPr sz="1200" b="0" i="0">
                          <a:solidFill>
                            <a:srgbClr val="1B2733"/>
                          </a:solidFill>
                          <a:latin typeface="Calibri"/>
                        </a:rPr>
                        <a:t>Paytm collector; next-day or separate-account settlement; vendor UPI ≥ weekly; owner or manager chooses; stated friction</a:t>
                      </a:r>
                    </a:p>
                  </a:txBody>
                  <a:tcPr marL="54864" marR="54864" marT="27432" marB="27432">
                    <a:solidFill>
                      <a:srgbClr val="FFFFFF"/>
                    </a:solidFill>
                  </a:tcPr>
                </a:tc>
                <a:tc>
                  <a:txBody>
                    <a:bodyPr wrap="square"/>
                    <a:lstStyle/>
                    <a:p>
                      <a:r>
                        <a:rPr sz="1200" b="0" i="0">
                          <a:solidFill>
                            <a:srgbClr val="1B2733"/>
                          </a:solidFill>
                          <a:latin typeface="Calibri"/>
                        </a:rPr>
                        <a:t>16</a:t>
                      </a:r>
                    </a:p>
                  </a:txBody>
                  <a:tcPr marL="54864" marR="54864" marT="27432" marB="27432">
                    <a:solidFill>
                      <a:srgbClr val="FFFFFF"/>
                    </a:solidFill>
                  </a:tcPr>
                </a:tc>
                <a:tc>
                  <a:txBody>
                    <a:bodyPr wrap="square"/>
                    <a:lstStyle/>
                    <a:p>
                      <a:r>
                        <a:rPr sz="1200" b="0" i="0">
                          <a:solidFill>
                            <a:srgbClr val="1B2733"/>
                          </a:solidFill>
                          <a:latin typeface="Calibri"/>
                        </a:rPr>
                        <a:t>7 / 9 / 0</a:t>
                      </a:r>
                    </a:p>
                  </a:txBody>
                  <a:tcPr marL="54864" marR="54864" marT="27432" marB="27432">
                    <a:solidFill>
                      <a:srgbClr val="FFFFFF"/>
                    </a:solidFill>
                  </a:tcPr>
                </a:tc>
              </a:tr>
              <a:tr h="621792">
                <a:tc>
                  <a:txBody>
                    <a:bodyPr wrap="square"/>
                    <a:lstStyle/>
                    <a:p>
                      <a:r>
                        <a:rPr sz="1200" b="1" i="0">
                          <a:solidFill>
                            <a:srgbClr val="1B2733"/>
                          </a:solidFill>
                          <a:latin typeface="Calibri"/>
                        </a:rPr>
                        <a:t>2 · May try</a:t>
                      </a:r>
                    </a:p>
                  </a:txBody>
                  <a:tcPr marL="54864" marR="54864" marT="27432" marB="27432">
                    <a:solidFill>
                      <a:srgbClr val="EEF5FC"/>
                    </a:solidFill>
                  </a:tcPr>
                </a:tc>
                <a:tc>
                  <a:txBody>
                    <a:bodyPr wrap="square"/>
                    <a:lstStyle/>
                    <a:p>
                      <a:r>
                        <a:rPr sz="1200" b="0" i="0">
                          <a:solidFill>
                            <a:srgbClr val="1B2733"/>
                          </a:solidFill>
                          <a:latin typeface="Calibri"/>
                        </a:rPr>
                        <a:t>Paytm collector not in 1 or 3: next-day with no friction (7) or same-day with friction (9, of which 7 contradictory)</a:t>
                      </a:r>
                    </a:p>
                  </a:txBody>
                  <a:tcPr marL="54864" marR="54864" marT="27432" marB="27432">
                    <a:solidFill>
                      <a:srgbClr val="EEF5FC"/>
                    </a:solidFill>
                  </a:tcPr>
                </a:tc>
                <a:tc>
                  <a:txBody>
                    <a:bodyPr wrap="square"/>
                    <a:lstStyle/>
                    <a:p>
                      <a:r>
                        <a:rPr sz="1200" b="0" i="0">
                          <a:solidFill>
                            <a:srgbClr val="1B2733"/>
                          </a:solidFill>
                          <a:latin typeface="Calibri"/>
                        </a:rPr>
                        <a:t>16</a:t>
                      </a:r>
                    </a:p>
                  </a:txBody>
                  <a:tcPr marL="54864" marR="54864" marT="27432" marB="27432">
                    <a:solidFill>
                      <a:srgbClr val="EEF5FC"/>
                    </a:solidFill>
                  </a:tcPr>
                </a:tc>
                <a:tc>
                  <a:txBody>
                    <a:bodyPr wrap="square"/>
                    <a:lstStyle/>
                    <a:p>
                      <a:r>
                        <a:rPr sz="1200" b="0" i="0">
                          <a:solidFill>
                            <a:srgbClr val="1B2733"/>
                          </a:solidFill>
                          <a:latin typeface="Calibri"/>
                        </a:rPr>
                        <a:t>4 / 8 / 4</a:t>
                      </a:r>
                    </a:p>
                  </a:txBody>
                  <a:tcPr marL="54864" marR="54864" marT="27432" marB="27432">
                    <a:solidFill>
                      <a:srgbClr val="EEF5FC"/>
                    </a:solidFill>
                  </a:tcPr>
                </a:tc>
              </a:tr>
              <a:tr h="621792">
                <a:tc>
                  <a:txBody>
                    <a:bodyPr wrap="square"/>
                    <a:lstStyle/>
                    <a:p>
                      <a:r>
                        <a:rPr sz="1200" b="1" i="0">
                          <a:solidFill>
                            <a:srgbClr val="1B2733"/>
                          </a:solidFill>
                          <a:latin typeface="Calibri"/>
                        </a:rPr>
                        <a:t>3 · Little value</a:t>
                      </a:r>
                    </a:p>
                  </a:txBody>
                  <a:tcPr marL="54864" marR="54864" marT="27432" marB="27432">
                    <a:solidFill>
                      <a:srgbClr val="FFFFFF"/>
                    </a:solidFill>
                  </a:tcPr>
                </a:tc>
                <a:tc>
                  <a:txBody>
                    <a:bodyPr wrap="square"/>
                    <a:lstStyle/>
                    <a:p>
                      <a:r>
                        <a:rPr sz="1200" b="0" i="0">
                          <a:solidFill>
                            <a:srgbClr val="1B2733"/>
                          </a:solidFill>
                          <a:latin typeface="Calibri"/>
                        </a:rPr>
                        <a:t>No or partial Paytm collection (8); accountant chooses (2); same-day, no friction (8)</a:t>
                      </a:r>
                    </a:p>
                  </a:txBody>
                  <a:tcPr marL="54864" marR="54864" marT="27432" marB="27432">
                    <a:solidFill>
                      <a:srgbClr val="FFFFFF"/>
                    </a:solidFill>
                  </a:tcPr>
                </a:tc>
                <a:tc>
                  <a:txBody>
                    <a:bodyPr wrap="square"/>
                    <a:lstStyle/>
                    <a:p>
                      <a:r>
                        <a:rPr sz="1200" b="0" i="0">
                          <a:solidFill>
                            <a:srgbClr val="1B2733"/>
                          </a:solidFill>
                          <a:latin typeface="Calibri"/>
                        </a:rPr>
                        <a:t>18</a:t>
                      </a:r>
                    </a:p>
                  </a:txBody>
                  <a:tcPr marL="54864" marR="54864" marT="27432" marB="27432">
                    <a:solidFill>
                      <a:srgbClr val="FFFFFF"/>
                    </a:solidFill>
                  </a:tcPr>
                </a:tc>
                <a:tc>
                  <a:txBody>
                    <a:bodyPr wrap="square"/>
                    <a:lstStyle/>
                    <a:p>
                      <a:r>
                        <a:rPr sz="1200" b="0" i="0">
                          <a:solidFill>
                            <a:srgbClr val="1B2733"/>
                          </a:solidFill>
                          <a:latin typeface="Calibri"/>
                        </a:rPr>
                        <a:t>1 / 4 / 13</a:t>
                      </a:r>
                    </a:p>
                  </a:txBody>
                  <a:tcPr marL="54864" marR="54864" marT="27432" marB="27432">
                    <a:solidFill>
                      <a:srgbClr val="FFFFFF"/>
                    </a:solidFill>
                  </a:tcPr>
                </a:tc>
              </a:tr>
            </a:tbl>
          </a:graphicData>
        </a:graphic>
      </p:graphicFrame>
      <p:graphicFrame>
        <p:nvGraphicFramePr>
          <p:cNvPr id="8" name="a2_settle"/>
          <p:cNvGraphicFramePr>
            <a:graphicFrameLocks noGrp="1"/>
          </p:cNvGraphicFramePr>
          <p:nvPr/>
        </p:nvGraphicFramePr>
        <p:xfrm>
          <a:off x="7269480" y="1691640"/>
          <a:ext cx="4370832" cy="1700784"/>
        </p:xfrm>
        <a:graphic>
          <a:graphicData uri="http://schemas.openxmlformats.org/drawingml/2006/table">
            <a:tbl>
              <a:tblPr firstRow="1">
                <a:tableStyleId>{5C22544A-7EE6-4342-B048-85BDC9FD1C3A}</a:tableStyleId>
              </a:tblPr>
              <a:tblGrid>
                <a:gridCol w="2194560"/>
                <a:gridCol w="914400"/>
                <a:gridCol w="1261872"/>
              </a:tblGrid>
              <a:tr h="329184">
                <a:tc>
                  <a:txBody>
                    <a:bodyPr wrap="square"/>
                    <a:lstStyle/>
                    <a:p>
                      <a:r>
                        <a:rPr sz="1200" b="1" i="0">
                          <a:solidFill>
                            <a:srgbClr val="FFFFFF"/>
                          </a:solidFill>
                          <a:latin typeface="Calibri"/>
                        </a:rPr>
                        <a:t>Settlement (42 Paytm collectors)</a:t>
                      </a:r>
                    </a:p>
                  </a:txBody>
                  <a:tcPr marL="54864" marR="54864" marT="27432" marB="27432">
                    <a:solidFill>
                      <a:srgbClr val="002E6E"/>
                    </a:solidFill>
                  </a:tcPr>
                </a:tc>
                <a:tc>
                  <a:txBody>
                    <a:bodyPr wrap="square"/>
                    <a:lstStyle/>
                    <a:p>
                      <a:r>
                        <a:rPr sz="1200" b="1" i="0">
                          <a:solidFill>
                            <a:srgbClr val="FFFFFF"/>
                          </a:solidFill>
                          <a:latin typeface="Calibri"/>
                        </a:rPr>
                        <a:t>Merchants</a:t>
                      </a:r>
                    </a:p>
                  </a:txBody>
                  <a:tcPr marL="54864" marR="54864" marT="27432" marB="27432">
                    <a:solidFill>
                      <a:srgbClr val="002E6E"/>
                    </a:solidFill>
                  </a:tcPr>
                </a:tc>
                <a:tc>
                  <a:txBody>
                    <a:bodyPr wrap="square"/>
                    <a:lstStyle/>
                    <a:p>
                      <a:r>
                        <a:rPr sz="1200" b="1" i="0">
                          <a:solidFill>
                            <a:srgbClr val="FFFFFF"/>
                          </a:solidFill>
                          <a:latin typeface="Calibri"/>
                        </a:rPr>
                        <a:t>Yes / maybe / no</a:t>
                      </a:r>
                    </a:p>
                  </a:txBody>
                  <a:tcPr marL="54864" marR="54864" marT="27432" marB="27432">
                    <a:solidFill>
                      <a:srgbClr val="002E6E"/>
                    </a:solidFill>
                  </a:tcPr>
                </a:tc>
              </a:tr>
              <a:tr h="457200">
                <a:tc>
                  <a:txBody>
                    <a:bodyPr wrap="square"/>
                    <a:lstStyle/>
                    <a:p>
                      <a:r>
                        <a:rPr sz="1200" b="0" i="0">
                          <a:solidFill>
                            <a:srgbClr val="1B2733"/>
                          </a:solidFill>
                          <a:latin typeface="Calibri"/>
                        </a:rPr>
                        <a:t>Same day</a:t>
                      </a:r>
                    </a:p>
                  </a:txBody>
                  <a:tcPr marL="54864" marR="54864" marT="27432" marB="27432">
                    <a:solidFill>
                      <a:srgbClr val="FFFFFF"/>
                    </a:solidFill>
                  </a:tcPr>
                </a:tc>
                <a:tc>
                  <a:txBody>
                    <a:bodyPr wrap="square"/>
                    <a:lstStyle/>
                    <a:p>
                      <a:r>
                        <a:rPr sz="1200" b="0" i="0">
                          <a:solidFill>
                            <a:srgbClr val="1B2733"/>
                          </a:solidFill>
                          <a:latin typeface="Calibri"/>
                        </a:rPr>
                        <a:t>19</a:t>
                      </a:r>
                    </a:p>
                  </a:txBody>
                  <a:tcPr marL="54864" marR="54864" marT="27432" marB="27432">
                    <a:solidFill>
                      <a:srgbClr val="FFFFFF"/>
                    </a:solidFill>
                  </a:tcPr>
                </a:tc>
                <a:tc>
                  <a:txBody>
                    <a:bodyPr wrap="square"/>
                    <a:lstStyle/>
                    <a:p>
                      <a:r>
                        <a:rPr sz="1200" b="0" i="0">
                          <a:solidFill>
                            <a:srgbClr val="1B2733"/>
                          </a:solidFill>
                          <a:latin typeface="Calibri"/>
                        </a:rPr>
                        <a:t>4 / 6 / 9</a:t>
                      </a:r>
                    </a:p>
                  </a:txBody>
                  <a:tcPr marL="54864" marR="54864" marT="27432" marB="27432">
                    <a:solidFill>
                      <a:srgbClr val="FFFFFF"/>
                    </a:solidFill>
                  </a:tcPr>
                </a:tc>
              </a:tr>
              <a:tr h="457200">
                <a:tc>
                  <a:txBody>
                    <a:bodyPr wrap="square"/>
                    <a:lstStyle/>
                    <a:p>
                      <a:r>
                        <a:rPr sz="1200" b="0" i="0">
                          <a:solidFill>
                            <a:srgbClr val="1B2733"/>
                          </a:solidFill>
                          <a:latin typeface="Calibri"/>
                        </a:rPr>
                        <a:t>Next day</a:t>
                      </a:r>
                    </a:p>
                  </a:txBody>
                  <a:tcPr marL="54864" marR="54864" marT="27432" marB="27432">
                    <a:solidFill>
                      <a:srgbClr val="EEF5FC"/>
                    </a:solidFill>
                  </a:tcPr>
                </a:tc>
                <a:tc>
                  <a:txBody>
                    <a:bodyPr wrap="square"/>
                    <a:lstStyle/>
                    <a:p>
                      <a:r>
                        <a:rPr sz="1200" b="0" i="0">
                          <a:solidFill>
                            <a:srgbClr val="1B2733"/>
                          </a:solidFill>
                          <a:latin typeface="Calibri"/>
                        </a:rPr>
                        <a:t>17</a:t>
                      </a:r>
                    </a:p>
                  </a:txBody>
                  <a:tcPr marL="54864" marR="54864" marT="27432" marB="27432">
                    <a:solidFill>
                      <a:srgbClr val="EEF5FC"/>
                    </a:solidFill>
                  </a:tcPr>
                </a:tc>
                <a:tc>
                  <a:txBody>
                    <a:bodyPr wrap="square"/>
                    <a:lstStyle/>
                    <a:p>
                      <a:r>
                        <a:rPr sz="1200" b="0" i="0">
                          <a:solidFill>
                            <a:srgbClr val="1B2733"/>
                          </a:solidFill>
                          <a:latin typeface="Calibri"/>
                        </a:rPr>
                        <a:t>4 / 11 / 2</a:t>
                      </a:r>
                    </a:p>
                  </a:txBody>
                  <a:tcPr marL="54864" marR="54864" marT="27432" marB="27432">
                    <a:solidFill>
                      <a:srgbClr val="EEF5FC"/>
                    </a:solidFill>
                  </a:tcPr>
                </a:tc>
              </a:tr>
              <a:tr h="457200">
                <a:tc>
                  <a:txBody>
                    <a:bodyPr wrap="square"/>
                    <a:lstStyle/>
                    <a:p>
                      <a:r>
                        <a:rPr sz="1200" b="0" i="0">
                          <a:solidFill>
                            <a:srgbClr val="1B2733"/>
                          </a:solidFill>
                          <a:latin typeface="Calibri"/>
                        </a:rPr>
                        <a:t>Next day, separate current account</a:t>
                      </a:r>
                    </a:p>
                  </a:txBody>
                  <a:tcPr marL="54864" marR="54864" marT="27432" marB="27432">
                    <a:solidFill>
                      <a:srgbClr val="FFFFFF"/>
                    </a:solidFill>
                  </a:tcPr>
                </a:tc>
                <a:tc>
                  <a:txBody>
                    <a:bodyPr wrap="square"/>
                    <a:lstStyle/>
                    <a:p>
                      <a:r>
                        <a:rPr sz="1200" b="0" i="0">
                          <a:solidFill>
                            <a:srgbClr val="1B2733"/>
                          </a:solidFill>
                          <a:latin typeface="Calibri"/>
                        </a:rPr>
                        <a:t>6</a:t>
                      </a:r>
                    </a:p>
                  </a:txBody>
                  <a:tcPr marL="54864" marR="54864" marT="27432" marB="27432">
                    <a:solidFill>
                      <a:srgbClr val="FFFFFF"/>
                    </a:solidFill>
                  </a:tcPr>
                </a:tc>
                <a:tc>
                  <a:txBody>
                    <a:bodyPr wrap="square"/>
                    <a:lstStyle/>
                    <a:p>
                      <a:r>
                        <a:rPr sz="1200" b="0" i="0">
                          <a:solidFill>
                            <a:srgbClr val="1B2733"/>
                          </a:solidFill>
                          <a:latin typeface="Calibri"/>
                        </a:rPr>
                        <a:t>3 / 3 / 0</a:t>
                      </a:r>
                    </a:p>
                  </a:txBody>
                  <a:tcPr marL="54864" marR="54864" marT="27432" marB="27432">
                    <a:solidFill>
                      <a:srgbClr val="FFFFFF"/>
                    </a:solidFill>
                  </a:tcPr>
                </a:tc>
              </a:tr>
            </a:tbl>
          </a:graphicData>
        </a:graphic>
      </p:graphicFrame>
      <p:graphicFrame>
        <p:nvGraphicFramePr>
          <p:cNvPr id="9" name="a2_reactions"/>
          <p:cNvGraphicFramePr>
            <a:graphicFrameLocks noGrp="1"/>
          </p:cNvGraphicFramePr>
          <p:nvPr/>
        </p:nvGraphicFramePr>
        <p:xfrm>
          <a:off x="548640" y="4343400"/>
          <a:ext cx="11091672" cy="1645920"/>
        </p:xfrm>
        <a:graphic>
          <a:graphicData uri="http://schemas.openxmlformats.org/drawingml/2006/table">
            <a:tbl>
              <a:tblPr firstRow="1">
                <a:tableStyleId>{5C22544A-7EE6-4342-B048-85BDC9FD1C3A}</a:tableStyleId>
              </a:tblPr>
              <a:tblGrid>
                <a:gridCol w="5669280"/>
                <a:gridCol w="1097280"/>
                <a:gridCol w="1188720"/>
                <a:gridCol w="1691640"/>
                <a:gridCol w="1444752"/>
              </a:tblGrid>
              <a:tr h="329184">
                <a:tc>
                  <a:txBody>
                    <a:bodyPr wrap="square"/>
                    <a:lstStyle/>
                    <a:p>
                      <a:r>
                        <a:rPr sz="1200" b="1" i="0">
                          <a:solidFill>
                            <a:srgbClr val="FFFFFF"/>
                          </a:solidFill>
                          <a:latin typeface="Calibri"/>
                        </a:rPr>
                        <a:t>Reaction to the concept (grouped)</a:t>
                      </a:r>
                    </a:p>
                  </a:txBody>
                  <a:tcPr marL="54864" marR="54864" marT="27432" marB="27432">
                    <a:solidFill>
                      <a:srgbClr val="002E6E"/>
                    </a:solidFill>
                  </a:tcPr>
                </a:tc>
                <a:tc>
                  <a:txBody>
                    <a:bodyPr wrap="square"/>
                    <a:lstStyle/>
                    <a:p>
                      <a:r>
                        <a:rPr sz="1200" b="1" i="0">
                          <a:solidFill>
                            <a:srgbClr val="FFFFFF"/>
                          </a:solidFill>
                          <a:latin typeface="Calibri"/>
                        </a:rPr>
                        <a:t>All 50</a:t>
                      </a:r>
                    </a:p>
                  </a:txBody>
                  <a:tcPr marL="54864" marR="54864" marT="27432" marB="27432">
                    <a:solidFill>
                      <a:srgbClr val="002E6E"/>
                    </a:solidFill>
                  </a:tcPr>
                </a:tc>
                <a:tc>
                  <a:txBody>
                    <a:bodyPr wrap="square"/>
                    <a:lstStyle/>
                    <a:p>
                      <a:r>
                        <a:rPr sz="1200" b="1" i="0">
                          <a:solidFill>
                            <a:srgbClr val="FFFFFF"/>
                          </a:solidFill>
                          <a:latin typeface="Calibri"/>
                        </a:rPr>
                        <a:t>Clean 39</a:t>
                      </a:r>
                    </a:p>
                  </a:txBody>
                  <a:tcPr marL="54864" marR="54864" marT="27432" marB="27432">
                    <a:solidFill>
                      <a:srgbClr val="002E6E"/>
                    </a:solidFill>
                  </a:tcPr>
                </a:tc>
                <a:tc>
                  <a:txBody>
                    <a:bodyPr wrap="square"/>
                    <a:lstStyle/>
                    <a:p>
                      <a:r>
                        <a:rPr sz="1200" b="1" i="0">
                          <a:solidFill>
                            <a:srgbClr val="FFFFFF"/>
                          </a:solidFill>
                          <a:latin typeface="Calibri"/>
                        </a:rPr>
                        <a:t>Yes / maybe / no</a:t>
                      </a:r>
                    </a:p>
                  </a:txBody>
                  <a:tcPr marL="54864" marR="54864" marT="27432" marB="27432">
                    <a:solidFill>
                      <a:srgbClr val="002E6E"/>
                    </a:solidFill>
                  </a:tcPr>
                </a:tc>
                <a:tc>
                  <a:txBody>
                    <a:bodyPr wrap="square"/>
                    <a:lstStyle/>
                    <a:p>
                      <a:r>
                        <a:rPr sz="1200" b="1" i="0">
                          <a:solidFill>
                            <a:srgbClr val="FFFFFF"/>
                          </a:solidFill>
                          <a:latin typeface="Calibri"/>
                        </a:rPr>
                        <a:t>Status</a:t>
                      </a:r>
                    </a:p>
                  </a:txBody>
                  <a:tcPr marL="54864" marR="54864" marT="27432" marB="27432">
                    <a:solidFill>
                      <a:srgbClr val="002E6E"/>
                    </a:solidFill>
                  </a:tcPr>
                </a:tc>
              </a:tr>
              <a:tr h="329184">
                <a:tc>
                  <a:txBody>
                    <a:bodyPr wrap="square"/>
                    <a:lstStyle/>
                    <a:p>
                      <a:r>
                        <a:rPr sz="1200" b="0" i="0">
                          <a:solidFill>
                            <a:srgbClr val="1B2733"/>
                          </a:solidFill>
                          <a:latin typeface="Calibri"/>
                        </a:rPr>
                        <a:t>Would pay suppliers from today's collections, or avoid moving money between accounts</a:t>
                      </a:r>
                    </a:p>
                  </a:txBody>
                  <a:tcPr marL="54864" marR="54864" marT="27432" marB="27432">
                    <a:solidFill>
                      <a:srgbClr val="FFFFFF"/>
                    </a:solidFill>
                  </a:tcPr>
                </a:tc>
                <a:tc>
                  <a:txBody>
                    <a:bodyPr wrap="square"/>
                    <a:lstStyle/>
                    <a:p>
                      <a:r>
                        <a:rPr sz="1200" b="0" i="0">
                          <a:solidFill>
                            <a:srgbClr val="1B2733"/>
                          </a:solidFill>
                          <a:latin typeface="Calibri"/>
                        </a:rPr>
                        <a:t>16</a:t>
                      </a:r>
                    </a:p>
                  </a:txBody>
                  <a:tcPr marL="54864" marR="54864" marT="27432" marB="27432">
                    <a:solidFill>
                      <a:srgbClr val="FFFFFF"/>
                    </a:solidFill>
                  </a:tcPr>
                </a:tc>
                <a:tc>
                  <a:txBody>
                    <a:bodyPr wrap="square"/>
                    <a:lstStyle/>
                    <a:p>
                      <a:r>
                        <a:rPr sz="1200" b="0" i="0">
                          <a:solidFill>
                            <a:srgbClr val="1B2733"/>
                          </a:solidFill>
                          <a:latin typeface="Calibri"/>
                        </a:rPr>
                        <a:t>10</a:t>
                      </a:r>
                    </a:p>
                  </a:txBody>
                  <a:tcPr marL="54864" marR="54864" marT="27432" marB="27432">
                    <a:solidFill>
                      <a:srgbClr val="FFFFFF"/>
                    </a:solidFill>
                  </a:tcPr>
                </a:tc>
                <a:tc>
                  <a:txBody>
                    <a:bodyPr wrap="square"/>
                    <a:lstStyle/>
                    <a:p>
                      <a:r>
                        <a:rPr sz="1200" b="0" i="0">
                          <a:solidFill>
                            <a:srgbClr val="1B2733"/>
                          </a:solidFill>
                          <a:latin typeface="Calibri"/>
                        </a:rPr>
                        <a:t>9 / 7 / 0</a:t>
                      </a:r>
                    </a:p>
                  </a:txBody>
                  <a:tcPr marL="54864" marR="54864" marT="27432" marB="27432">
                    <a:solidFill>
                      <a:srgbClr val="FFFFFF"/>
                    </a:solidFill>
                  </a:tcPr>
                </a:tc>
                <a:tc>
                  <a:txBody>
                    <a:bodyPr wrap="square"/>
                    <a:lstStyle/>
                    <a:p>
                      <a:r>
                        <a:rPr sz="1200" b="0" i="0">
                          <a:solidFill>
                            <a:srgbClr val="1B2733"/>
                          </a:solidFill>
                          <a:latin typeface="Calibri"/>
                        </a:rPr>
                        <a:t>Synthetic</a:t>
                      </a:r>
                    </a:p>
                  </a:txBody>
                  <a:tcPr marL="54864" marR="54864" marT="27432" marB="27432">
                    <a:solidFill>
                      <a:srgbClr val="FFFFFF"/>
                    </a:solidFill>
                  </a:tcPr>
                </a:tc>
              </a:tr>
              <a:tr h="329184">
                <a:tc>
                  <a:txBody>
                    <a:bodyPr wrap="square"/>
                    <a:lstStyle/>
                    <a:p>
                      <a:r>
                        <a:rPr sz="1200" b="0" i="0">
                          <a:solidFill>
                            <a:srgbClr val="1B2733"/>
                          </a:solidFill>
                          <a:latin typeface="Calibri"/>
                        </a:rPr>
                        <a:t>Values staff access with limits and owner visibility more than the app</a:t>
                      </a:r>
                    </a:p>
                  </a:txBody>
                  <a:tcPr marL="54864" marR="54864" marT="27432" marB="27432">
                    <a:solidFill>
                      <a:srgbClr val="EEF5FC"/>
                    </a:solidFill>
                  </a:tcPr>
                </a:tc>
                <a:tc>
                  <a:txBody>
                    <a:bodyPr wrap="square"/>
                    <a:lstStyle/>
                    <a:p>
                      <a:r>
                        <a:rPr sz="1200" b="0" i="0">
                          <a:solidFill>
                            <a:srgbClr val="1B2733"/>
                          </a:solidFill>
                          <a:latin typeface="Calibri"/>
                        </a:rPr>
                        <a:t>9</a:t>
                      </a:r>
                    </a:p>
                  </a:txBody>
                  <a:tcPr marL="54864" marR="54864" marT="27432" marB="27432">
                    <a:solidFill>
                      <a:srgbClr val="EEF5FC"/>
                    </a:solidFill>
                  </a:tcPr>
                </a:tc>
                <a:tc>
                  <a:txBody>
                    <a:bodyPr wrap="square"/>
                    <a:lstStyle/>
                    <a:p>
                      <a:r>
                        <a:rPr sz="1200" b="0" i="0">
                          <a:solidFill>
                            <a:srgbClr val="1B2733"/>
                          </a:solidFill>
                          <a:latin typeface="Calibri"/>
                        </a:rPr>
                        <a:t>9</a:t>
                      </a:r>
                    </a:p>
                  </a:txBody>
                  <a:tcPr marL="54864" marR="54864" marT="27432" marB="27432">
                    <a:solidFill>
                      <a:srgbClr val="EEF5FC"/>
                    </a:solidFill>
                  </a:tcPr>
                </a:tc>
                <a:tc>
                  <a:txBody>
                    <a:bodyPr wrap="square"/>
                    <a:lstStyle/>
                    <a:p>
                      <a:r>
                        <a:rPr sz="1200" b="0" i="0">
                          <a:solidFill>
                            <a:srgbClr val="1B2733"/>
                          </a:solidFill>
                          <a:latin typeface="Calibri"/>
                        </a:rPr>
                        <a:t>2 / 5 / 2</a:t>
                      </a:r>
                    </a:p>
                  </a:txBody>
                  <a:tcPr marL="54864" marR="54864" marT="27432" marB="27432">
                    <a:solidFill>
                      <a:srgbClr val="EEF5FC"/>
                    </a:solidFill>
                  </a:tcPr>
                </a:tc>
                <a:tc>
                  <a:txBody>
                    <a:bodyPr wrap="square"/>
                    <a:lstStyle/>
                    <a:p>
                      <a:r>
                        <a:rPr sz="1200" b="0" i="0">
                          <a:solidFill>
                            <a:srgbClr val="1B2733"/>
                          </a:solidFill>
                          <a:latin typeface="Calibri"/>
                        </a:rPr>
                        <a:t>Synthetic</a:t>
                      </a:r>
                    </a:p>
                  </a:txBody>
                  <a:tcPr marL="54864" marR="54864" marT="27432" marB="27432">
                    <a:solidFill>
                      <a:srgbClr val="EEF5FC"/>
                    </a:solidFill>
                  </a:tcPr>
                </a:tc>
              </a:tr>
              <a:tr h="329184">
                <a:tc>
                  <a:txBody>
                    <a:bodyPr wrap="square"/>
                    <a:lstStyle/>
                    <a:p>
                      <a:r>
                        <a:rPr sz="1200" b="0" i="0">
                          <a:solidFill>
                            <a:srgbClr val="1B2733"/>
                          </a:solidFill>
                          <a:latin typeface="Calibri"/>
                        </a:rPr>
                        <a:t>Would try it but keep their current app</a:t>
                      </a:r>
                    </a:p>
                  </a:txBody>
                  <a:tcPr marL="54864" marR="54864" marT="27432" marB="27432">
                    <a:solidFill>
                      <a:srgbClr val="FFFFFF"/>
                    </a:solidFill>
                  </a:tcPr>
                </a:tc>
                <a:tc>
                  <a:txBody>
                    <a:bodyPr wrap="square"/>
                    <a:lstStyle/>
                    <a:p>
                      <a:r>
                        <a:rPr sz="1200" b="0" i="0">
                          <a:solidFill>
                            <a:srgbClr val="1B2733"/>
                          </a:solidFill>
                          <a:latin typeface="Calibri"/>
                        </a:rPr>
                        <a:t>8</a:t>
                      </a:r>
                    </a:p>
                  </a:txBody>
                  <a:tcPr marL="54864" marR="54864" marT="27432" marB="27432">
                    <a:solidFill>
                      <a:srgbClr val="FFFFFF"/>
                    </a:solidFill>
                  </a:tcPr>
                </a:tc>
                <a:tc>
                  <a:txBody>
                    <a:bodyPr wrap="square"/>
                    <a:lstStyle/>
                    <a:p>
                      <a:r>
                        <a:rPr sz="1200" b="0" i="0">
                          <a:solidFill>
                            <a:srgbClr val="1B2733"/>
                          </a:solidFill>
                          <a:latin typeface="Calibri"/>
                        </a:rPr>
                        <a:t>8</a:t>
                      </a:r>
                    </a:p>
                  </a:txBody>
                  <a:tcPr marL="54864" marR="54864" marT="27432" marB="27432">
                    <a:solidFill>
                      <a:srgbClr val="FFFFFF"/>
                    </a:solidFill>
                  </a:tcPr>
                </a:tc>
                <a:tc>
                  <a:txBody>
                    <a:bodyPr wrap="square"/>
                    <a:lstStyle/>
                    <a:p>
                      <a:r>
                        <a:rPr sz="1200" b="0" i="0">
                          <a:solidFill>
                            <a:srgbClr val="1B2733"/>
                          </a:solidFill>
                          <a:latin typeface="Calibri"/>
                        </a:rPr>
                        <a:t>0 / 6 / 2</a:t>
                      </a:r>
                    </a:p>
                  </a:txBody>
                  <a:tcPr marL="54864" marR="54864" marT="27432" marB="27432">
                    <a:solidFill>
                      <a:srgbClr val="FFFFFF"/>
                    </a:solidFill>
                  </a:tcPr>
                </a:tc>
                <a:tc>
                  <a:txBody>
                    <a:bodyPr wrap="square"/>
                    <a:lstStyle/>
                    <a:p>
                      <a:r>
                        <a:rPr sz="1200" b="0" i="0">
                          <a:solidFill>
                            <a:srgbClr val="1B2733"/>
                          </a:solidFill>
                          <a:latin typeface="Calibri"/>
                        </a:rPr>
                        <a:t>Synthetic</a:t>
                      </a:r>
                    </a:p>
                  </a:txBody>
                  <a:tcPr marL="54864" marR="54864" marT="27432" marB="27432">
                    <a:solidFill>
                      <a:srgbClr val="FFFFFF"/>
                    </a:solidFill>
                  </a:tcPr>
                </a:tc>
              </a:tr>
              <a:tr h="329184">
                <a:tc>
                  <a:txBody>
                    <a:bodyPr wrap="square"/>
                    <a:lstStyle/>
                    <a:p>
                      <a:r>
                        <a:rPr sz="1200" b="0" i="0">
                          <a:solidFill>
                            <a:srgbClr val="1B2733"/>
                          </a:solidFill>
                          <a:latin typeface="Calibri"/>
                        </a:rPr>
                        <a:t>Rejects: same-day settlement, invoice-led payments, or no Paytm collections</a:t>
                      </a:r>
                    </a:p>
                  </a:txBody>
                  <a:tcPr marL="54864" marR="54864" marT="27432" marB="27432">
                    <a:solidFill>
                      <a:srgbClr val="EEF5FC"/>
                    </a:solidFill>
                  </a:tcPr>
                </a:tc>
                <a:tc>
                  <a:txBody>
                    <a:bodyPr wrap="square"/>
                    <a:lstStyle/>
                    <a:p>
                      <a:r>
                        <a:rPr sz="1200" b="0" i="0">
                          <a:solidFill>
                            <a:srgbClr val="1B2733"/>
                          </a:solidFill>
                          <a:latin typeface="Calibri"/>
                        </a:rPr>
                        <a:t>11</a:t>
                      </a:r>
                    </a:p>
                  </a:txBody>
                  <a:tcPr marL="54864" marR="54864" marT="27432" marB="27432">
                    <a:solidFill>
                      <a:srgbClr val="EEF5FC"/>
                    </a:solidFill>
                  </a:tcPr>
                </a:tc>
                <a:tc>
                  <a:txBody>
                    <a:bodyPr wrap="square"/>
                    <a:lstStyle/>
                    <a:p>
                      <a:r>
                        <a:rPr sz="1200" b="0" i="0">
                          <a:solidFill>
                            <a:srgbClr val="1B2733"/>
                          </a:solidFill>
                          <a:latin typeface="Calibri"/>
                        </a:rPr>
                        <a:t>9</a:t>
                      </a:r>
                    </a:p>
                  </a:txBody>
                  <a:tcPr marL="54864" marR="54864" marT="27432" marB="27432">
                    <a:solidFill>
                      <a:srgbClr val="EEF5FC"/>
                    </a:solidFill>
                  </a:tcPr>
                </a:tc>
                <a:tc>
                  <a:txBody>
                    <a:bodyPr wrap="square"/>
                    <a:lstStyle/>
                    <a:p>
                      <a:r>
                        <a:rPr sz="1200" b="0" i="0">
                          <a:solidFill>
                            <a:srgbClr val="1B2733"/>
                          </a:solidFill>
                          <a:latin typeface="Calibri"/>
                        </a:rPr>
                        <a:t>0 / 0 / 11</a:t>
                      </a:r>
                    </a:p>
                  </a:txBody>
                  <a:tcPr marL="54864" marR="54864" marT="27432" marB="27432">
                    <a:solidFill>
                      <a:srgbClr val="EEF5FC"/>
                    </a:solidFill>
                  </a:tcPr>
                </a:tc>
                <a:tc>
                  <a:txBody>
                    <a:bodyPr wrap="square"/>
                    <a:lstStyle/>
                    <a:p>
                      <a:r>
                        <a:rPr sz="1200" b="0" i="0">
                          <a:solidFill>
                            <a:srgbClr val="1B2733"/>
                          </a:solidFill>
                          <a:latin typeface="Calibri"/>
                        </a:rPr>
                        <a:t>Synthetic</a:t>
                      </a:r>
                    </a:p>
                  </a:txBody>
                  <a:tcPr marL="54864" marR="54864" marT="27432" marB="27432">
                    <a:solidFill>
                      <a:srgbClr val="EEF5FC"/>
                    </a:solidFill>
                  </a:tcPr>
                </a:tc>
              </a:tr>
            </a:tbl>
          </a:graphicData>
        </a:graphic>
      </p:graphicFrame>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ANNEXURE A3</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400" b="1" i="0">
                <a:solidFill>
                  <a:srgbClr val="002E6E"/>
                </a:solidFill>
                <a:latin typeface="Calibri"/>
              </a:rPr>
              <a:t>Full prototype flow, including the three edge cases</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Concept prototype; fictional names and amounts. Settlement-to-credit timeout and limits are to be set with payments engineering and partner banks.</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A3</a:t>
            </a:r>
          </a:p>
        </p:txBody>
      </p:sp>
      <p:sp>
        <p:nvSpPr>
          <p:cNvPr id="7" name="Rounded Rectangle 6"/>
          <p:cNvSpPr/>
          <p:nvPr/>
        </p:nvSpPr>
        <p:spPr>
          <a:xfrm>
            <a:off x="548640" y="1691640"/>
            <a:ext cx="1764792" cy="1051560"/>
          </a:xfrm>
          <a:prstGeom prst="roundRect">
            <a:avLst>
              <a:gd name="adj" fmla="val 8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tIns="91440" bIns="91440">
            <a:noAutofit/>
          </a:bodyPr>
          <a:lstStyle/>
          <a:p>
            <a:pPr algn="l"/>
            <a:r>
              <a:rPr sz="1600" b="1" i="0">
                <a:solidFill>
                  <a:srgbClr val="0077B6"/>
                </a:solidFill>
                <a:latin typeface="Calibri"/>
              </a:rPr>
              <a:t>1</a:t>
            </a:r>
          </a:p>
          <a:p>
            <a:pPr algn="l"/>
            <a:r>
              <a:rPr sz="1200" b="0" i="0">
                <a:solidFill>
                  <a:srgbClr val="1B2733"/>
                </a:solidFill>
                <a:latin typeface="Calibri"/>
              </a:rPr>
              <a:t>Collections screen: tap 'Pay supplier'</a:t>
            </a:r>
          </a:p>
        </p:txBody>
      </p:sp>
      <p:sp>
        <p:nvSpPr>
          <p:cNvPr id="8" name="Rounded Rectangle 7"/>
          <p:cNvSpPr/>
          <p:nvPr/>
        </p:nvSpPr>
        <p:spPr>
          <a:xfrm>
            <a:off x="2404872" y="1691640"/>
            <a:ext cx="1764792" cy="1051560"/>
          </a:xfrm>
          <a:prstGeom prst="roundRect">
            <a:avLst>
              <a:gd name="adj" fmla="val 8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tIns="91440" bIns="91440">
            <a:noAutofit/>
          </a:bodyPr>
          <a:lstStyle/>
          <a:p>
            <a:pPr algn="l"/>
            <a:r>
              <a:rPr sz="1600" b="1" i="0">
                <a:solidFill>
                  <a:srgbClr val="0077B6"/>
                </a:solidFill>
                <a:latin typeface="Calibri"/>
              </a:rPr>
              <a:t>2</a:t>
            </a:r>
          </a:p>
          <a:p>
            <a:pPr algn="l"/>
            <a:r>
              <a:rPr sz="1200" b="0" i="0">
                <a:solidFill>
                  <a:srgbClr val="1B2733"/>
                </a:solidFill>
                <a:latin typeface="Calibri"/>
              </a:rPr>
              <a:t>Scan WhatsApp QR or pick saved supplier</a:t>
            </a:r>
          </a:p>
        </p:txBody>
      </p:sp>
      <p:sp>
        <p:nvSpPr>
          <p:cNvPr id="9" name="Rounded Rectangle 8"/>
          <p:cNvSpPr/>
          <p:nvPr/>
        </p:nvSpPr>
        <p:spPr>
          <a:xfrm>
            <a:off x="4261103" y="1691640"/>
            <a:ext cx="1764792" cy="1051560"/>
          </a:xfrm>
          <a:prstGeom prst="roundRect">
            <a:avLst>
              <a:gd name="adj" fmla="val 8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tIns="91440" bIns="91440">
            <a:noAutofit/>
          </a:bodyPr>
          <a:lstStyle/>
          <a:p>
            <a:pPr algn="l"/>
            <a:r>
              <a:rPr sz="1600" b="1" i="0">
                <a:solidFill>
                  <a:srgbClr val="0077B6"/>
                </a:solidFill>
                <a:latin typeface="Calibri"/>
              </a:rPr>
              <a:t>3</a:t>
            </a:r>
          </a:p>
          <a:p>
            <a:pPr algn="l"/>
            <a:r>
              <a:rPr sz="1200" b="0" i="0">
                <a:solidFill>
                  <a:srgbClr val="1B2733"/>
                </a:solidFill>
                <a:latin typeface="Calibri"/>
              </a:rPr>
              <a:t>Name check shown before any money moves</a:t>
            </a:r>
          </a:p>
        </p:txBody>
      </p:sp>
      <p:sp>
        <p:nvSpPr>
          <p:cNvPr id="10" name="Rounded Rectangle 9"/>
          <p:cNvSpPr/>
          <p:nvPr/>
        </p:nvSpPr>
        <p:spPr>
          <a:xfrm>
            <a:off x="6117336" y="1691640"/>
            <a:ext cx="1764792" cy="1051560"/>
          </a:xfrm>
          <a:prstGeom prst="roundRect">
            <a:avLst>
              <a:gd name="adj" fmla="val 8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tIns="91440" bIns="91440">
            <a:noAutofit/>
          </a:bodyPr>
          <a:lstStyle/>
          <a:p>
            <a:pPr algn="l"/>
            <a:r>
              <a:rPr sz="1600" b="1" i="0">
                <a:solidFill>
                  <a:srgbClr val="0077B6"/>
                </a:solidFill>
                <a:latin typeface="Calibri"/>
              </a:rPr>
              <a:t>4</a:t>
            </a:r>
          </a:p>
          <a:p>
            <a:pPr algn="l"/>
            <a:r>
              <a:rPr sz="1200" b="0" i="0">
                <a:solidFill>
                  <a:srgbClr val="1B2733"/>
                </a:solidFill>
                <a:latin typeface="Calibri"/>
              </a:rPr>
              <a:t>Choose 'Settle &amp; Pay · free' (or bank balance)</a:t>
            </a:r>
          </a:p>
        </p:txBody>
      </p:sp>
      <p:sp>
        <p:nvSpPr>
          <p:cNvPr id="11" name="Rounded Rectangle 10"/>
          <p:cNvSpPr/>
          <p:nvPr/>
        </p:nvSpPr>
        <p:spPr>
          <a:xfrm>
            <a:off x="7973567" y="1691640"/>
            <a:ext cx="1764792" cy="1051560"/>
          </a:xfrm>
          <a:prstGeom prst="roundRect">
            <a:avLst>
              <a:gd name="adj" fmla="val 8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tIns="91440" bIns="91440">
            <a:noAutofit/>
          </a:bodyPr>
          <a:lstStyle/>
          <a:p>
            <a:pPr algn="l"/>
            <a:r>
              <a:rPr sz="1600" b="1" i="0">
                <a:solidFill>
                  <a:srgbClr val="0077B6"/>
                </a:solidFill>
                <a:latin typeface="Calibri"/>
              </a:rPr>
              <a:t>5</a:t>
            </a:r>
          </a:p>
          <a:p>
            <a:pPr algn="l"/>
            <a:r>
              <a:rPr sz="1200" b="0" i="0">
                <a:solidFill>
                  <a:srgbClr val="1B2733"/>
                </a:solidFill>
                <a:latin typeface="Calibri"/>
              </a:rPr>
              <a:t>One UPI PIN; pay only after settlement credit is confirmed</a:t>
            </a:r>
          </a:p>
        </p:txBody>
      </p:sp>
      <p:sp>
        <p:nvSpPr>
          <p:cNvPr id="12" name="Rounded Rectangle 11"/>
          <p:cNvSpPr/>
          <p:nvPr/>
        </p:nvSpPr>
        <p:spPr>
          <a:xfrm>
            <a:off x="9829799" y="1691640"/>
            <a:ext cx="1764792" cy="1051560"/>
          </a:xfrm>
          <a:prstGeom prst="roundRect">
            <a:avLst>
              <a:gd name="adj" fmla="val 8000"/>
            </a:avLst>
          </a:prstGeom>
          <a:solidFill>
            <a:srgbClr val="EEF5FC"/>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tIns="91440" bIns="91440">
            <a:noAutofit/>
          </a:bodyPr>
          <a:lstStyle/>
          <a:p>
            <a:pPr algn="l"/>
            <a:r>
              <a:rPr sz="1600" b="1" i="0">
                <a:solidFill>
                  <a:srgbClr val="0077B6"/>
                </a:solidFill>
                <a:latin typeface="Calibri"/>
              </a:rPr>
              <a:t>6</a:t>
            </a:r>
          </a:p>
          <a:p>
            <a:pPr algn="l"/>
            <a:r>
              <a:rPr sz="1200" b="0" i="0">
                <a:solidFill>
                  <a:srgbClr val="1B2733"/>
                </a:solidFill>
                <a:latin typeface="Calibri"/>
              </a:rPr>
              <a:t>Receipt + settlement summary; WhatsApp share</a:t>
            </a:r>
          </a:p>
        </p:txBody>
      </p:sp>
      <p:sp>
        <p:nvSpPr>
          <p:cNvPr id="13" name="Rounded Rectangle 12"/>
          <p:cNvSpPr/>
          <p:nvPr/>
        </p:nvSpPr>
        <p:spPr>
          <a:xfrm>
            <a:off x="548640" y="2971800"/>
            <a:ext cx="3593592" cy="3017520"/>
          </a:xfrm>
          <a:prstGeom prst="roundRect">
            <a:avLst>
              <a:gd name="adj" fmla="val 4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37160" rIns="137160" tIns="137160" bIns="137160">
            <a:noAutofit/>
          </a:bodyPr>
          <a:lstStyle/>
          <a:p>
            <a:pPr algn="l"/>
            <a:r>
              <a:rPr sz="1000" b="1" i="0">
                <a:solidFill>
                  <a:srgbClr val="5B6B7C"/>
                </a:solidFill>
                <a:latin typeface="Calibri"/>
              </a:rPr>
              <a:t>EDGE CASE 1</a:t>
            </a:r>
          </a:p>
          <a:p>
            <a:pPr algn="l">
              <a:spcBef>
                <a:spcPts val="400"/>
              </a:spcBef>
            </a:pPr>
            <a:r>
              <a:rPr sz="1600" b="1" i="0">
                <a:solidFill>
                  <a:srgbClr val="002E6E"/>
                </a:solidFill>
                <a:latin typeface="Calibri"/>
              </a:rPr>
              <a:t>Settlement delay</a:t>
            </a:r>
          </a:p>
          <a:p>
            <a:pPr algn="l">
              <a:spcBef>
                <a:spcPts val="400"/>
              </a:spcBef>
            </a:pPr>
            <a:r>
              <a:rPr sz="1300" b="0" i="1">
                <a:solidFill>
                  <a:srgbClr val="5B6B7C"/>
                </a:solidFill>
                <a:latin typeface="Calibri"/>
              </a:rPr>
              <a:t>Credit not confirmed within the timeout</a:t>
            </a:r>
          </a:p>
          <a:p>
            <a:pPr algn="l">
              <a:spcBef>
                <a:spcPts val="400"/>
              </a:spcBef>
            </a:pPr>
            <a:r>
              <a:rPr sz="1300" b="0" i="0">
                <a:solidFill>
                  <a:srgbClr val="1B2733"/>
                </a:solidFill>
                <a:latin typeface="Calibri"/>
              </a:rPr>
              <a:t>•  Supplier is never debited before the credit lands</a:t>
            </a:r>
          </a:p>
          <a:p>
            <a:pPr algn="l">
              <a:spcBef>
                <a:spcPts val="400"/>
              </a:spcBef>
            </a:pPr>
            <a:r>
              <a:rPr sz="1300" b="0" i="0">
                <a:solidFill>
                  <a:srgbClr val="1B2733"/>
                </a:solidFill>
                <a:latin typeface="Calibri"/>
              </a:rPr>
              <a:t>•  Screen: 'Waiting for ₹6,800 to reach ••4821'</a:t>
            </a:r>
          </a:p>
          <a:p>
            <a:pPr algn="l">
              <a:spcBef>
                <a:spcPts val="400"/>
              </a:spcBef>
            </a:pPr>
            <a:r>
              <a:rPr sz="1300" b="0" i="0">
                <a:solidFill>
                  <a:srgbClr val="1B2733"/>
                </a:solidFill>
                <a:latin typeface="Calibri"/>
              </a:rPr>
              <a:t>•  Options: wait, pay from bank balance, or cancel</a:t>
            </a:r>
          </a:p>
          <a:p>
            <a:pPr algn="l">
              <a:spcBef>
                <a:spcPts val="400"/>
              </a:spcBef>
            </a:pPr>
            <a:r>
              <a:rPr sz="1300" b="0" i="0">
                <a:solidFill>
                  <a:srgbClr val="1B2733"/>
                </a:solidFill>
                <a:latin typeface="Calibri"/>
              </a:rPr>
              <a:t>•  Settlement still completes; nothing is lost</a:t>
            </a:r>
          </a:p>
        </p:txBody>
      </p:sp>
      <p:sp>
        <p:nvSpPr>
          <p:cNvPr id="14" name="Rounded Rectangle 13"/>
          <p:cNvSpPr/>
          <p:nvPr/>
        </p:nvSpPr>
        <p:spPr>
          <a:xfrm>
            <a:off x="4297679" y="2971800"/>
            <a:ext cx="3593592" cy="3017520"/>
          </a:xfrm>
          <a:prstGeom prst="roundRect">
            <a:avLst>
              <a:gd name="adj" fmla="val 4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37160" rIns="137160" tIns="137160" bIns="137160">
            <a:noAutofit/>
          </a:bodyPr>
          <a:lstStyle/>
          <a:p>
            <a:pPr algn="l"/>
            <a:r>
              <a:rPr sz="1000" b="1" i="0">
                <a:solidFill>
                  <a:srgbClr val="5B6B7C"/>
                </a:solidFill>
                <a:latin typeface="Calibri"/>
              </a:rPr>
              <a:t>EDGE CASE 2</a:t>
            </a:r>
          </a:p>
          <a:p>
            <a:pPr algn="l">
              <a:spcBef>
                <a:spcPts val="400"/>
              </a:spcBef>
            </a:pPr>
            <a:r>
              <a:rPr sz="1600" b="1" i="0">
                <a:solidFill>
                  <a:srgbClr val="002E6E"/>
                </a:solidFill>
                <a:latin typeface="Calibri"/>
              </a:rPr>
              <a:t>Insufficient collections</a:t>
            </a:r>
          </a:p>
          <a:p>
            <a:pPr algn="l">
              <a:spcBef>
                <a:spcPts val="400"/>
              </a:spcBef>
            </a:pPr>
            <a:r>
              <a:rPr sz="1300" b="0" i="1">
                <a:solidFill>
                  <a:srgbClr val="5B6B7C"/>
                </a:solidFill>
                <a:latin typeface="Calibri"/>
              </a:rPr>
              <a:t>Supplier amount &gt; collections available</a:t>
            </a:r>
          </a:p>
          <a:p>
            <a:pPr algn="l">
              <a:spcBef>
                <a:spcPts val="400"/>
              </a:spcBef>
            </a:pPr>
            <a:r>
              <a:rPr sz="1300" b="0" i="0">
                <a:solidFill>
                  <a:srgbClr val="1B2733"/>
                </a:solidFill>
                <a:latin typeface="Calibri"/>
              </a:rPr>
              <a:t>•  Show '₹4,100 available from today's collections'</a:t>
            </a:r>
          </a:p>
          <a:p>
            <a:pPr algn="l">
              <a:spcBef>
                <a:spcPts val="400"/>
              </a:spcBef>
            </a:pPr>
            <a:r>
              <a:rPr sz="1300" b="0" i="0">
                <a:solidFill>
                  <a:srgbClr val="1B2733"/>
                </a:solidFill>
                <a:latin typeface="Calibri"/>
              </a:rPr>
              <a:t>•  Offer: settle ₹4,100 + pay the rest from bank balance</a:t>
            </a:r>
          </a:p>
          <a:p>
            <a:pPr algn="l">
              <a:spcBef>
                <a:spcPts val="400"/>
              </a:spcBef>
            </a:pPr>
            <a:r>
              <a:rPr sz="1300" b="0" i="0">
                <a:solidFill>
                  <a:srgbClr val="1B2733"/>
                </a:solidFill>
                <a:latin typeface="Calibri"/>
              </a:rPr>
              <a:t>•  No credit, no overdraft, no pre-funding</a:t>
            </a:r>
          </a:p>
          <a:p>
            <a:pPr algn="l">
              <a:spcBef>
                <a:spcPts val="400"/>
              </a:spcBef>
            </a:pPr>
            <a:r>
              <a:rPr sz="1300" b="0" i="0">
                <a:solidFill>
                  <a:srgbClr val="1B2733"/>
                </a:solidFill>
                <a:latin typeface="Calibri"/>
              </a:rPr>
              <a:t>•  Log frequency: if common, revisit credit after the pilot</a:t>
            </a:r>
          </a:p>
        </p:txBody>
      </p:sp>
      <p:sp>
        <p:nvSpPr>
          <p:cNvPr id="15" name="Rounded Rectangle 14"/>
          <p:cNvSpPr/>
          <p:nvPr/>
        </p:nvSpPr>
        <p:spPr>
          <a:xfrm>
            <a:off x="8046719" y="2971800"/>
            <a:ext cx="3593592" cy="3017520"/>
          </a:xfrm>
          <a:prstGeom prst="roundRect">
            <a:avLst>
              <a:gd name="adj" fmla="val 4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37160" rIns="137160" tIns="137160" bIns="137160">
            <a:noAutofit/>
          </a:bodyPr>
          <a:lstStyle/>
          <a:p>
            <a:pPr algn="l"/>
            <a:r>
              <a:rPr sz="1000" b="1" i="0">
                <a:solidFill>
                  <a:srgbClr val="5B6B7C"/>
                </a:solidFill>
                <a:latin typeface="Calibri"/>
              </a:rPr>
              <a:t>EDGE CASE 3</a:t>
            </a:r>
          </a:p>
          <a:p>
            <a:pPr algn="l">
              <a:spcBef>
                <a:spcPts val="400"/>
              </a:spcBef>
            </a:pPr>
            <a:r>
              <a:rPr sz="1600" b="1" i="0">
                <a:solidFill>
                  <a:srgbClr val="002E6E"/>
                </a:solidFill>
                <a:latin typeface="Calibri"/>
              </a:rPr>
              <a:t>Wrong payee</a:t>
            </a:r>
          </a:p>
          <a:p>
            <a:pPr algn="l">
              <a:spcBef>
                <a:spcPts val="400"/>
              </a:spcBef>
            </a:pPr>
            <a:r>
              <a:rPr sz="1300" b="0" i="1">
                <a:solidFill>
                  <a:srgbClr val="5B6B7C"/>
                </a:solidFill>
                <a:latin typeface="Calibri"/>
              </a:rPr>
              <a:t>Name doesn't match or QR looks altered</a:t>
            </a:r>
          </a:p>
          <a:p>
            <a:pPr algn="l">
              <a:spcBef>
                <a:spcPts val="400"/>
              </a:spcBef>
            </a:pPr>
            <a:r>
              <a:rPr sz="1300" b="0" i="0">
                <a:solidFill>
                  <a:srgbClr val="1B2733"/>
                </a:solidFill>
                <a:latin typeface="Calibri"/>
              </a:rPr>
              <a:t>•  Verified account name shown before the PIN</a:t>
            </a:r>
          </a:p>
          <a:p>
            <a:pPr algn="l">
              <a:spcBef>
                <a:spcPts val="400"/>
              </a:spcBef>
            </a:pPr>
            <a:r>
              <a:rPr sz="1300" b="0" i="0">
                <a:solidFill>
                  <a:srgbClr val="1B2733"/>
                </a:solidFill>
                <a:latin typeface="Calibri"/>
              </a:rPr>
              <a:t>•  Mismatch warning against the saved supplier</a:t>
            </a:r>
          </a:p>
          <a:p>
            <a:pPr algn="l">
              <a:spcBef>
                <a:spcPts val="400"/>
              </a:spcBef>
            </a:pPr>
            <a:r>
              <a:rPr sz="1300" b="0" i="0">
                <a:solidFill>
                  <a:srgbClr val="1B2733"/>
                </a:solidFill>
                <a:latin typeface="Calibri"/>
              </a:rPr>
              <a:t>•  First payment to a new payee needs an extra confirm</a:t>
            </a:r>
          </a:p>
          <a:p>
            <a:pPr algn="l">
              <a:spcBef>
                <a:spcPts val="400"/>
              </a:spcBef>
            </a:pPr>
            <a:r>
              <a:rPr sz="1300" b="0" i="0">
                <a:solidFill>
                  <a:srgbClr val="1B2733"/>
                </a:solidFill>
                <a:latin typeface="Calibri"/>
              </a:rPr>
              <a:t>•  After payment: UPI dispute flow and support; track per 1,000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ANNEXURE A4</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400" b="1" i="0">
                <a:solidFill>
                  <a:srgbClr val="002E6E"/>
                </a:solidFill>
                <a:latin typeface="Calibri"/>
              </a:rPr>
              <a:t>Pilot measurement: design, definitions and how the result is read</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Power: indicative only; to be recomputed from baseline variance and the territory design effect before launch. Definitions as in the solution document, section 10.4.</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A4</a:t>
            </a:r>
          </a:p>
        </p:txBody>
      </p:sp>
      <p:graphicFrame>
        <p:nvGraphicFramePr>
          <p:cNvPr id="7" name="a4_metrics"/>
          <p:cNvGraphicFramePr>
            <a:graphicFrameLocks noGrp="1"/>
          </p:cNvGraphicFramePr>
          <p:nvPr/>
        </p:nvGraphicFramePr>
        <p:xfrm>
          <a:off x="548640" y="1691640"/>
          <a:ext cx="11091672" cy="3657600"/>
        </p:xfrm>
        <a:graphic>
          <a:graphicData uri="http://schemas.openxmlformats.org/drawingml/2006/table">
            <a:tbl>
              <a:tblPr firstRow="1">
                <a:tableStyleId>{5C22544A-7EE6-4342-B048-85BDC9FD1C3A}</a:tableStyleId>
              </a:tblPr>
              <a:tblGrid>
                <a:gridCol w="2331720"/>
                <a:gridCol w="5806440"/>
                <a:gridCol w="1600200"/>
                <a:gridCol w="1353312"/>
              </a:tblGrid>
              <a:tr h="329184">
                <a:tc>
                  <a:txBody>
                    <a:bodyPr wrap="square"/>
                    <a:lstStyle/>
                    <a:p>
                      <a:r>
                        <a:rPr sz="1200" b="1" i="0">
                          <a:solidFill>
                            <a:srgbClr val="FFFFFF"/>
                          </a:solidFill>
                          <a:latin typeface="Calibri"/>
                        </a:rPr>
                        <a:t>Metric</a:t>
                      </a:r>
                    </a:p>
                  </a:txBody>
                  <a:tcPr marL="54864" marR="54864" marT="27432" marB="27432">
                    <a:solidFill>
                      <a:srgbClr val="002E6E"/>
                    </a:solidFill>
                  </a:tcPr>
                </a:tc>
                <a:tc>
                  <a:txBody>
                    <a:bodyPr wrap="square"/>
                    <a:lstStyle/>
                    <a:p>
                      <a:r>
                        <a:rPr sz="1200" b="1" i="0">
                          <a:solidFill>
                            <a:srgbClr val="FFFFFF"/>
                          </a:solidFill>
                          <a:latin typeface="Calibri"/>
                        </a:rPr>
                        <a:t>Definition</a:t>
                      </a:r>
                    </a:p>
                  </a:txBody>
                  <a:tcPr marL="54864" marR="54864" marT="27432" marB="27432">
                    <a:solidFill>
                      <a:srgbClr val="002E6E"/>
                    </a:solidFill>
                  </a:tcPr>
                </a:tc>
                <a:tc>
                  <a:txBody>
                    <a:bodyPr wrap="square"/>
                    <a:lstStyle/>
                    <a:p>
                      <a:r>
                        <a:rPr sz="1200" b="1" i="0">
                          <a:solidFill>
                            <a:srgbClr val="FFFFFF"/>
                          </a:solidFill>
                          <a:latin typeface="Calibri"/>
                        </a:rPr>
                        <a:t>Source</a:t>
                      </a:r>
                    </a:p>
                  </a:txBody>
                  <a:tcPr marL="54864" marR="54864" marT="27432" marB="27432">
                    <a:solidFill>
                      <a:srgbClr val="002E6E"/>
                    </a:solidFill>
                  </a:tcPr>
                </a:tc>
                <a:tc>
                  <a:txBody>
                    <a:bodyPr wrap="square"/>
                    <a:lstStyle/>
                    <a:p>
                      <a:r>
                        <a:rPr sz="1200" b="1" i="0">
                          <a:solidFill>
                            <a:srgbClr val="FFFFFF"/>
                          </a:solidFill>
                          <a:latin typeface="Calibri"/>
                        </a:rPr>
                        <a:t>Target</a:t>
                      </a:r>
                    </a:p>
                  </a:txBody>
                  <a:tcPr marL="54864" marR="54864" marT="27432" marB="27432">
                    <a:solidFill>
                      <a:srgbClr val="002E6E"/>
                    </a:solidFill>
                  </a:tcPr>
                </a:tc>
              </a:tr>
              <a:tr h="475488">
                <a:tc>
                  <a:txBody>
                    <a:bodyPr wrap="square"/>
                    <a:lstStyle/>
                    <a:p>
                      <a:r>
                        <a:rPr sz="1200" b="1" i="0">
                          <a:solidFill>
                            <a:srgbClr val="1B2733"/>
                          </a:solidFill>
                          <a:latin typeface="Calibri"/>
                        </a:rPr>
                        <a:t>Main: share lift (ITT)</a:t>
                      </a:r>
                    </a:p>
                  </a:txBody>
                  <a:tcPr marL="54864" marR="54864" marT="27432" marB="27432">
                    <a:solidFill>
                      <a:srgbClr val="FFFFFF"/>
                    </a:solidFill>
                  </a:tcPr>
                </a:tc>
                <a:tc>
                  <a:txBody>
                    <a:bodyPr wrap="square"/>
                    <a:lstStyle/>
                    <a:p>
                      <a:r>
                        <a:rPr sz="1200" b="0" i="0">
                          <a:solidFill>
                            <a:srgbClr val="1B2733"/>
                          </a:solidFill>
                          <a:latin typeface="Calibri"/>
                        </a:rPr>
                        <a:t>Paytm share of total outgoing business UPI value, treatment minus control, change vs 60-day baseline (difference-in-differences), all assigned merchants</a:t>
                      </a:r>
                    </a:p>
                  </a:txBody>
                  <a:tcPr marL="54864" marR="54864" marT="27432" marB="27432">
                    <a:solidFill>
                      <a:srgbClr val="FFFFFF"/>
                    </a:solidFill>
                  </a:tcPr>
                </a:tc>
                <a:tc>
                  <a:txBody>
                    <a:bodyPr wrap="square"/>
                    <a:lstStyle/>
                    <a:p>
                      <a:r>
                        <a:rPr sz="1200" b="0" i="0">
                          <a:solidFill>
                            <a:srgbClr val="1B2733"/>
                          </a:solidFill>
                          <a:latin typeface="Calibri"/>
                        </a:rPr>
                        <a:t>AA panel ≈300/arm</a:t>
                      </a:r>
                    </a:p>
                  </a:txBody>
                  <a:tcPr marL="54864" marR="54864" marT="27432" marB="27432">
                    <a:solidFill>
                      <a:srgbClr val="FFFFFF"/>
                    </a:solidFill>
                  </a:tcPr>
                </a:tc>
                <a:tc>
                  <a:txBody>
                    <a:bodyPr wrap="square"/>
                    <a:lstStyle/>
                    <a:p>
                      <a:r>
                        <a:rPr sz="1200" b="0" i="0">
                          <a:solidFill>
                            <a:srgbClr val="1B2733"/>
                          </a:solidFill>
                          <a:latin typeface="Calibri"/>
                        </a:rPr>
                        <a:t>+4 to +6 pts</a:t>
                      </a:r>
                    </a:p>
                  </a:txBody>
                  <a:tcPr marL="54864" marR="54864" marT="27432" marB="27432">
                    <a:solidFill>
                      <a:srgbClr val="FFFFFF"/>
                    </a:solidFill>
                  </a:tcPr>
                </a:tc>
              </a:tr>
              <a:tr h="475488">
                <a:tc>
                  <a:txBody>
                    <a:bodyPr wrap="square"/>
                    <a:lstStyle/>
                    <a:p>
                      <a:r>
                        <a:rPr sz="1200" b="1" i="0">
                          <a:solidFill>
                            <a:srgbClr val="1B2733"/>
                          </a:solidFill>
                          <a:latin typeface="Calibri"/>
                        </a:rPr>
                        <a:t>Incremental MTU</a:t>
                      </a:r>
                    </a:p>
                  </a:txBody>
                  <a:tcPr marL="54864" marR="54864" marT="27432" marB="27432">
                    <a:solidFill>
                      <a:srgbClr val="EEF5FC"/>
                    </a:solidFill>
                  </a:tcPr>
                </a:tc>
                <a:tc>
                  <a:txBody>
                    <a:bodyPr wrap="square"/>
                    <a:lstStyle/>
                    <a:p>
                      <a:r>
                        <a:rPr sz="1200" b="0" i="0">
                          <a:solidFill>
                            <a:srgbClr val="1B2733"/>
                          </a:solidFill>
                          <a:latin typeface="Calibri"/>
                        </a:rPr>
                        <a:t>≥1 Settle &amp; Pay payment in a month and no outgoing Paytm business payment in the baseline, net of the control group's rate</a:t>
                      </a:r>
                    </a:p>
                  </a:txBody>
                  <a:tcPr marL="54864" marR="54864" marT="27432" marB="27432">
                    <a:solidFill>
                      <a:srgbClr val="EEF5FC"/>
                    </a:solidFill>
                  </a:tcPr>
                </a:tc>
                <a:tc>
                  <a:txBody>
                    <a:bodyPr wrap="square"/>
                    <a:lstStyle/>
                    <a:p>
                      <a:r>
                        <a:rPr sz="1200" b="0" i="0">
                          <a:solidFill>
                            <a:srgbClr val="1B2733"/>
                          </a:solidFill>
                          <a:latin typeface="Calibri"/>
                        </a:rPr>
                        <a:t>Paytm data</a:t>
                      </a:r>
                    </a:p>
                  </a:txBody>
                  <a:tcPr marL="54864" marR="54864" marT="27432" marB="27432">
                    <a:solidFill>
                      <a:srgbClr val="EEF5FC"/>
                    </a:solidFill>
                  </a:tcPr>
                </a:tc>
                <a:tc>
                  <a:txBody>
                    <a:bodyPr wrap="square"/>
                    <a:lstStyle/>
                    <a:p>
                      <a:r>
                        <a:rPr sz="1200" b="0" i="0">
                          <a:solidFill>
                            <a:srgbClr val="1B2733"/>
                          </a:solidFill>
                          <a:latin typeface="Calibri"/>
                        </a:rPr>
                        <a:t>≈65 per 1,000</a:t>
                      </a:r>
                    </a:p>
                  </a:txBody>
                  <a:tcPr marL="54864" marR="54864" marT="27432" marB="27432">
                    <a:solidFill>
                      <a:srgbClr val="EEF5FC"/>
                    </a:solidFill>
                  </a:tcPr>
                </a:tc>
              </a:tr>
              <a:tr h="475488">
                <a:tc>
                  <a:txBody>
                    <a:bodyPr wrap="square"/>
                    <a:lstStyle/>
                    <a:p>
                      <a:r>
                        <a:rPr sz="1200" b="1" i="0">
                          <a:solidFill>
                            <a:srgbClr val="1B2733"/>
                          </a:solidFill>
                          <a:latin typeface="Calibri"/>
                        </a:rPr>
                        <a:t>Activation</a:t>
                      </a:r>
                    </a:p>
                  </a:txBody>
                  <a:tcPr marL="54864" marR="54864" marT="27432" marB="27432">
                    <a:solidFill>
                      <a:srgbClr val="FFFFFF"/>
                    </a:solidFill>
                  </a:tcPr>
                </a:tc>
                <a:tc>
                  <a:txBody>
                    <a:bodyPr wrap="square"/>
                    <a:lstStyle/>
                    <a:p>
                      <a:r>
                        <a:rPr sz="1200" b="0" i="0">
                          <a:solidFill>
                            <a:srgbClr val="1B2733"/>
                          </a:solidFill>
                          <a:latin typeface="Calibri"/>
                        </a:rPr>
                        <a:t>Exposed eligible merchants making a first Settle &amp; Pay payment within 30 days</a:t>
                      </a:r>
                    </a:p>
                  </a:txBody>
                  <a:tcPr marL="54864" marR="54864" marT="27432" marB="27432">
                    <a:solidFill>
                      <a:srgbClr val="FFFFFF"/>
                    </a:solidFill>
                  </a:tcPr>
                </a:tc>
                <a:tc>
                  <a:txBody>
                    <a:bodyPr wrap="square"/>
                    <a:lstStyle/>
                    <a:p>
                      <a:r>
                        <a:rPr sz="1200" b="0" i="0">
                          <a:solidFill>
                            <a:srgbClr val="1B2733"/>
                          </a:solidFill>
                          <a:latin typeface="Calibri"/>
                        </a:rPr>
                        <a:t>Paytm data</a:t>
                      </a:r>
                    </a:p>
                  </a:txBody>
                  <a:tcPr marL="54864" marR="54864" marT="27432" marB="27432">
                    <a:solidFill>
                      <a:srgbClr val="FFFFFF"/>
                    </a:solidFill>
                  </a:tcPr>
                </a:tc>
                <a:tc>
                  <a:txBody>
                    <a:bodyPr wrap="square"/>
                    <a:lstStyle/>
                    <a:p>
                      <a:r>
                        <a:rPr sz="1200" b="0" i="0">
                          <a:solidFill>
                            <a:srgbClr val="1B2733"/>
                          </a:solidFill>
                          <a:latin typeface="Calibri"/>
                        </a:rPr>
                        <a:t>15–25%</a:t>
                      </a:r>
                    </a:p>
                  </a:txBody>
                  <a:tcPr marL="54864" marR="54864" marT="27432" marB="27432">
                    <a:solidFill>
                      <a:srgbClr val="FFFFFF"/>
                    </a:solidFill>
                  </a:tcPr>
                </a:tc>
              </a:tr>
              <a:tr h="475488">
                <a:tc>
                  <a:txBody>
                    <a:bodyPr wrap="square"/>
                    <a:lstStyle/>
                    <a:p>
                      <a:r>
                        <a:rPr sz="1200" b="1" i="0">
                          <a:solidFill>
                            <a:srgbClr val="1B2733"/>
                          </a:solidFill>
                          <a:latin typeface="Calibri"/>
                        </a:rPr>
                        <a:t>Repeat</a:t>
                      </a:r>
                    </a:p>
                  </a:txBody>
                  <a:tcPr marL="54864" marR="54864" marT="27432" marB="27432">
                    <a:solidFill>
                      <a:srgbClr val="EEF5FC"/>
                    </a:solidFill>
                  </a:tcPr>
                </a:tc>
                <a:tc>
                  <a:txBody>
                    <a:bodyPr wrap="square"/>
                    <a:lstStyle/>
                    <a:p>
                      <a:r>
                        <a:rPr sz="1200" b="0" i="0">
                          <a:solidFill>
                            <a:srgbClr val="1B2733"/>
                          </a:solidFill>
                          <a:latin typeface="Calibri"/>
                        </a:rPr>
                        <a:t>Activated merchants with 2+ Settle &amp; Pay payments in each of months 2 and 3</a:t>
                      </a:r>
                    </a:p>
                  </a:txBody>
                  <a:tcPr marL="54864" marR="54864" marT="27432" marB="27432">
                    <a:solidFill>
                      <a:srgbClr val="EEF5FC"/>
                    </a:solidFill>
                  </a:tcPr>
                </a:tc>
                <a:tc>
                  <a:txBody>
                    <a:bodyPr wrap="square"/>
                    <a:lstStyle/>
                    <a:p>
                      <a:r>
                        <a:rPr sz="1200" b="0" i="0">
                          <a:solidFill>
                            <a:srgbClr val="1B2733"/>
                          </a:solidFill>
                          <a:latin typeface="Calibri"/>
                        </a:rPr>
                        <a:t>Paytm data</a:t>
                      </a:r>
                    </a:p>
                  </a:txBody>
                  <a:tcPr marL="54864" marR="54864" marT="27432" marB="27432">
                    <a:solidFill>
                      <a:srgbClr val="EEF5FC"/>
                    </a:solidFill>
                  </a:tcPr>
                </a:tc>
                <a:tc>
                  <a:txBody>
                    <a:bodyPr wrap="square"/>
                    <a:lstStyle/>
                    <a:p>
                      <a:r>
                        <a:rPr sz="1200" b="0" i="0">
                          <a:solidFill>
                            <a:srgbClr val="1B2733"/>
                          </a:solidFill>
                          <a:latin typeface="Calibri"/>
                        </a:rPr>
                        <a:t>50% (gate 40%)</a:t>
                      </a:r>
                    </a:p>
                  </a:txBody>
                  <a:tcPr marL="54864" marR="54864" marT="27432" marB="27432">
                    <a:solidFill>
                      <a:srgbClr val="EEF5FC"/>
                    </a:solidFill>
                  </a:tcPr>
                </a:tc>
              </a:tr>
              <a:tr h="475488">
                <a:tc>
                  <a:txBody>
                    <a:bodyPr wrap="square"/>
                    <a:lstStyle/>
                    <a:p>
                      <a:r>
                        <a:rPr sz="1200" b="1" i="0">
                          <a:solidFill>
                            <a:srgbClr val="1B2733"/>
                          </a:solidFill>
                          <a:latin typeface="Calibri"/>
                        </a:rPr>
                        <a:t>Habit guard</a:t>
                      </a:r>
                    </a:p>
                  </a:txBody>
                  <a:tcPr marL="54864" marR="54864" marT="27432" marB="27432">
                    <a:solidFill>
                      <a:srgbClr val="FFFFFF"/>
                    </a:solidFill>
                  </a:tcPr>
                </a:tc>
                <a:tc>
                  <a:txBody>
                    <a:bodyPr wrap="square"/>
                    <a:lstStyle/>
                    <a:p>
                      <a:r>
                        <a:rPr sz="1200" b="0" i="0">
                          <a:solidFill>
                            <a:srgbClr val="1B2733"/>
                          </a:solidFill>
                          <a:latin typeface="Calibri"/>
                        </a:rPr>
                        <a:t>Share of Settle &amp; Pay payments made when no settlement or transfer gap existed</a:t>
                      </a:r>
                    </a:p>
                  </a:txBody>
                  <a:tcPr marL="54864" marR="54864" marT="27432" marB="27432">
                    <a:solidFill>
                      <a:srgbClr val="FFFFFF"/>
                    </a:solidFill>
                  </a:tcPr>
                </a:tc>
                <a:tc>
                  <a:txBody>
                    <a:bodyPr wrap="square"/>
                    <a:lstStyle/>
                    <a:p>
                      <a:r>
                        <a:rPr sz="1200" b="0" i="0">
                          <a:solidFill>
                            <a:srgbClr val="1B2733"/>
                          </a:solidFill>
                          <a:latin typeface="Calibri"/>
                        </a:rPr>
                        <a:t>Paytm data</a:t>
                      </a:r>
                    </a:p>
                  </a:txBody>
                  <a:tcPr marL="54864" marR="54864" marT="27432" marB="27432">
                    <a:solidFill>
                      <a:srgbClr val="FFFFFF"/>
                    </a:solidFill>
                  </a:tcPr>
                </a:tc>
                <a:tc>
                  <a:txBody>
                    <a:bodyPr wrap="square"/>
                    <a:lstStyle/>
                    <a:p>
                      <a:r>
                        <a:rPr sz="1200" b="0" i="0">
                          <a:solidFill>
                            <a:srgbClr val="1B2733"/>
                          </a:solidFill>
                          <a:latin typeface="Calibri"/>
                        </a:rPr>
                        <a:t>≥30% (revise &lt;15%)</a:t>
                      </a:r>
                    </a:p>
                  </a:txBody>
                  <a:tcPr marL="54864" marR="54864" marT="27432" marB="27432">
                    <a:solidFill>
                      <a:srgbClr val="FFFFFF"/>
                    </a:solidFill>
                  </a:tcPr>
                </a:tc>
              </a:tr>
              <a:tr h="475488">
                <a:tc>
                  <a:txBody>
                    <a:bodyPr wrap="square"/>
                    <a:lstStyle/>
                    <a:p>
                      <a:r>
                        <a:rPr sz="1200" b="1" i="0">
                          <a:solidFill>
                            <a:srgbClr val="1B2733"/>
                          </a:solidFill>
                          <a:latin typeface="Calibri"/>
                        </a:rPr>
                        <a:t>Durability</a:t>
                      </a:r>
                    </a:p>
                  </a:txBody>
                  <a:tcPr marL="54864" marR="54864" marT="27432" marB="27432">
                    <a:solidFill>
                      <a:srgbClr val="EEF5FC"/>
                    </a:solidFill>
                  </a:tcPr>
                </a:tc>
                <a:tc>
                  <a:txBody>
                    <a:bodyPr wrap="square"/>
                    <a:lstStyle/>
                    <a:p>
                      <a:r>
                        <a:rPr sz="1200" b="0" i="0">
                          <a:solidFill>
                            <a:srgbClr val="1B2733"/>
                          </a:solidFill>
                          <a:latin typeface="Calibri"/>
                        </a:rPr>
                        <a:t>Repeat in days 31–90 after visits end; price-reversion sub-arm usage, days 61–90</a:t>
                      </a:r>
                    </a:p>
                  </a:txBody>
                  <a:tcPr marL="54864" marR="54864" marT="27432" marB="27432">
                    <a:solidFill>
                      <a:srgbClr val="EEF5FC"/>
                    </a:solidFill>
                  </a:tcPr>
                </a:tc>
                <a:tc>
                  <a:txBody>
                    <a:bodyPr wrap="square"/>
                    <a:lstStyle/>
                    <a:p>
                      <a:r>
                        <a:rPr sz="1200" b="0" i="0">
                          <a:solidFill>
                            <a:srgbClr val="1B2733"/>
                          </a:solidFill>
                          <a:latin typeface="Calibri"/>
                        </a:rPr>
                        <a:t>Paytm data</a:t>
                      </a:r>
                    </a:p>
                  </a:txBody>
                  <a:tcPr marL="54864" marR="54864" marT="27432" marB="27432">
                    <a:solidFill>
                      <a:srgbClr val="EEF5FC"/>
                    </a:solidFill>
                  </a:tcPr>
                </a:tc>
                <a:tc>
                  <a:txBody>
                    <a:bodyPr wrap="square"/>
                    <a:lstStyle/>
                    <a:p>
                      <a:r>
                        <a:rPr sz="1200" b="0" i="0">
                          <a:solidFill>
                            <a:srgbClr val="1B2733"/>
                          </a:solidFill>
                          <a:latin typeface="Calibri"/>
                        </a:rPr>
                        <a:t>Measured</a:t>
                      </a:r>
                    </a:p>
                  </a:txBody>
                  <a:tcPr marL="54864" marR="54864" marT="27432" marB="27432">
                    <a:solidFill>
                      <a:srgbClr val="EEF5FC"/>
                    </a:solidFill>
                  </a:tcPr>
                </a:tc>
              </a:tr>
              <a:tr h="475488">
                <a:tc>
                  <a:txBody>
                    <a:bodyPr wrap="square"/>
                    <a:lstStyle/>
                    <a:p>
                      <a:r>
                        <a:rPr sz="1200" b="1" i="0">
                          <a:solidFill>
                            <a:srgbClr val="1B2733"/>
                          </a:solidFill>
                          <a:latin typeface="Calibri"/>
                        </a:rPr>
                        <a:t>Safety</a:t>
                      </a:r>
                    </a:p>
                  </a:txBody>
                  <a:tcPr marL="54864" marR="54864" marT="27432" marB="27432">
                    <a:solidFill>
                      <a:srgbClr val="FFFFFF"/>
                    </a:solidFill>
                  </a:tcPr>
                </a:tc>
                <a:tc>
                  <a:txBody>
                    <a:bodyPr wrap="square"/>
                    <a:lstStyle/>
                    <a:p>
                      <a:r>
                        <a:rPr sz="1200" b="0" i="0">
                          <a:solidFill>
                            <a:srgbClr val="1B2733"/>
                          </a:solidFill>
                          <a:latin typeface="Calibri"/>
                        </a:rPr>
                        <a:t>Wrong-payee payments and support complaints per 1,000 payments</a:t>
                      </a:r>
                    </a:p>
                  </a:txBody>
                  <a:tcPr marL="54864" marR="54864" marT="27432" marB="27432">
                    <a:solidFill>
                      <a:srgbClr val="FFFFFF"/>
                    </a:solidFill>
                  </a:tcPr>
                </a:tc>
                <a:tc>
                  <a:txBody>
                    <a:bodyPr wrap="square"/>
                    <a:lstStyle/>
                    <a:p>
                      <a:r>
                        <a:rPr sz="1200" b="0" i="0">
                          <a:solidFill>
                            <a:srgbClr val="1B2733"/>
                          </a:solidFill>
                          <a:latin typeface="Calibri"/>
                        </a:rPr>
                        <a:t>Support logs</a:t>
                      </a:r>
                    </a:p>
                  </a:txBody>
                  <a:tcPr marL="54864" marR="54864" marT="27432" marB="27432">
                    <a:solidFill>
                      <a:srgbClr val="FFFFFF"/>
                    </a:solidFill>
                  </a:tcPr>
                </a:tc>
                <a:tc>
                  <a:txBody>
                    <a:bodyPr wrap="square"/>
                    <a:lstStyle/>
                    <a:p>
                      <a:r>
                        <a:rPr sz="1200" b="0" i="0">
                          <a:solidFill>
                            <a:srgbClr val="1B2733"/>
                          </a:solidFill>
                          <a:latin typeface="Calibri"/>
                        </a:rPr>
                        <a:t>Near zero</a:t>
                      </a:r>
                    </a:p>
                  </a:txBody>
                  <a:tcPr marL="54864" marR="54864" marT="27432" marB="27432">
                    <a:solidFill>
                      <a:srgbClr val="FFFFFF"/>
                    </a:solidFill>
                  </a:tcPr>
                </a:tc>
              </a:tr>
            </a:tbl>
          </a:graphicData>
        </a:graphic>
      </p:graphicFrame>
      <p:sp>
        <p:nvSpPr>
          <p:cNvPr id="8" name="Rounded Rectangle 7"/>
          <p:cNvSpPr/>
          <p:nvPr/>
        </p:nvSpPr>
        <p:spPr>
          <a:xfrm>
            <a:off x="548640" y="5596128"/>
            <a:ext cx="11091672" cy="658368"/>
          </a:xfrm>
          <a:prstGeom prst="roundRect">
            <a:avLst>
              <a:gd name="adj" fmla="val 10000"/>
            </a:avLst>
          </a:prstGeom>
          <a:solidFill>
            <a:srgbClr val="F3F5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28016" rIns="128016" tIns="128016" bIns="128016">
            <a:noAutofit/>
          </a:bodyPr>
          <a:lstStyle/>
          <a:p>
            <a:pPr algn="l"/>
            <a:r>
              <a:rPr sz="1200" b="1" i="0">
                <a:solidFill>
                  <a:srgbClr val="002E6E"/>
                </a:solidFill>
                <a:latin typeface="Calibri"/>
              </a:rPr>
              <a:t>Reading the result: </a:t>
            </a:r>
            <a:r>
              <a:rPr sz="1200" b="0" i="0">
                <a:solidFill>
                  <a:srgbClr val="1B2733"/>
                </a:solidFill>
                <a:latin typeface="Calibri"/>
              </a:rPr>
              <a:t>randomise by field-agent territory to avoid spill-over; analyse intention to treat; report by settlement profile and single- vs multi-payer shops. Indicatively, 300 per arm detects a 4–6 pt share difference at 80% power if per-merchant share SD is 17–25 pts, before design effect.</a:t>
            </a:r>
          </a:p>
        </p:txBody>
      </p:sp>
      <p:sp>
        <p:nvSpPr>
          <p:cNvPr id="9" name="Rounded Rectangle 8"/>
          <p:cNvSpPr/>
          <p:nvPr/>
        </p:nvSpPr>
        <p:spPr>
          <a:xfrm>
            <a:off x="10469880" y="5504688"/>
            <a:ext cx="741878" cy="173736"/>
          </a:xfrm>
          <a:prstGeom prst="roundRect">
            <a:avLst>
              <a:gd name="adj" fmla="val 50000"/>
            </a:avLst>
          </a:prstGeom>
          <a:solidFill>
            <a:srgbClr val="6B778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288" rIns="18288" tIns="18288" bIns="18288">
            <a:noAutofit/>
          </a:bodyPr>
          <a:lstStyle/>
          <a:p>
            <a:pPr algn="ctr"/>
            <a:r>
              <a:rPr sz="800" b="1" i="0">
                <a:solidFill>
                  <a:srgbClr val="FFFFFF"/>
                </a:solidFill>
                <a:latin typeface="Calibri"/>
              </a:rPr>
              <a:t>TO VALIDATE</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ANNEXURE A5</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400" b="1" i="0">
                <a:solidFill>
                  <a:srgbClr val="002E6E"/>
                </a:solidFill>
                <a:latin typeface="Calibri"/>
              </a:rPr>
              <a:t>Financial model and unit-cost detail (projection, not forecast)</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All values computed by live formulas in the workbook (Funnel_Model, Share_Metric, Unit_Costs). Inputs are assumptions or synthetic proxies; build costs are team assumptions, not Paytm figures.</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A5</a:t>
            </a:r>
          </a:p>
        </p:txBody>
      </p:sp>
      <p:graphicFrame>
        <p:nvGraphicFramePr>
          <p:cNvPr id="7" name="a5_funnel"/>
          <p:cNvGraphicFramePr>
            <a:graphicFrameLocks noGrp="1"/>
          </p:cNvGraphicFramePr>
          <p:nvPr/>
        </p:nvGraphicFramePr>
        <p:xfrm>
          <a:off x="548640" y="1691640"/>
          <a:ext cx="6583680" cy="3986784"/>
        </p:xfrm>
        <a:graphic>
          <a:graphicData uri="http://schemas.openxmlformats.org/drawingml/2006/table">
            <a:tbl>
              <a:tblPr firstRow="1">
                <a:tableStyleId>{5C22544A-7EE6-4342-B048-85BDC9FD1C3A}</a:tableStyleId>
              </a:tblPr>
              <a:tblGrid>
                <a:gridCol w="2743200"/>
                <a:gridCol w="1280160"/>
                <a:gridCol w="1280160"/>
                <a:gridCol w="1280160"/>
              </a:tblGrid>
              <a:tr h="329184">
                <a:tc>
                  <a:txBody>
                    <a:bodyPr wrap="square"/>
                    <a:lstStyle/>
                    <a:p>
                      <a:r>
                        <a:rPr sz="1200" b="1" i="0">
                          <a:solidFill>
                            <a:srgbClr val="FFFFFF"/>
                          </a:solidFill>
                          <a:latin typeface="Calibri"/>
                        </a:rPr>
                        <a:t>Stage (run-rate, end of year one)</a:t>
                      </a:r>
                    </a:p>
                  </a:txBody>
                  <a:tcPr marL="54864" marR="54864" marT="27432" marB="27432">
                    <a:solidFill>
                      <a:srgbClr val="002E6E"/>
                    </a:solidFill>
                  </a:tcPr>
                </a:tc>
                <a:tc>
                  <a:txBody>
                    <a:bodyPr wrap="square"/>
                    <a:lstStyle/>
                    <a:p>
                      <a:r>
                        <a:rPr sz="1200" b="1" i="0">
                          <a:solidFill>
                            <a:srgbClr val="FFFFFF"/>
                          </a:solidFill>
                          <a:latin typeface="Calibri"/>
                        </a:rPr>
                        <a:t>Cautious</a:t>
                      </a:r>
                    </a:p>
                  </a:txBody>
                  <a:tcPr marL="54864" marR="54864" marT="27432" marB="27432">
                    <a:solidFill>
                      <a:srgbClr val="002E6E"/>
                    </a:solidFill>
                  </a:tcPr>
                </a:tc>
                <a:tc>
                  <a:txBody>
                    <a:bodyPr wrap="square"/>
                    <a:lstStyle/>
                    <a:p>
                      <a:r>
                        <a:rPr sz="1200" b="1" i="0">
                          <a:solidFill>
                            <a:srgbClr val="FFFFFF"/>
                          </a:solidFill>
                          <a:latin typeface="Calibri"/>
                        </a:rPr>
                        <a:t>Base</a:t>
                      </a:r>
                    </a:p>
                  </a:txBody>
                  <a:tcPr marL="54864" marR="54864" marT="27432" marB="27432">
                    <a:solidFill>
                      <a:srgbClr val="002E6E"/>
                    </a:solidFill>
                  </a:tcPr>
                </a:tc>
                <a:tc>
                  <a:txBody>
                    <a:bodyPr wrap="square"/>
                    <a:lstStyle/>
                    <a:p>
                      <a:r>
                        <a:rPr sz="1200" b="1" i="0">
                          <a:solidFill>
                            <a:srgbClr val="FFFFFF"/>
                          </a:solidFill>
                          <a:latin typeface="Calibri"/>
                        </a:rPr>
                        <a:t>Upside</a:t>
                      </a:r>
                    </a:p>
                  </a:txBody>
                  <a:tcPr marL="54864" marR="54864" marT="27432" marB="27432">
                    <a:solidFill>
                      <a:srgbClr val="002E6E"/>
                    </a:solidFill>
                  </a:tcPr>
                </a:tc>
              </a:tr>
              <a:tr h="365760">
                <a:tc>
                  <a:txBody>
                    <a:bodyPr wrap="square"/>
                    <a:lstStyle/>
                    <a:p>
                      <a:r>
                        <a:rPr sz="1200" b="1" i="0">
                          <a:solidFill>
                            <a:srgbClr val="1B2733"/>
                          </a:solidFill>
                          <a:latin typeface="Calibri"/>
                        </a:rPr>
                        <a:t>Eligible merchants</a:t>
                      </a:r>
                    </a:p>
                  </a:txBody>
                  <a:tcPr marL="54864" marR="54864" marT="27432" marB="27432">
                    <a:solidFill>
                      <a:srgbClr val="FFFFFF"/>
                    </a:solidFill>
                  </a:tcPr>
                </a:tc>
                <a:tc>
                  <a:txBody>
                    <a:bodyPr wrap="square"/>
                    <a:lstStyle/>
                    <a:p>
                      <a:r>
                        <a:rPr sz="1200" b="0" i="0">
                          <a:solidFill>
                            <a:srgbClr val="1B2733"/>
                          </a:solidFill>
                          <a:latin typeface="Calibri"/>
                        </a:rPr>
                        <a:t>20.9 L</a:t>
                      </a:r>
                    </a:p>
                  </a:txBody>
                  <a:tcPr marL="54864" marR="54864" marT="27432" marB="27432">
                    <a:solidFill>
                      <a:srgbClr val="FFFFFF"/>
                    </a:solidFill>
                  </a:tcPr>
                </a:tc>
                <a:tc>
                  <a:txBody>
                    <a:bodyPr wrap="square"/>
                    <a:lstStyle/>
                    <a:p>
                      <a:r>
                        <a:rPr sz="1200" b="0" i="0">
                          <a:solidFill>
                            <a:srgbClr val="1B2733"/>
                          </a:solidFill>
                          <a:latin typeface="Calibri"/>
                        </a:rPr>
                        <a:t>29.9 L</a:t>
                      </a:r>
                    </a:p>
                  </a:txBody>
                  <a:tcPr marL="54864" marR="54864" marT="27432" marB="27432">
                    <a:solidFill>
                      <a:srgbClr val="FFFFFF"/>
                    </a:solidFill>
                  </a:tcPr>
                </a:tc>
                <a:tc>
                  <a:txBody>
                    <a:bodyPr wrap="square"/>
                    <a:lstStyle/>
                    <a:p>
                      <a:r>
                        <a:rPr sz="1200" b="0" i="0">
                          <a:solidFill>
                            <a:srgbClr val="1B2733"/>
                          </a:solidFill>
                          <a:latin typeface="Calibri"/>
                        </a:rPr>
                        <a:t>35.9 L</a:t>
                      </a:r>
                    </a:p>
                  </a:txBody>
                  <a:tcPr marL="54864" marR="54864" marT="27432" marB="27432">
                    <a:solidFill>
                      <a:srgbClr val="FFFFFF"/>
                    </a:solidFill>
                  </a:tcPr>
                </a:tc>
              </a:tr>
              <a:tr h="365760">
                <a:tc>
                  <a:txBody>
                    <a:bodyPr wrap="square"/>
                    <a:lstStyle/>
                    <a:p>
                      <a:r>
                        <a:rPr sz="1200" b="1" i="0">
                          <a:solidFill>
                            <a:srgbClr val="1B2733"/>
                          </a:solidFill>
                          <a:latin typeface="Calibri"/>
                        </a:rPr>
                        <a:t>Exposed</a:t>
                      </a:r>
                    </a:p>
                  </a:txBody>
                  <a:tcPr marL="54864" marR="54864" marT="27432" marB="27432">
                    <a:solidFill>
                      <a:srgbClr val="EEF5FC"/>
                    </a:solidFill>
                  </a:tcPr>
                </a:tc>
                <a:tc>
                  <a:txBody>
                    <a:bodyPr wrap="square"/>
                    <a:lstStyle/>
                    <a:p>
                      <a:r>
                        <a:rPr sz="1200" b="0" i="0">
                          <a:solidFill>
                            <a:srgbClr val="1B2733"/>
                          </a:solidFill>
                          <a:latin typeface="Calibri"/>
                        </a:rPr>
                        <a:t>5.2 L</a:t>
                      </a:r>
                    </a:p>
                  </a:txBody>
                  <a:tcPr marL="54864" marR="54864" marT="27432" marB="27432">
                    <a:solidFill>
                      <a:srgbClr val="EEF5FC"/>
                    </a:solidFill>
                  </a:tcPr>
                </a:tc>
                <a:tc>
                  <a:txBody>
                    <a:bodyPr wrap="square"/>
                    <a:lstStyle/>
                    <a:p>
                      <a:r>
                        <a:rPr sz="1200" b="0" i="0">
                          <a:solidFill>
                            <a:srgbClr val="1B2733"/>
                          </a:solidFill>
                          <a:latin typeface="Calibri"/>
                        </a:rPr>
                        <a:t>12.0 L</a:t>
                      </a:r>
                    </a:p>
                  </a:txBody>
                  <a:tcPr marL="54864" marR="54864" marT="27432" marB="27432">
                    <a:solidFill>
                      <a:srgbClr val="EEF5FC"/>
                    </a:solidFill>
                  </a:tcPr>
                </a:tc>
                <a:tc>
                  <a:txBody>
                    <a:bodyPr wrap="square"/>
                    <a:lstStyle/>
                    <a:p>
                      <a:r>
                        <a:rPr sz="1200" b="0" i="0">
                          <a:solidFill>
                            <a:srgbClr val="1B2733"/>
                          </a:solidFill>
                          <a:latin typeface="Calibri"/>
                        </a:rPr>
                        <a:t>19.7 L</a:t>
                      </a:r>
                    </a:p>
                  </a:txBody>
                  <a:tcPr marL="54864" marR="54864" marT="27432" marB="27432">
                    <a:solidFill>
                      <a:srgbClr val="EEF5FC"/>
                    </a:solidFill>
                  </a:tcPr>
                </a:tc>
              </a:tr>
              <a:tr h="365760">
                <a:tc>
                  <a:txBody>
                    <a:bodyPr wrap="square"/>
                    <a:lstStyle/>
                    <a:p>
                      <a:r>
                        <a:rPr sz="1200" b="1" i="0">
                          <a:solidFill>
                            <a:srgbClr val="1B2733"/>
                          </a:solidFill>
                          <a:latin typeface="Calibri"/>
                        </a:rPr>
                        <a:t>Activation rate</a:t>
                      </a:r>
                    </a:p>
                  </a:txBody>
                  <a:tcPr marL="54864" marR="54864" marT="27432" marB="27432">
                    <a:solidFill>
                      <a:srgbClr val="FFFFFF"/>
                    </a:solidFill>
                  </a:tcPr>
                </a:tc>
                <a:tc>
                  <a:txBody>
                    <a:bodyPr wrap="square"/>
                    <a:lstStyle/>
                    <a:p>
                      <a:r>
                        <a:rPr sz="1200" b="0" i="0">
                          <a:solidFill>
                            <a:srgbClr val="1B2733"/>
                          </a:solidFill>
                          <a:latin typeface="Calibri"/>
                        </a:rPr>
                        <a:t>13.8%</a:t>
                      </a:r>
                    </a:p>
                  </a:txBody>
                  <a:tcPr marL="54864" marR="54864" marT="27432" marB="27432">
                    <a:solidFill>
                      <a:srgbClr val="FFFFFF"/>
                    </a:solidFill>
                  </a:tcPr>
                </a:tc>
                <a:tc>
                  <a:txBody>
                    <a:bodyPr wrap="square"/>
                    <a:lstStyle/>
                    <a:p>
                      <a:r>
                        <a:rPr sz="1200" b="0" i="0">
                          <a:solidFill>
                            <a:srgbClr val="1B2733"/>
                          </a:solidFill>
                          <a:latin typeface="Calibri"/>
                        </a:rPr>
                        <a:t>23.1%</a:t>
                      </a:r>
                    </a:p>
                  </a:txBody>
                  <a:tcPr marL="54864" marR="54864" marT="27432" marB="27432">
                    <a:solidFill>
                      <a:srgbClr val="FFFFFF"/>
                    </a:solidFill>
                  </a:tcPr>
                </a:tc>
                <a:tc>
                  <a:txBody>
                    <a:bodyPr wrap="square"/>
                    <a:lstStyle/>
                    <a:p>
                      <a:r>
                        <a:rPr sz="1200" b="0" i="0">
                          <a:solidFill>
                            <a:srgbClr val="1B2733"/>
                          </a:solidFill>
                          <a:latin typeface="Calibri"/>
                        </a:rPr>
                        <a:t>37.5%</a:t>
                      </a:r>
                    </a:p>
                  </a:txBody>
                  <a:tcPr marL="54864" marR="54864" marT="27432" marB="27432">
                    <a:solidFill>
                      <a:srgbClr val="FFFFFF"/>
                    </a:solidFill>
                  </a:tcPr>
                </a:tc>
              </a:tr>
              <a:tr h="365760">
                <a:tc>
                  <a:txBody>
                    <a:bodyPr wrap="square"/>
                    <a:lstStyle/>
                    <a:p>
                      <a:r>
                        <a:rPr sz="1200" b="1" i="0">
                          <a:solidFill>
                            <a:srgbClr val="1B2733"/>
                          </a:solidFill>
                          <a:latin typeface="Calibri"/>
                        </a:rPr>
                        <a:t>Activated</a:t>
                      </a:r>
                    </a:p>
                  </a:txBody>
                  <a:tcPr marL="54864" marR="54864" marT="27432" marB="27432">
                    <a:solidFill>
                      <a:srgbClr val="EEF5FC"/>
                    </a:solidFill>
                  </a:tcPr>
                </a:tc>
                <a:tc>
                  <a:txBody>
                    <a:bodyPr wrap="square"/>
                    <a:lstStyle/>
                    <a:p>
                      <a:r>
                        <a:rPr sz="1200" b="0" i="0">
                          <a:solidFill>
                            <a:srgbClr val="1B2733"/>
                          </a:solidFill>
                          <a:latin typeface="Calibri"/>
                        </a:rPr>
                        <a:t>0.72 L</a:t>
                      </a:r>
                    </a:p>
                  </a:txBody>
                  <a:tcPr marL="54864" marR="54864" marT="27432" marB="27432">
                    <a:solidFill>
                      <a:srgbClr val="EEF5FC"/>
                    </a:solidFill>
                  </a:tcPr>
                </a:tc>
                <a:tc>
                  <a:txBody>
                    <a:bodyPr wrap="square"/>
                    <a:lstStyle/>
                    <a:p>
                      <a:r>
                        <a:rPr sz="1200" b="0" i="0">
                          <a:solidFill>
                            <a:srgbClr val="1B2733"/>
                          </a:solidFill>
                          <a:latin typeface="Calibri"/>
                        </a:rPr>
                        <a:t>2.77 L</a:t>
                      </a:r>
                    </a:p>
                  </a:txBody>
                  <a:tcPr marL="54864" marR="54864" marT="27432" marB="27432">
                    <a:solidFill>
                      <a:srgbClr val="EEF5FC"/>
                    </a:solidFill>
                  </a:tcPr>
                </a:tc>
                <a:tc>
                  <a:txBody>
                    <a:bodyPr wrap="square"/>
                    <a:lstStyle/>
                    <a:p>
                      <a:r>
                        <a:rPr sz="1200" b="0" i="0">
                          <a:solidFill>
                            <a:srgbClr val="1B2733"/>
                          </a:solidFill>
                          <a:latin typeface="Calibri"/>
                        </a:rPr>
                        <a:t>7.40 L</a:t>
                      </a:r>
                    </a:p>
                  </a:txBody>
                  <a:tcPr marL="54864" marR="54864" marT="27432" marB="27432">
                    <a:solidFill>
                      <a:srgbClr val="EEF5FC"/>
                    </a:solidFill>
                  </a:tcPr>
                </a:tc>
              </a:tr>
              <a:tr h="365760">
                <a:tc>
                  <a:txBody>
                    <a:bodyPr wrap="square"/>
                    <a:lstStyle/>
                    <a:p>
                      <a:r>
                        <a:rPr sz="1200" b="1" i="0">
                          <a:solidFill>
                            <a:srgbClr val="1B2733"/>
                          </a:solidFill>
                          <a:latin typeface="Calibri"/>
                        </a:rPr>
                        <a:t>Repeat merchants</a:t>
                      </a:r>
                    </a:p>
                  </a:txBody>
                  <a:tcPr marL="54864" marR="54864" marT="27432" marB="27432">
                    <a:solidFill>
                      <a:srgbClr val="FFFFFF"/>
                    </a:solidFill>
                  </a:tcPr>
                </a:tc>
                <a:tc>
                  <a:txBody>
                    <a:bodyPr wrap="square"/>
                    <a:lstStyle/>
                    <a:p>
                      <a:r>
                        <a:rPr sz="1200" b="0" i="0">
                          <a:solidFill>
                            <a:srgbClr val="1B2733"/>
                          </a:solidFill>
                          <a:latin typeface="Calibri"/>
                        </a:rPr>
                        <a:t>25,000</a:t>
                      </a:r>
                    </a:p>
                  </a:txBody>
                  <a:tcPr marL="54864" marR="54864" marT="27432" marB="27432">
                    <a:solidFill>
                      <a:srgbClr val="FFFFFF"/>
                    </a:solidFill>
                  </a:tcPr>
                </a:tc>
                <a:tc>
                  <a:txBody>
                    <a:bodyPr wrap="square"/>
                    <a:lstStyle/>
                    <a:p>
                      <a:r>
                        <a:rPr sz="1200" b="0" i="0">
                          <a:solidFill>
                            <a:srgbClr val="1B2733"/>
                          </a:solidFill>
                          <a:latin typeface="Calibri"/>
                        </a:rPr>
                        <a:t>1.38 L</a:t>
                      </a:r>
                    </a:p>
                  </a:txBody>
                  <a:tcPr marL="54864" marR="54864" marT="27432" marB="27432">
                    <a:solidFill>
                      <a:srgbClr val="FFFFFF"/>
                    </a:solidFill>
                  </a:tcPr>
                </a:tc>
                <a:tc>
                  <a:txBody>
                    <a:bodyPr wrap="square"/>
                    <a:lstStyle/>
                    <a:p>
                      <a:r>
                        <a:rPr sz="1200" b="0" i="0">
                          <a:solidFill>
                            <a:srgbClr val="1B2733"/>
                          </a:solidFill>
                          <a:latin typeface="Calibri"/>
                        </a:rPr>
                        <a:t>4.81 L</a:t>
                      </a:r>
                    </a:p>
                  </a:txBody>
                  <a:tcPr marL="54864" marR="54864" marT="27432" marB="27432">
                    <a:solidFill>
                      <a:srgbClr val="FFFFFF"/>
                    </a:solidFill>
                  </a:tcPr>
                </a:tc>
              </a:tr>
              <a:tr h="365760">
                <a:tc>
                  <a:txBody>
                    <a:bodyPr wrap="square"/>
                    <a:lstStyle/>
                    <a:p>
                      <a:r>
                        <a:rPr sz="1200" b="1" i="0">
                          <a:solidFill>
                            <a:srgbClr val="1B2733"/>
                          </a:solidFill>
                          <a:latin typeface="Calibri"/>
                        </a:rPr>
                        <a:t>Incremental MTU</a:t>
                      </a:r>
                    </a:p>
                  </a:txBody>
                  <a:tcPr marL="54864" marR="54864" marT="27432" marB="27432">
                    <a:solidFill>
                      <a:srgbClr val="EEF5FC"/>
                    </a:solidFill>
                  </a:tcPr>
                </a:tc>
                <a:tc>
                  <a:txBody>
                    <a:bodyPr wrap="square"/>
                    <a:lstStyle/>
                    <a:p>
                      <a:r>
                        <a:rPr sz="1200" b="0" i="0">
                          <a:solidFill>
                            <a:srgbClr val="1B2733"/>
                          </a:solidFill>
                          <a:latin typeface="Calibri"/>
                        </a:rPr>
                        <a:t>14,000</a:t>
                      </a:r>
                    </a:p>
                  </a:txBody>
                  <a:tcPr marL="54864" marR="54864" marT="27432" marB="27432">
                    <a:solidFill>
                      <a:srgbClr val="EEF5FC"/>
                    </a:solidFill>
                  </a:tcPr>
                </a:tc>
                <a:tc>
                  <a:txBody>
                    <a:bodyPr wrap="square"/>
                    <a:lstStyle/>
                    <a:p>
                      <a:r>
                        <a:rPr sz="1200" b="0" i="0">
                          <a:solidFill>
                            <a:srgbClr val="1B2733"/>
                          </a:solidFill>
                          <a:latin typeface="Calibri"/>
                        </a:rPr>
                        <a:t>78,000</a:t>
                      </a:r>
                    </a:p>
                  </a:txBody>
                  <a:tcPr marL="54864" marR="54864" marT="27432" marB="27432">
                    <a:solidFill>
                      <a:srgbClr val="EEF5FC"/>
                    </a:solidFill>
                  </a:tcPr>
                </a:tc>
                <a:tc>
                  <a:txBody>
                    <a:bodyPr wrap="square"/>
                    <a:lstStyle/>
                    <a:p>
                      <a:r>
                        <a:rPr sz="1200" b="0" i="0">
                          <a:solidFill>
                            <a:srgbClr val="1B2733"/>
                          </a:solidFill>
                          <a:latin typeface="Calibri"/>
                        </a:rPr>
                        <a:t>2.71 L</a:t>
                      </a:r>
                    </a:p>
                  </a:txBody>
                  <a:tcPr marL="54864" marR="54864" marT="27432" marB="27432">
                    <a:solidFill>
                      <a:srgbClr val="EEF5FC"/>
                    </a:solidFill>
                  </a:tcPr>
                </a:tc>
              </a:tr>
              <a:tr h="365760">
                <a:tc>
                  <a:txBody>
                    <a:bodyPr wrap="square"/>
                    <a:lstStyle/>
                    <a:p>
                      <a:r>
                        <a:rPr sz="1200" b="1" i="0">
                          <a:solidFill>
                            <a:srgbClr val="1B2733"/>
                          </a:solidFill>
                          <a:latin typeface="Calibri"/>
                        </a:rPr>
                        <a:t>Extra payments a month</a:t>
                      </a:r>
                    </a:p>
                  </a:txBody>
                  <a:tcPr marL="54864" marR="54864" marT="27432" marB="27432">
                    <a:solidFill>
                      <a:srgbClr val="FFFFFF"/>
                    </a:solidFill>
                  </a:tcPr>
                </a:tc>
                <a:tc>
                  <a:txBody>
                    <a:bodyPr wrap="square"/>
                    <a:lstStyle/>
                    <a:p>
                      <a:r>
                        <a:rPr sz="1200" b="0" i="0">
                          <a:solidFill>
                            <a:srgbClr val="1B2733"/>
                          </a:solidFill>
                          <a:latin typeface="Calibri"/>
                        </a:rPr>
                        <a:t>1.2 L</a:t>
                      </a:r>
                    </a:p>
                  </a:txBody>
                  <a:tcPr marL="54864" marR="54864" marT="27432" marB="27432">
                    <a:solidFill>
                      <a:srgbClr val="FFFFFF"/>
                    </a:solidFill>
                  </a:tcPr>
                </a:tc>
                <a:tc>
                  <a:txBody>
                    <a:bodyPr wrap="square"/>
                    <a:lstStyle/>
                    <a:p>
                      <a:r>
                        <a:rPr sz="1200" b="0" i="0">
                          <a:solidFill>
                            <a:srgbClr val="1B2733"/>
                          </a:solidFill>
                          <a:latin typeface="Calibri"/>
                        </a:rPr>
                        <a:t>10.4 L</a:t>
                      </a:r>
                    </a:p>
                  </a:txBody>
                  <a:tcPr marL="54864" marR="54864" marT="27432" marB="27432">
                    <a:solidFill>
                      <a:srgbClr val="FFFFFF"/>
                    </a:solidFill>
                  </a:tcPr>
                </a:tc>
                <a:tc>
                  <a:txBody>
                    <a:bodyPr wrap="square"/>
                    <a:lstStyle/>
                    <a:p>
                      <a:r>
                        <a:rPr sz="1200" b="0" i="0">
                          <a:solidFill>
                            <a:srgbClr val="1B2733"/>
                          </a:solidFill>
                          <a:latin typeface="Calibri"/>
                        </a:rPr>
                        <a:t>54.4 L</a:t>
                      </a:r>
                    </a:p>
                  </a:txBody>
                  <a:tcPr marL="54864" marR="54864" marT="27432" marB="27432">
                    <a:solidFill>
                      <a:srgbClr val="FFFFFF"/>
                    </a:solidFill>
                  </a:tcPr>
                </a:tc>
              </a:tr>
              <a:tr h="365760">
                <a:tc>
                  <a:txBody>
                    <a:bodyPr wrap="square"/>
                    <a:lstStyle/>
                    <a:p>
                      <a:r>
                        <a:rPr sz="1200" b="1" i="0">
                          <a:solidFill>
                            <a:srgbClr val="1B2733"/>
                          </a:solidFill>
                          <a:latin typeface="Calibri"/>
                        </a:rPr>
                        <a:t>Incremental GMV a month</a:t>
                      </a:r>
                    </a:p>
                  </a:txBody>
                  <a:tcPr marL="54864" marR="54864" marT="27432" marB="27432">
                    <a:solidFill>
                      <a:srgbClr val="EEF5FC"/>
                    </a:solidFill>
                  </a:tcPr>
                </a:tc>
                <a:tc>
                  <a:txBody>
                    <a:bodyPr wrap="square"/>
                    <a:lstStyle/>
                    <a:p>
                      <a:r>
                        <a:rPr sz="1200" b="0" i="0">
                          <a:solidFill>
                            <a:srgbClr val="1B2733"/>
                          </a:solidFill>
                          <a:latin typeface="Calibri"/>
                        </a:rPr>
                        <a:t>₹20 cr</a:t>
                      </a:r>
                    </a:p>
                  </a:txBody>
                  <a:tcPr marL="54864" marR="54864" marT="27432" marB="27432">
                    <a:solidFill>
                      <a:srgbClr val="EEF5FC"/>
                    </a:solidFill>
                  </a:tcPr>
                </a:tc>
                <a:tc>
                  <a:txBody>
                    <a:bodyPr wrap="square"/>
                    <a:lstStyle/>
                    <a:p>
                      <a:r>
                        <a:rPr sz="1200" b="0" i="0">
                          <a:solidFill>
                            <a:srgbClr val="1B2733"/>
                          </a:solidFill>
                          <a:latin typeface="Calibri"/>
                        </a:rPr>
                        <a:t>₹222 cr</a:t>
                      </a:r>
                    </a:p>
                  </a:txBody>
                  <a:tcPr marL="54864" marR="54864" marT="27432" marB="27432">
                    <a:solidFill>
                      <a:srgbClr val="EEF5FC"/>
                    </a:solidFill>
                  </a:tcPr>
                </a:tc>
                <a:tc>
                  <a:txBody>
                    <a:bodyPr wrap="square"/>
                    <a:lstStyle/>
                    <a:p>
                      <a:r>
                        <a:rPr sz="1200" b="0" i="0">
                          <a:solidFill>
                            <a:srgbClr val="1B2733"/>
                          </a:solidFill>
                          <a:latin typeface="Calibri"/>
                        </a:rPr>
                        <a:t>₹1,620 cr</a:t>
                      </a:r>
                    </a:p>
                  </a:txBody>
                  <a:tcPr marL="54864" marR="54864" marT="27432" marB="27432">
                    <a:solidFill>
                      <a:srgbClr val="EEF5FC"/>
                    </a:solidFill>
                  </a:tcPr>
                </a:tc>
              </a:tr>
              <a:tr h="365760">
                <a:tc>
                  <a:txBody>
                    <a:bodyPr wrap="square"/>
                    <a:lstStyle/>
                    <a:p>
                      <a:r>
                        <a:rPr sz="1200" b="1" i="0">
                          <a:solidFill>
                            <a:srgbClr val="1B2733"/>
                          </a:solidFill>
                          <a:latin typeface="Calibri"/>
                        </a:rPr>
                        <a:t>Annual run-rate</a:t>
                      </a:r>
                    </a:p>
                  </a:txBody>
                  <a:tcPr marL="54864" marR="54864" marT="27432" marB="27432">
                    <a:solidFill>
                      <a:srgbClr val="FFFFFF"/>
                    </a:solidFill>
                  </a:tcPr>
                </a:tc>
                <a:tc>
                  <a:txBody>
                    <a:bodyPr wrap="square"/>
                    <a:lstStyle/>
                    <a:p>
                      <a:r>
                        <a:rPr sz="1200" b="0" i="0">
                          <a:solidFill>
                            <a:srgbClr val="1B2733"/>
                          </a:solidFill>
                          <a:latin typeface="Calibri"/>
                        </a:rPr>
                        <a:t>₹240 cr</a:t>
                      </a:r>
                    </a:p>
                  </a:txBody>
                  <a:tcPr marL="54864" marR="54864" marT="27432" marB="27432">
                    <a:solidFill>
                      <a:srgbClr val="FFFFFF"/>
                    </a:solidFill>
                  </a:tcPr>
                </a:tc>
                <a:tc>
                  <a:txBody>
                    <a:bodyPr wrap="square"/>
                    <a:lstStyle/>
                    <a:p>
                      <a:r>
                        <a:rPr sz="1200" b="0" i="0">
                          <a:solidFill>
                            <a:srgbClr val="1B2733"/>
                          </a:solidFill>
                          <a:latin typeface="Calibri"/>
                        </a:rPr>
                        <a:t>₹2,660 cr</a:t>
                      </a:r>
                    </a:p>
                  </a:txBody>
                  <a:tcPr marL="54864" marR="54864" marT="27432" marB="27432">
                    <a:solidFill>
                      <a:srgbClr val="FFFFFF"/>
                    </a:solidFill>
                  </a:tcPr>
                </a:tc>
                <a:tc>
                  <a:txBody>
                    <a:bodyPr wrap="square"/>
                    <a:lstStyle/>
                    <a:p>
                      <a:r>
                        <a:rPr sz="1200" b="0" i="0">
                          <a:solidFill>
                            <a:srgbClr val="1B2733"/>
                          </a:solidFill>
                          <a:latin typeface="Calibri"/>
                        </a:rPr>
                        <a:t>₹19,400 cr</a:t>
                      </a:r>
                    </a:p>
                  </a:txBody>
                  <a:tcPr marL="54864" marR="54864" marT="27432" marB="27432">
                    <a:solidFill>
                      <a:srgbClr val="FFFFFF"/>
                    </a:solidFill>
                  </a:tcPr>
                </a:tc>
              </a:tr>
              <a:tr h="365760">
                <a:tc>
                  <a:txBody>
                    <a:bodyPr wrap="square"/>
                    <a:lstStyle/>
                    <a:p>
                      <a:r>
                        <a:rPr sz="1200" b="1" i="0">
                          <a:solidFill>
                            <a:srgbClr val="1B2733"/>
                          </a:solidFill>
                          <a:latin typeface="Calibri"/>
                        </a:rPr>
                        <a:t>Share lift, whole segment</a:t>
                      </a:r>
                    </a:p>
                  </a:txBody>
                  <a:tcPr marL="54864" marR="54864" marT="27432" marB="27432">
                    <a:solidFill>
                      <a:srgbClr val="EEF5FC"/>
                    </a:solidFill>
                  </a:tcPr>
                </a:tc>
                <a:tc>
                  <a:txBody>
                    <a:bodyPr wrap="square"/>
                    <a:lstStyle/>
                    <a:p>
                      <a:r>
                        <a:rPr sz="1200" b="0" i="0">
                          <a:solidFill>
                            <a:srgbClr val="1B2733"/>
                          </a:solidFill>
                          <a:latin typeface="Calibri"/>
                        </a:rPr>
                        <a:t>+0.3 pts</a:t>
                      </a:r>
                    </a:p>
                  </a:txBody>
                  <a:tcPr marL="54864" marR="54864" marT="27432" marB="27432">
                    <a:solidFill>
                      <a:srgbClr val="EEF5FC"/>
                    </a:solidFill>
                  </a:tcPr>
                </a:tc>
                <a:tc>
                  <a:txBody>
                    <a:bodyPr wrap="square"/>
                    <a:lstStyle/>
                    <a:p>
                      <a:r>
                        <a:rPr sz="1200" b="0" i="0">
                          <a:solidFill>
                            <a:srgbClr val="1B2733"/>
                          </a:solidFill>
                          <a:latin typeface="Calibri"/>
                        </a:rPr>
                        <a:t>+1.6 pts</a:t>
                      </a:r>
                    </a:p>
                  </a:txBody>
                  <a:tcPr marL="54864" marR="54864" marT="27432" marB="27432">
                    <a:solidFill>
                      <a:srgbClr val="EEF5FC"/>
                    </a:solidFill>
                  </a:tcPr>
                </a:tc>
                <a:tc>
                  <a:txBody>
                    <a:bodyPr wrap="square"/>
                    <a:lstStyle/>
                    <a:p>
                      <a:r>
                        <a:rPr sz="1200" b="0" i="0">
                          <a:solidFill>
                            <a:srgbClr val="1B2733"/>
                          </a:solidFill>
                          <a:latin typeface="Calibri"/>
                        </a:rPr>
                        <a:t>+6.8 pts</a:t>
                      </a:r>
                    </a:p>
                  </a:txBody>
                  <a:tcPr marL="54864" marR="54864" marT="27432" marB="27432">
                    <a:solidFill>
                      <a:srgbClr val="EEF5FC"/>
                    </a:solidFill>
                  </a:tcPr>
                </a:tc>
              </a:tr>
            </a:tbl>
          </a:graphicData>
        </a:graphic>
      </p:graphicFrame>
      <p:graphicFrame>
        <p:nvGraphicFramePr>
          <p:cNvPr id="8" name="a5_units"/>
          <p:cNvGraphicFramePr>
            <a:graphicFrameLocks noGrp="1"/>
          </p:cNvGraphicFramePr>
          <p:nvPr/>
        </p:nvGraphicFramePr>
        <p:xfrm>
          <a:off x="7360920" y="1691640"/>
          <a:ext cx="4279392" cy="3255264"/>
        </p:xfrm>
        <a:graphic>
          <a:graphicData uri="http://schemas.openxmlformats.org/drawingml/2006/table">
            <a:tbl>
              <a:tblPr firstRow="1">
                <a:tableStyleId>{5C22544A-7EE6-4342-B048-85BDC9FD1C3A}</a:tableStyleId>
              </a:tblPr>
              <a:tblGrid>
                <a:gridCol w="2816352"/>
                <a:gridCol w="1463040"/>
              </a:tblGrid>
              <a:tr h="329184">
                <a:tc>
                  <a:txBody>
                    <a:bodyPr wrap="square"/>
                    <a:lstStyle/>
                    <a:p>
                      <a:r>
                        <a:rPr sz="1200" b="1" i="0">
                          <a:solidFill>
                            <a:srgbClr val="FFFFFF"/>
                          </a:solidFill>
                          <a:latin typeface="Calibri"/>
                        </a:rPr>
                        <a:t>Unit cost (base)</a:t>
                      </a:r>
                    </a:p>
                  </a:txBody>
                  <a:tcPr marL="54864" marR="54864" marT="27432" marB="27432">
                    <a:solidFill>
                      <a:srgbClr val="002E6E"/>
                    </a:solidFill>
                  </a:tcPr>
                </a:tc>
                <a:tc>
                  <a:txBody>
                    <a:bodyPr wrap="square"/>
                    <a:lstStyle/>
                    <a:p>
                      <a:r>
                        <a:rPr sz="1200" b="1" i="0">
                          <a:solidFill>
                            <a:srgbClr val="FFFFFF"/>
                          </a:solidFill>
                          <a:latin typeface="Calibri"/>
                        </a:rPr>
                        <a:t>Value</a:t>
                      </a:r>
                    </a:p>
                  </a:txBody>
                  <a:tcPr marL="54864" marR="54864" marT="27432" marB="27432">
                    <a:solidFill>
                      <a:srgbClr val="002E6E"/>
                    </a:solidFill>
                  </a:tcPr>
                </a:tc>
              </a:tr>
              <a:tr h="365760">
                <a:tc>
                  <a:txBody>
                    <a:bodyPr wrap="square"/>
                    <a:lstStyle/>
                    <a:p>
                      <a:r>
                        <a:rPr sz="1200" b="0" i="0">
                          <a:solidFill>
                            <a:srgbClr val="1B2733"/>
                          </a:solidFill>
                          <a:latin typeface="Calibri"/>
                        </a:rPr>
                        <a:t>Visit cost per exposed merchant</a:t>
                      </a:r>
                    </a:p>
                  </a:txBody>
                  <a:tcPr marL="54864" marR="54864" marT="27432" marB="27432">
                    <a:solidFill>
                      <a:srgbClr val="FFFFFF"/>
                    </a:solidFill>
                  </a:tcPr>
                </a:tc>
                <a:tc>
                  <a:txBody>
                    <a:bodyPr wrap="square"/>
                    <a:lstStyle/>
                    <a:p>
                      <a:r>
                        <a:rPr sz="1200" b="0" i="0">
                          <a:solidFill>
                            <a:srgbClr val="1B2733"/>
                          </a:solidFill>
                          <a:latin typeface="Calibri"/>
                        </a:rPr>
                        <a:t>₹200 (₹150–300)</a:t>
                      </a:r>
                    </a:p>
                  </a:txBody>
                  <a:tcPr marL="54864" marR="54864" marT="27432" marB="27432">
                    <a:solidFill>
                      <a:srgbClr val="FFFFFF"/>
                    </a:solidFill>
                  </a:tcPr>
                </a:tc>
              </a:tr>
              <a:tr h="365760">
                <a:tc>
                  <a:txBody>
                    <a:bodyPr wrap="square"/>
                    <a:lstStyle/>
                    <a:p>
                      <a:r>
                        <a:rPr sz="1200" b="0" i="0">
                          <a:solidFill>
                            <a:srgbClr val="1B2733"/>
                          </a:solidFill>
                          <a:latin typeface="Calibri"/>
                        </a:rPr>
                        <a:t>Free settlement per payment (ceiling)</a:t>
                      </a:r>
                    </a:p>
                  </a:txBody>
                  <a:tcPr marL="54864" marR="54864" marT="27432" marB="27432">
                    <a:solidFill>
                      <a:srgbClr val="EEF5FC"/>
                    </a:solidFill>
                  </a:tcPr>
                </a:tc>
                <a:tc>
                  <a:txBody>
                    <a:bodyPr wrap="square"/>
                    <a:lstStyle/>
                    <a:p>
                      <a:r>
                        <a:rPr sz="1200" b="0" i="0">
                          <a:solidFill>
                            <a:srgbClr val="1B2733"/>
                          </a:solidFill>
                          <a:latin typeface="Calibri"/>
                        </a:rPr>
                        <a:t>₹0.75</a:t>
                      </a:r>
                    </a:p>
                  </a:txBody>
                  <a:tcPr marL="54864" marR="54864" marT="27432" marB="27432">
                    <a:solidFill>
                      <a:srgbClr val="EEF5FC"/>
                    </a:solidFill>
                  </a:tcPr>
                </a:tc>
              </a:tr>
              <a:tr h="365760">
                <a:tc>
                  <a:txBody>
                    <a:bodyPr wrap="square"/>
                    <a:lstStyle/>
                    <a:p>
                      <a:r>
                        <a:rPr sz="1200" b="0" i="0">
                          <a:solidFill>
                            <a:srgbClr val="1B2733"/>
                          </a:solidFill>
                          <a:latin typeface="Calibri"/>
                        </a:rPr>
                        <a:t>Pilot build / full payer flow</a:t>
                      </a:r>
                    </a:p>
                  </a:txBody>
                  <a:tcPr marL="54864" marR="54864" marT="27432" marB="27432">
                    <a:solidFill>
                      <a:srgbClr val="FFFFFF"/>
                    </a:solidFill>
                  </a:tcPr>
                </a:tc>
                <a:tc>
                  <a:txBody>
                    <a:bodyPr wrap="square"/>
                    <a:lstStyle/>
                    <a:p>
                      <a:r>
                        <a:rPr sz="1200" b="0" i="0">
                          <a:solidFill>
                            <a:srgbClr val="1B2733"/>
                          </a:solidFill>
                          <a:latin typeface="Calibri"/>
                        </a:rPr>
                        <a:t>₹0.5 cr / ₹5 cr</a:t>
                      </a:r>
                    </a:p>
                  </a:txBody>
                  <a:tcPr marL="54864" marR="54864" marT="27432" marB="27432">
                    <a:solidFill>
                      <a:srgbClr val="FFFFFF"/>
                    </a:solidFill>
                  </a:tcPr>
                </a:tc>
              </a:tr>
              <a:tr h="365760">
                <a:tc>
                  <a:txBody>
                    <a:bodyPr wrap="square"/>
                    <a:lstStyle/>
                    <a:p>
                      <a:r>
                        <a:rPr sz="1200" b="0" i="0">
                          <a:solidFill>
                            <a:srgbClr val="1B2733"/>
                          </a:solidFill>
                          <a:latin typeface="Calibri"/>
                        </a:rPr>
                        <a:t>Cost per incremental MTU</a:t>
                      </a:r>
                    </a:p>
                  </a:txBody>
                  <a:tcPr marL="54864" marR="54864" marT="27432" marB="27432">
                    <a:solidFill>
                      <a:srgbClr val="EEF5FC"/>
                    </a:solidFill>
                  </a:tcPr>
                </a:tc>
                <a:tc>
                  <a:txBody>
                    <a:bodyPr wrap="square"/>
                    <a:lstStyle/>
                    <a:p>
                      <a:r>
                        <a:rPr sz="1200" b="0" i="0">
                          <a:solidFill>
                            <a:srgbClr val="1B2733"/>
                          </a:solidFill>
                          <a:latin typeface="Calibri"/>
                        </a:rPr>
                        <a:t>₹3,200 / ₹3,900*</a:t>
                      </a:r>
                    </a:p>
                  </a:txBody>
                  <a:tcPr marL="54864" marR="54864" marT="27432" marB="27432">
                    <a:solidFill>
                      <a:srgbClr val="EEF5FC"/>
                    </a:solidFill>
                  </a:tcPr>
                </a:tc>
              </a:tr>
              <a:tr h="365760">
                <a:tc>
                  <a:txBody>
                    <a:bodyPr wrap="square"/>
                    <a:lstStyle/>
                    <a:p>
                      <a:r>
                        <a:rPr sz="1200" b="0" i="0">
                          <a:solidFill>
                            <a:srgbClr val="1B2733"/>
                          </a:solidFill>
                          <a:latin typeface="Calibri"/>
                        </a:rPr>
                        <a:t>Visit-cost range per MTU</a:t>
                      </a:r>
                    </a:p>
                  </a:txBody>
                  <a:tcPr marL="54864" marR="54864" marT="27432" marB="27432">
                    <a:solidFill>
                      <a:srgbClr val="FFFFFF"/>
                    </a:solidFill>
                  </a:tcPr>
                </a:tc>
                <a:tc>
                  <a:txBody>
                    <a:bodyPr wrap="square"/>
                    <a:lstStyle/>
                    <a:p>
                      <a:r>
                        <a:rPr sz="1200" b="0" i="0">
                          <a:solidFill>
                            <a:srgbClr val="1B2733"/>
                          </a:solidFill>
                          <a:latin typeface="Calibri"/>
                        </a:rPr>
                        <a:t>₹2,400–4,700</a:t>
                      </a:r>
                    </a:p>
                  </a:txBody>
                  <a:tcPr marL="54864" marR="54864" marT="27432" marB="27432">
                    <a:solidFill>
                      <a:srgbClr val="FFFFFF"/>
                    </a:solidFill>
                  </a:tcPr>
                </a:tc>
              </a:tr>
              <a:tr h="365760">
                <a:tc>
                  <a:txBody>
                    <a:bodyPr wrap="square"/>
                    <a:lstStyle/>
                    <a:p>
                      <a:r>
                        <a:rPr sz="1200" b="0" i="0">
                          <a:solidFill>
                            <a:srgbClr val="1B2733"/>
                          </a:solidFill>
                          <a:latin typeface="Calibri"/>
                        </a:rPr>
                        <a:t>Cost per ₹ of GMV</a:t>
                      </a:r>
                    </a:p>
                  </a:txBody>
                  <a:tcPr marL="54864" marR="54864" marT="27432" marB="27432">
                    <a:solidFill>
                      <a:srgbClr val="EEF5FC"/>
                    </a:solidFill>
                  </a:tcPr>
                </a:tc>
                <a:tc>
                  <a:txBody>
                    <a:bodyPr wrap="square"/>
                    <a:lstStyle/>
                    <a:p>
                      <a:r>
                        <a:rPr sz="1200" b="0" i="0">
                          <a:solidFill>
                            <a:srgbClr val="1B2733"/>
                          </a:solidFill>
                          <a:latin typeface="Calibri"/>
                        </a:rPr>
                        <a:t>₹0.009 / ₹0.011*</a:t>
                      </a:r>
                    </a:p>
                  </a:txBody>
                  <a:tcPr marL="54864" marR="54864" marT="27432" marB="27432">
                    <a:solidFill>
                      <a:srgbClr val="EEF5FC"/>
                    </a:solidFill>
                  </a:tcPr>
                </a:tc>
              </a:tr>
              <a:tr h="365760">
                <a:tc>
                  <a:txBody>
                    <a:bodyPr wrap="square"/>
                    <a:lstStyle/>
                    <a:p>
                      <a:r>
                        <a:rPr sz="1200" b="0" i="0">
                          <a:solidFill>
                            <a:srgbClr val="1B2733"/>
                          </a:solidFill>
                          <a:latin typeface="Calibri"/>
                        </a:rPr>
                        <a:t>Pilot metric: ₹200 × 1,000 ÷ 65</a:t>
                      </a:r>
                    </a:p>
                  </a:txBody>
                  <a:tcPr marL="54864" marR="54864" marT="27432" marB="27432">
                    <a:solidFill>
                      <a:srgbClr val="FFFFFF"/>
                    </a:solidFill>
                  </a:tcPr>
                </a:tc>
                <a:tc>
                  <a:txBody>
                    <a:bodyPr wrap="square"/>
                    <a:lstStyle/>
                    <a:p>
                      <a:r>
                        <a:rPr sz="1200" b="0" i="0">
                          <a:solidFill>
                            <a:srgbClr val="1B2733"/>
                          </a:solidFill>
                          <a:latin typeface="Calibri"/>
                        </a:rPr>
                        <a:t>₹3,080</a:t>
                      </a:r>
                    </a:p>
                  </a:txBody>
                  <a:tcPr marL="54864" marR="54864" marT="27432" marB="27432">
                    <a:solidFill>
                      <a:srgbClr val="FFFFFF"/>
                    </a:solidFill>
                  </a:tcPr>
                </a:tc>
              </a:tr>
              <a:tr h="365760">
                <a:tc>
                  <a:txBody>
                    <a:bodyPr wrap="square"/>
                    <a:lstStyle/>
                    <a:p>
                      <a:r>
                        <a:rPr sz="1200" b="0" i="0">
                          <a:solidFill>
                            <a:srgbClr val="1B2733"/>
                          </a:solidFill>
                          <a:latin typeface="Calibri"/>
                        </a:rPr>
                        <a:t>Segment pool (addressable)</a:t>
                      </a:r>
                    </a:p>
                  </a:txBody>
                  <a:tcPr marL="54864" marR="54864" marT="27432" marB="27432">
                    <a:solidFill>
                      <a:srgbClr val="EEF5FC"/>
                    </a:solidFill>
                  </a:tcPr>
                </a:tc>
                <a:tc>
                  <a:txBody>
                    <a:bodyPr wrap="square"/>
                    <a:lstStyle/>
                    <a:p>
                      <a:r>
                        <a:rPr sz="1200" b="0" i="0">
                          <a:solidFill>
                            <a:srgbClr val="1B2733"/>
                          </a:solidFill>
                          <a:latin typeface="Calibri"/>
                        </a:rPr>
                        <a:t>₹14,100 crore/month</a:t>
                      </a:r>
                    </a:p>
                  </a:txBody>
                  <a:tcPr marL="54864" marR="54864" marT="27432" marB="27432">
                    <a:solidFill>
                      <a:srgbClr val="EEF5FC"/>
                    </a:solidFill>
                  </a:tcPr>
                </a:tc>
              </a:tr>
            </a:tbl>
          </a:graphicData>
        </a:graphic>
      </p:graphicFrame>
      <p:sp>
        <p:nvSpPr>
          <p:cNvPr id="9" name="TextBox 8"/>
          <p:cNvSpPr txBox="1"/>
          <p:nvPr/>
        </p:nvSpPr>
        <p:spPr>
          <a:xfrm>
            <a:off x="7360920" y="5029200"/>
            <a:ext cx="4279392" cy="274320"/>
          </a:xfrm>
          <a:prstGeom prst="rect">
            <a:avLst/>
          </a:prstGeom>
          <a:noFill/>
        </p:spPr>
        <p:txBody>
          <a:bodyPr wrap="square" lIns="36576" rIns="36576" tIns="36576" bIns="36576" anchor="t">
            <a:noAutofit/>
          </a:bodyPr>
          <a:lstStyle/>
          <a:p>
            <a:pPr algn="l"/>
            <a:r>
              <a:rPr sz="1000" b="0" i="1">
                <a:solidFill>
                  <a:srgbClr val="5B6B7C"/>
                </a:solidFill>
                <a:latin typeface="Calibri"/>
              </a:rPr>
              <a:t>* without / with build cost</a:t>
            </a:r>
          </a:p>
        </p:txBody>
      </p:sp>
      <p:sp>
        <p:nvSpPr>
          <p:cNvPr id="10" name="TextBox 9"/>
          <p:cNvSpPr txBox="1"/>
          <p:nvPr/>
        </p:nvSpPr>
        <p:spPr>
          <a:xfrm>
            <a:off x="548640" y="5806440"/>
            <a:ext cx="11091672" cy="365760"/>
          </a:xfrm>
          <a:prstGeom prst="rect">
            <a:avLst/>
          </a:prstGeom>
          <a:noFill/>
        </p:spPr>
        <p:txBody>
          <a:bodyPr wrap="square" lIns="36576" rIns="36576" tIns="36576" bIns="36576" anchor="t">
            <a:noAutofit/>
          </a:bodyPr>
          <a:lstStyle/>
          <a:p>
            <a:pPr algn="l"/>
            <a:r>
              <a:rPr sz="1000" b="0" i="0">
                <a:solidFill>
                  <a:srgbClr val="5B6B7C"/>
                </a:solidFill>
                <a:latin typeface="Calibri"/>
              </a:rPr>
              <a:t>Drivers: weekly vendor UPI 35/50/60%; settlement share 54.8% (23/42); friction 69.6% (16/23); exposure 25/40/55%; repeat 35/50/65%; not already a Paytm payer 56% (9/16); 18.9 payments a month; shift 25/40/60%; ticket ₹2,000/2,500/3,500; baseline overlap 15%.</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ANNEXURE A6</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400" b="1" i="0">
                <a:solidFill>
                  <a:srgbClr val="002E6E"/>
                </a:solidFill>
                <a:latin typeface="Calibri"/>
              </a:rPr>
              <a:t>Dependency and risk registers</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Full registers with sources and build effort: workbook 'Dependencies_Risks'. Owners are proposed functions.</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A6</a:t>
            </a:r>
          </a:p>
        </p:txBody>
      </p:sp>
      <p:graphicFrame>
        <p:nvGraphicFramePr>
          <p:cNvPr id="7" name="a6_deps"/>
          <p:cNvGraphicFramePr>
            <a:graphicFrameLocks noGrp="1"/>
          </p:cNvGraphicFramePr>
          <p:nvPr/>
        </p:nvGraphicFramePr>
        <p:xfrm>
          <a:off x="548640" y="1691640"/>
          <a:ext cx="11091672" cy="2825496"/>
        </p:xfrm>
        <a:graphic>
          <a:graphicData uri="http://schemas.openxmlformats.org/drawingml/2006/table">
            <a:tbl>
              <a:tblPr firstRow="1">
                <a:tableStyleId>{5C22544A-7EE6-4342-B048-85BDC9FD1C3A}</a:tableStyleId>
              </a:tblPr>
              <a:tblGrid>
                <a:gridCol w="3200400"/>
                <a:gridCol w="4846320"/>
                <a:gridCol w="2194560"/>
                <a:gridCol w="850392"/>
              </a:tblGrid>
              <a:tr h="329184">
                <a:tc>
                  <a:txBody>
                    <a:bodyPr wrap="square"/>
                    <a:lstStyle/>
                    <a:p>
                      <a:r>
                        <a:rPr sz="1200" b="1" i="0">
                          <a:solidFill>
                            <a:srgbClr val="FFFFFF"/>
                          </a:solidFill>
                          <a:latin typeface="Calibri"/>
                        </a:rPr>
                        <a:t>Dependency</a:t>
                      </a:r>
                    </a:p>
                  </a:txBody>
                  <a:tcPr marL="54864" marR="54864" marT="27432" marB="27432">
                    <a:solidFill>
                      <a:srgbClr val="002E6E"/>
                    </a:solidFill>
                  </a:tcPr>
                </a:tc>
                <a:tc>
                  <a:txBody>
                    <a:bodyPr wrap="square"/>
                    <a:lstStyle/>
                    <a:p>
                      <a:r>
                        <a:rPr sz="1200" b="1" i="0">
                          <a:solidFill>
                            <a:srgbClr val="FFFFFF"/>
                          </a:solidFill>
                          <a:latin typeface="Calibri"/>
                        </a:rPr>
                        <a:t>Still to confirm</a:t>
                      </a:r>
                    </a:p>
                  </a:txBody>
                  <a:tcPr marL="54864" marR="54864" marT="27432" marB="27432">
                    <a:solidFill>
                      <a:srgbClr val="002E6E"/>
                    </a:solidFill>
                  </a:tcPr>
                </a:tc>
                <a:tc>
                  <a:txBody>
                    <a:bodyPr wrap="square"/>
                    <a:lstStyle/>
                    <a:p>
                      <a:r>
                        <a:rPr sz="1200" b="1" i="0">
                          <a:solidFill>
                            <a:srgbClr val="FFFFFF"/>
                          </a:solidFill>
                          <a:latin typeface="Calibri"/>
                        </a:rPr>
                        <a:t>Owner</a:t>
                      </a:r>
                    </a:p>
                  </a:txBody>
                  <a:tcPr marL="54864" marR="54864" marT="27432" marB="27432">
                    <a:solidFill>
                      <a:srgbClr val="002E6E"/>
                    </a:solidFill>
                  </a:tcPr>
                </a:tc>
                <a:tc>
                  <a:txBody>
                    <a:bodyPr wrap="square"/>
                    <a:lstStyle/>
                    <a:p>
                      <a:r>
                        <a:rPr sz="1200" b="1" i="0">
                          <a:solidFill>
                            <a:srgbClr val="FFFFFF"/>
                          </a:solidFill>
                          <a:latin typeface="Calibri"/>
                        </a:rPr>
                        <a:t>Effort</a:t>
                      </a:r>
                    </a:p>
                  </a:txBody>
                  <a:tcPr marL="54864" marR="54864" marT="27432" marB="27432">
                    <a:solidFill>
                      <a:srgbClr val="002E6E"/>
                    </a:solidFill>
                  </a:tcPr>
                </a:tc>
              </a:tr>
              <a:tr h="356616">
                <a:tc>
                  <a:txBody>
                    <a:bodyPr wrap="square"/>
                    <a:lstStyle/>
                    <a:p>
                      <a:r>
                        <a:rPr sz="1200" b="1" i="0">
                          <a:solidFill>
                            <a:srgbClr val="1B2733"/>
                          </a:solidFill>
                          <a:latin typeface="Calibri"/>
                        </a:rPr>
                        <a:t>Early release of collections</a:t>
                      </a:r>
                    </a:p>
                  </a:txBody>
                  <a:tcPr marL="54864" marR="54864" marT="27432" marB="27432">
                    <a:solidFill>
                      <a:srgbClr val="FFFFFF"/>
                    </a:solidFill>
                  </a:tcPr>
                </a:tc>
                <a:tc>
                  <a:txBody>
                    <a:bodyPr wrap="square"/>
                    <a:lstStyle/>
                    <a:p>
                      <a:r>
                        <a:rPr sz="1200" b="0" i="0">
                          <a:solidFill>
                            <a:srgbClr val="1B2733"/>
                          </a:solidFill>
                          <a:latin typeface="Calibri"/>
                        </a:rPr>
                        <a:t>Credit speed per bank; daily limits; merchant-agreement update</a:t>
                      </a:r>
                    </a:p>
                  </a:txBody>
                  <a:tcPr marL="54864" marR="54864" marT="27432" marB="27432">
                    <a:solidFill>
                      <a:srgbClr val="FFFFFF"/>
                    </a:solidFill>
                  </a:tcPr>
                </a:tc>
                <a:tc>
                  <a:txBody>
                    <a:bodyPr wrap="square"/>
                    <a:lstStyle/>
                    <a:p>
                      <a:r>
                        <a:rPr sz="1200" b="0" i="0">
                          <a:solidFill>
                            <a:srgbClr val="1B2733"/>
                          </a:solidFill>
                          <a:latin typeface="Calibri"/>
                        </a:rPr>
                        <a:t>Settlement, treasury</a:t>
                      </a:r>
                    </a:p>
                  </a:txBody>
                  <a:tcPr marL="54864" marR="54864" marT="27432" marB="27432">
                    <a:solidFill>
                      <a:srgbClr val="FFFFFF"/>
                    </a:solidFill>
                  </a:tcPr>
                </a:tc>
                <a:tc>
                  <a:txBody>
                    <a:bodyPr wrap="square"/>
                    <a:lstStyle/>
                    <a:p>
                      <a:r>
                        <a:rPr sz="1200" b="0" i="0">
                          <a:solidFill>
                            <a:srgbClr val="1B2733"/>
                          </a:solidFill>
                          <a:latin typeface="Calibri"/>
                        </a:rPr>
                        <a:t>S</a:t>
                      </a:r>
                    </a:p>
                  </a:txBody>
                  <a:tcPr marL="54864" marR="54864" marT="27432" marB="27432">
                    <a:solidFill>
                      <a:srgbClr val="FFFFFF"/>
                    </a:solidFill>
                  </a:tcPr>
                </a:tc>
              </a:tr>
              <a:tr h="356616">
                <a:tc>
                  <a:txBody>
                    <a:bodyPr wrap="square"/>
                    <a:lstStyle/>
                    <a:p>
                      <a:r>
                        <a:rPr sz="1200" b="1" i="0">
                          <a:solidFill>
                            <a:srgbClr val="1B2733"/>
                          </a:solidFill>
                          <a:latin typeface="Calibri"/>
                        </a:rPr>
                        <a:t>Early release vs credit</a:t>
                      </a:r>
                    </a:p>
                  </a:txBody>
                  <a:tcPr marL="54864" marR="54864" marT="27432" marB="27432">
                    <a:solidFill>
                      <a:srgbClr val="EEF5FC"/>
                    </a:solidFill>
                  </a:tcPr>
                </a:tc>
                <a:tc>
                  <a:txBody>
                    <a:bodyPr wrap="square"/>
                    <a:lstStyle/>
                    <a:p>
                      <a:r>
                        <a:rPr sz="1200" b="0" i="0">
                          <a:solidFill>
                            <a:srgbClr val="1B2733"/>
                          </a:solidFill>
                          <a:latin typeface="Calibri"/>
                        </a:rPr>
                        <a:t>Formal compliance view; is any pre-funding ever needed?</a:t>
                      </a:r>
                    </a:p>
                  </a:txBody>
                  <a:tcPr marL="54864" marR="54864" marT="27432" marB="27432">
                    <a:solidFill>
                      <a:srgbClr val="EEF5FC"/>
                    </a:solidFill>
                  </a:tcPr>
                </a:tc>
                <a:tc>
                  <a:txBody>
                    <a:bodyPr wrap="square"/>
                    <a:lstStyle/>
                    <a:p>
                      <a:r>
                        <a:rPr sz="1200" b="0" i="0">
                          <a:solidFill>
                            <a:srgbClr val="1B2733"/>
                          </a:solidFill>
                          <a:latin typeface="Calibri"/>
                        </a:rPr>
                        <a:t>Compliance, legal</a:t>
                      </a:r>
                    </a:p>
                  </a:txBody>
                  <a:tcPr marL="54864" marR="54864" marT="27432" marB="27432">
                    <a:solidFill>
                      <a:srgbClr val="EEF5FC"/>
                    </a:solidFill>
                  </a:tcPr>
                </a:tc>
                <a:tc>
                  <a:txBody>
                    <a:bodyPr wrap="square"/>
                    <a:lstStyle/>
                    <a:p>
                      <a:r>
                        <a:rPr sz="1200" b="0" i="0">
                          <a:solidFill>
                            <a:srgbClr val="1B2733"/>
                          </a:solidFill>
                          <a:latin typeface="Calibri"/>
                        </a:rPr>
                        <a:t>—</a:t>
                      </a:r>
                    </a:p>
                  </a:txBody>
                  <a:tcPr marL="54864" marR="54864" marT="27432" marB="27432">
                    <a:solidFill>
                      <a:srgbClr val="EEF5FC"/>
                    </a:solidFill>
                  </a:tcPr>
                </a:tc>
              </a:tr>
              <a:tr h="356616">
                <a:tc>
                  <a:txBody>
                    <a:bodyPr wrap="square"/>
                    <a:lstStyle/>
                    <a:p>
                      <a:r>
                        <a:rPr sz="1200" b="1" i="0">
                          <a:solidFill>
                            <a:srgbClr val="1B2733"/>
                          </a:solidFill>
                          <a:latin typeface="Calibri"/>
                        </a:rPr>
                        <a:t>Free settlement for supplier payments</a:t>
                      </a:r>
                    </a:p>
                  </a:txBody>
                  <a:tcPr marL="54864" marR="54864" marT="27432" marB="27432">
                    <a:solidFill>
                      <a:srgbClr val="FFFFFF"/>
                    </a:solidFill>
                  </a:tcPr>
                </a:tc>
                <a:tc>
                  <a:txBody>
                    <a:bodyPr wrap="square"/>
                    <a:lstStyle/>
                    <a:p>
                      <a:r>
                        <a:rPr sz="1200" b="0" i="0">
                          <a:solidFill>
                            <a:srgbClr val="1B2733"/>
                          </a:solidFill>
                          <a:latin typeface="Calibri"/>
                        </a:rPr>
                        <a:t>Is conditional free pricing acceptable? Cost at scale</a:t>
                      </a:r>
                    </a:p>
                  </a:txBody>
                  <a:tcPr marL="54864" marR="54864" marT="27432" marB="27432">
                    <a:solidFill>
                      <a:srgbClr val="FFFFFF"/>
                    </a:solidFill>
                  </a:tcPr>
                </a:tc>
                <a:tc>
                  <a:txBody>
                    <a:bodyPr wrap="square"/>
                    <a:lstStyle/>
                    <a:p>
                      <a:r>
                        <a:rPr sz="1200" b="0" i="0">
                          <a:solidFill>
                            <a:srgbClr val="1B2733"/>
                          </a:solidFill>
                          <a:latin typeface="Calibri"/>
                        </a:rPr>
                        <a:t>Compliance, pricing</a:t>
                      </a:r>
                    </a:p>
                  </a:txBody>
                  <a:tcPr marL="54864" marR="54864" marT="27432" marB="27432">
                    <a:solidFill>
                      <a:srgbClr val="FFFFFF"/>
                    </a:solidFill>
                  </a:tcPr>
                </a:tc>
                <a:tc>
                  <a:txBody>
                    <a:bodyPr wrap="square"/>
                    <a:lstStyle/>
                    <a:p>
                      <a:r>
                        <a:rPr sz="1200" b="0" i="0">
                          <a:solidFill>
                            <a:srgbClr val="1B2733"/>
                          </a:solidFill>
                          <a:latin typeface="Calibri"/>
                        </a:rPr>
                        <a:t>S</a:t>
                      </a:r>
                    </a:p>
                  </a:txBody>
                  <a:tcPr marL="54864" marR="54864" marT="27432" marB="27432">
                    <a:solidFill>
                      <a:srgbClr val="FFFFFF"/>
                    </a:solidFill>
                  </a:tcPr>
                </a:tc>
              </a:tr>
              <a:tr h="356616">
                <a:tc>
                  <a:txBody>
                    <a:bodyPr wrap="square"/>
                    <a:lstStyle/>
                    <a:p>
                      <a:r>
                        <a:rPr sz="1200" b="1" i="0">
                          <a:solidFill>
                            <a:srgbClr val="1B2733"/>
                          </a:solidFill>
                          <a:latin typeface="Calibri"/>
                        </a:rPr>
                        <a:t>One authorisation</a:t>
                      </a:r>
                    </a:p>
                  </a:txBody>
                  <a:tcPr marL="54864" marR="54864" marT="27432" marB="27432">
                    <a:solidFill>
                      <a:srgbClr val="EEF5FC"/>
                    </a:solidFill>
                  </a:tcPr>
                </a:tc>
                <a:tc>
                  <a:txBody>
                    <a:bodyPr wrap="square"/>
                    <a:lstStyle/>
                    <a:p>
                      <a:r>
                        <a:rPr sz="1200" b="0" i="0">
                          <a:solidFill>
                            <a:srgbClr val="1B2733"/>
                          </a:solidFill>
                          <a:latin typeface="Calibri"/>
                        </a:rPr>
                        <a:t>Settlement-to-credit time by bank; the waiting experience</a:t>
                      </a:r>
                    </a:p>
                  </a:txBody>
                  <a:tcPr marL="54864" marR="54864" marT="27432" marB="27432">
                    <a:solidFill>
                      <a:srgbClr val="EEF5FC"/>
                    </a:solidFill>
                  </a:tcPr>
                </a:tc>
                <a:tc>
                  <a:txBody>
                    <a:bodyPr wrap="square"/>
                    <a:lstStyle/>
                    <a:p>
                      <a:r>
                        <a:rPr sz="1200" b="0" i="0">
                          <a:solidFill>
                            <a:srgbClr val="1B2733"/>
                          </a:solidFill>
                          <a:latin typeface="Calibri"/>
                        </a:rPr>
                        <a:t>Payments eng.</a:t>
                      </a:r>
                    </a:p>
                  </a:txBody>
                  <a:tcPr marL="54864" marR="54864" marT="27432" marB="27432">
                    <a:solidFill>
                      <a:srgbClr val="EEF5FC"/>
                    </a:solidFill>
                  </a:tcPr>
                </a:tc>
                <a:tc>
                  <a:txBody>
                    <a:bodyPr wrap="square"/>
                    <a:lstStyle/>
                    <a:p>
                      <a:r>
                        <a:rPr sz="1200" b="0" i="0">
                          <a:solidFill>
                            <a:srgbClr val="1B2733"/>
                          </a:solidFill>
                          <a:latin typeface="Calibri"/>
                        </a:rPr>
                        <a:t>M</a:t>
                      </a:r>
                    </a:p>
                  </a:txBody>
                  <a:tcPr marL="54864" marR="54864" marT="27432" marB="27432">
                    <a:solidFill>
                      <a:srgbClr val="EEF5FC"/>
                    </a:solidFill>
                  </a:tcPr>
                </a:tc>
              </a:tr>
              <a:tr h="356616">
                <a:tc>
                  <a:txBody>
                    <a:bodyPr wrap="square"/>
                    <a:lstStyle/>
                    <a:p>
                      <a:r>
                        <a:rPr sz="1200" b="1" i="0">
                          <a:solidFill>
                            <a:srgbClr val="1B2733"/>
                          </a:solidFill>
                          <a:latin typeface="Calibri"/>
                        </a:rPr>
                        <a:t>Payer flow in Paytm for Business</a:t>
                      </a:r>
                    </a:p>
                  </a:txBody>
                  <a:tcPr marL="54864" marR="54864" marT="27432" marB="27432">
                    <a:solidFill>
                      <a:srgbClr val="FFFFFF"/>
                    </a:solidFill>
                  </a:tcPr>
                </a:tc>
                <a:tc>
                  <a:txBody>
                    <a:bodyPr wrap="square"/>
                    <a:lstStyle/>
                    <a:p>
                      <a:r>
                        <a:rPr sz="1200" b="0" i="0">
                          <a:solidFill>
                            <a:srgbClr val="1B2733"/>
                          </a:solidFill>
                          <a:latin typeface="Calibri"/>
                        </a:rPr>
                        <a:t>Build in-app, or keep the hand-off to Paytm UPI</a:t>
                      </a:r>
                    </a:p>
                  </a:txBody>
                  <a:tcPr marL="54864" marR="54864" marT="27432" marB="27432">
                    <a:solidFill>
                      <a:srgbClr val="FFFFFF"/>
                    </a:solidFill>
                  </a:tcPr>
                </a:tc>
                <a:tc>
                  <a:txBody>
                    <a:bodyPr wrap="square"/>
                    <a:lstStyle/>
                    <a:p>
                      <a:r>
                        <a:rPr sz="1200" b="0" i="0">
                          <a:solidFill>
                            <a:srgbClr val="1B2733"/>
                          </a:solidFill>
                          <a:latin typeface="Calibri"/>
                        </a:rPr>
                        <a:t>Engineering, banks</a:t>
                      </a:r>
                    </a:p>
                  </a:txBody>
                  <a:tcPr marL="54864" marR="54864" marT="27432" marB="27432">
                    <a:solidFill>
                      <a:srgbClr val="FFFFFF"/>
                    </a:solidFill>
                  </a:tcPr>
                </a:tc>
                <a:tc>
                  <a:txBody>
                    <a:bodyPr wrap="square"/>
                    <a:lstStyle/>
                    <a:p>
                      <a:r>
                        <a:rPr sz="1200" b="0" i="0">
                          <a:solidFill>
                            <a:srgbClr val="1B2733"/>
                          </a:solidFill>
                          <a:latin typeface="Calibri"/>
                        </a:rPr>
                        <a:t>S / M–L</a:t>
                      </a:r>
                    </a:p>
                  </a:txBody>
                  <a:tcPr marL="54864" marR="54864" marT="27432" marB="27432">
                    <a:solidFill>
                      <a:srgbClr val="FFFFFF"/>
                    </a:solidFill>
                  </a:tcPr>
                </a:tc>
              </a:tr>
              <a:tr h="356616">
                <a:tc>
                  <a:txBody>
                    <a:bodyPr wrap="square"/>
                    <a:lstStyle/>
                    <a:p>
                      <a:r>
                        <a:rPr sz="1200" b="1" i="0">
                          <a:solidFill>
                            <a:srgbClr val="1B2733"/>
                          </a:solidFill>
                          <a:latin typeface="Calibri"/>
                        </a:rPr>
                        <a:t>Instant settlement for all device merchants</a:t>
                      </a:r>
                    </a:p>
                  </a:txBody>
                  <a:tcPr marL="54864" marR="54864" marT="27432" marB="27432">
                    <a:solidFill>
                      <a:srgbClr val="EEF5FC"/>
                    </a:solidFill>
                  </a:tcPr>
                </a:tc>
                <a:tc>
                  <a:txBody>
                    <a:bodyPr wrap="square"/>
                    <a:lstStyle/>
                    <a:p>
                      <a:r>
                        <a:rPr sz="1200" b="0" i="0">
                          <a:solidFill>
                            <a:srgbClr val="1B2733"/>
                          </a:solidFill>
                          <a:latin typeface="Calibri"/>
                        </a:rPr>
                        <a:t>Live for every eligible merchant today? (Phase 0)</a:t>
                      </a:r>
                    </a:p>
                  </a:txBody>
                  <a:tcPr marL="54864" marR="54864" marT="27432" marB="27432">
                    <a:solidFill>
                      <a:srgbClr val="EEF5FC"/>
                    </a:solidFill>
                  </a:tcPr>
                </a:tc>
                <a:tc>
                  <a:txBody>
                    <a:bodyPr wrap="square"/>
                    <a:lstStyle/>
                    <a:p>
                      <a:r>
                        <a:rPr sz="1200" b="0" i="0">
                          <a:solidFill>
                            <a:srgbClr val="1B2733"/>
                          </a:solidFill>
                          <a:latin typeface="Calibri"/>
                        </a:rPr>
                        <a:t>Merchant product</a:t>
                      </a:r>
                    </a:p>
                  </a:txBody>
                  <a:tcPr marL="54864" marR="54864" marT="27432" marB="27432">
                    <a:solidFill>
                      <a:srgbClr val="EEF5FC"/>
                    </a:solidFill>
                  </a:tcPr>
                </a:tc>
                <a:tc>
                  <a:txBody>
                    <a:bodyPr wrap="square"/>
                    <a:lstStyle/>
                    <a:p>
                      <a:r>
                        <a:rPr sz="1200" b="0" i="0">
                          <a:solidFill>
                            <a:srgbClr val="1B2733"/>
                          </a:solidFill>
                          <a:latin typeface="Calibri"/>
                        </a:rPr>
                        <a:t>S</a:t>
                      </a:r>
                    </a:p>
                  </a:txBody>
                  <a:tcPr marL="54864" marR="54864" marT="27432" marB="27432">
                    <a:solidFill>
                      <a:srgbClr val="EEF5FC"/>
                    </a:solidFill>
                  </a:tcPr>
                </a:tc>
              </a:tr>
              <a:tr h="356616">
                <a:tc>
                  <a:txBody>
                    <a:bodyPr wrap="square"/>
                    <a:lstStyle/>
                    <a:p>
                      <a:r>
                        <a:rPr sz="1200" b="1" i="0">
                          <a:solidFill>
                            <a:srgbClr val="1B2733"/>
                          </a:solidFill>
                          <a:latin typeface="Calibri"/>
                        </a:rPr>
                        <a:t>Staff access (arm B)</a:t>
                      </a:r>
                    </a:p>
                  </a:txBody>
                  <a:tcPr marL="54864" marR="54864" marT="27432" marB="27432">
                    <a:solidFill>
                      <a:srgbClr val="FFFFFF"/>
                    </a:solidFill>
                  </a:tcPr>
                </a:tc>
                <a:tc>
                  <a:txBody>
                    <a:bodyPr wrap="square"/>
                    <a:lstStyle/>
                    <a:p>
                      <a:r>
                        <a:rPr sz="1200" b="0" i="0">
                          <a:solidFill>
                            <a:srgbClr val="1B2733"/>
                          </a:solidFill>
                          <a:latin typeface="Calibri"/>
                        </a:rPr>
                        <a:t>Do UPI delegated-payment limits fit vendor payments?</a:t>
                      </a:r>
                    </a:p>
                  </a:txBody>
                  <a:tcPr marL="54864" marR="54864" marT="27432" marB="27432">
                    <a:solidFill>
                      <a:srgbClr val="FFFFFF"/>
                    </a:solidFill>
                  </a:tcPr>
                </a:tc>
                <a:tc>
                  <a:txBody>
                    <a:bodyPr wrap="square"/>
                    <a:lstStyle/>
                    <a:p>
                      <a:r>
                        <a:rPr sz="1200" b="0" i="0">
                          <a:solidFill>
                            <a:srgbClr val="1B2733"/>
                          </a:solidFill>
                          <a:latin typeface="Calibri"/>
                        </a:rPr>
                        <a:t>Product, NPCI rules</a:t>
                      </a:r>
                    </a:p>
                  </a:txBody>
                  <a:tcPr marL="54864" marR="54864" marT="27432" marB="27432">
                    <a:solidFill>
                      <a:srgbClr val="FFFFFF"/>
                    </a:solidFill>
                  </a:tcPr>
                </a:tc>
                <a:tc>
                  <a:txBody>
                    <a:bodyPr wrap="square"/>
                    <a:lstStyle/>
                    <a:p>
                      <a:r>
                        <a:rPr sz="1200" b="0" i="0">
                          <a:solidFill>
                            <a:srgbClr val="1B2733"/>
                          </a:solidFill>
                          <a:latin typeface="Calibri"/>
                        </a:rPr>
                        <a:t>M</a:t>
                      </a:r>
                    </a:p>
                  </a:txBody>
                  <a:tcPr marL="54864" marR="54864" marT="27432" marB="27432">
                    <a:solidFill>
                      <a:srgbClr val="FFFFFF"/>
                    </a:solidFill>
                  </a:tcPr>
                </a:tc>
              </a:tr>
            </a:tbl>
          </a:graphicData>
        </a:graphic>
      </p:graphicFrame>
      <p:graphicFrame>
        <p:nvGraphicFramePr>
          <p:cNvPr id="8" name="a6_risks"/>
          <p:cNvGraphicFramePr>
            <a:graphicFrameLocks noGrp="1"/>
          </p:cNvGraphicFramePr>
          <p:nvPr/>
        </p:nvGraphicFramePr>
        <p:xfrm>
          <a:off x="548640" y="4709160"/>
          <a:ext cx="11091672" cy="1316736"/>
        </p:xfrm>
        <a:graphic>
          <a:graphicData uri="http://schemas.openxmlformats.org/drawingml/2006/table">
            <a:tbl>
              <a:tblPr firstRow="1">
                <a:tableStyleId>{5C22544A-7EE6-4342-B048-85BDC9FD1C3A}</a:tableStyleId>
              </a:tblPr>
              <a:tblGrid>
                <a:gridCol w="3200400"/>
                <a:gridCol w="7891272"/>
              </a:tblGrid>
              <a:tr h="329184">
                <a:tc>
                  <a:txBody>
                    <a:bodyPr wrap="square"/>
                    <a:lstStyle/>
                    <a:p>
                      <a:r>
                        <a:rPr sz="1200" b="1" i="0">
                          <a:solidFill>
                            <a:srgbClr val="FFFFFF"/>
                          </a:solidFill>
                          <a:latin typeface="Calibri"/>
                        </a:rPr>
                        <a:t>Risk</a:t>
                      </a:r>
                    </a:p>
                  </a:txBody>
                  <a:tcPr marL="54864" marR="54864" marT="27432" marB="27432">
                    <a:solidFill>
                      <a:srgbClr val="002E6E"/>
                    </a:solidFill>
                  </a:tcPr>
                </a:tc>
                <a:tc>
                  <a:txBody>
                    <a:bodyPr wrap="square"/>
                    <a:lstStyle/>
                    <a:p>
                      <a:r>
                        <a:rPr sz="1200" b="1" i="0">
                          <a:solidFill>
                            <a:srgbClr val="FFFFFF"/>
                          </a:solidFill>
                          <a:latin typeface="Calibri"/>
                        </a:rPr>
                        <a:t>Mitigation</a:t>
                      </a:r>
                    </a:p>
                  </a:txBody>
                  <a:tcPr marL="54864" marR="54864" marT="27432" marB="27432">
                    <a:solidFill>
                      <a:srgbClr val="002E6E"/>
                    </a:solidFill>
                  </a:tcPr>
                </a:tc>
              </a:tr>
              <a:tr h="329184">
                <a:tc>
                  <a:txBody>
                    <a:bodyPr wrap="square"/>
                    <a:lstStyle/>
                    <a:p>
                      <a:r>
                        <a:rPr sz="1200" b="1" i="0">
                          <a:solidFill>
                            <a:srgbClr val="1B2733"/>
                          </a:solidFill>
                          <a:latin typeface="Calibri"/>
                        </a:rPr>
                        <a:t>Segment smaller than the proxy</a:t>
                      </a:r>
                    </a:p>
                  </a:txBody>
                  <a:tcPr marL="54864" marR="54864" marT="27432" marB="27432">
                    <a:solidFill>
                      <a:srgbClr val="FFFFFF"/>
                    </a:solidFill>
                  </a:tcPr>
                </a:tc>
                <a:tc>
                  <a:txBody>
                    <a:bodyPr wrap="square"/>
                    <a:lstStyle/>
                    <a:p>
                      <a:r>
                        <a:rPr sz="1200" b="0" i="0">
                          <a:solidFill>
                            <a:srgbClr val="1B2733"/>
                          </a:solidFill>
                          <a:latin typeface="Calibri"/>
                        </a:rPr>
                        <a:t>Size it from settlement data in days 0–14; shrink the target; lead with staff access</a:t>
                      </a:r>
                    </a:p>
                  </a:txBody>
                  <a:tcPr marL="54864" marR="54864" marT="27432" marB="27432">
                    <a:solidFill>
                      <a:srgbClr val="FFFFFF"/>
                    </a:solidFill>
                  </a:tcPr>
                </a:tc>
              </a:tr>
              <a:tr h="329184">
                <a:tc>
                  <a:txBody>
                    <a:bodyPr wrap="square"/>
                    <a:lstStyle/>
                    <a:p>
                      <a:r>
                        <a:rPr sz="1200" b="1" i="0">
                          <a:solidFill>
                            <a:srgbClr val="1B2733"/>
                          </a:solidFill>
                          <a:latin typeface="Calibri"/>
                        </a:rPr>
                        <a:t>Habit wins even without the step</a:t>
                      </a:r>
                    </a:p>
                  </a:txBody>
                  <a:tcPr marL="54864" marR="54864" marT="27432" marB="27432">
                    <a:solidFill>
                      <a:srgbClr val="EEF5FC"/>
                    </a:solidFill>
                  </a:tcPr>
                </a:tc>
                <a:tc>
                  <a:txBody>
                    <a:bodyPr wrap="square"/>
                    <a:lstStyle/>
                    <a:p>
                      <a:r>
                        <a:rPr sz="1200" b="0" i="0">
                          <a:solidFill>
                            <a:srgbClr val="1B2733"/>
                          </a:solidFill>
                          <a:latin typeface="Calibri"/>
                        </a:rPr>
                        <a:t>Morning prompt; habit-guard metric; 'revise' gate below 15%</a:t>
                      </a:r>
                    </a:p>
                  </a:txBody>
                  <a:tcPr marL="54864" marR="54864" marT="27432" marB="27432">
                    <a:solidFill>
                      <a:srgbClr val="EEF5FC"/>
                    </a:solidFill>
                  </a:tcPr>
                </a:tc>
              </a:tr>
              <a:tr h="329184">
                <a:tc>
                  <a:txBody>
                    <a:bodyPr wrap="square"/>
                    <a:lstStyle/>
                    <a:p>
                      <a:r>
                        <a:rPr sz="1200" b="1" i="0">
                          <a:solidFill>
                            <a:srgbClr val="1B2733"/>
                          </a:solidFill>
                          <a:latin typeface="Calibri"/>
                        </a:rPr>
                        <a:t>PhonePe responds</a:t>
                      </a:r>
                    </a:p>
                  </a:txBody>
                  <a:tcPr marL="54864" marR="54864" marT="27432" marB="27432">
                    <a:solidFill>
                      <a:srgbClr val="FFFFFF"/>
                    </a:solidFill>
                  </a:tcPr>
                </a:tc>
                <a:tc>
                  <a:txBody>
                    <a:bodyPr wrap="square"/>
                    <a:lstStyle/>
                    <a:p>
                      <a:r>
                        <a:rPr sz="1200" b="0" i="0">
                          <a:solidFill>
                            <a:srgbClr val="1B2733"/>
                          </a:solidFill>
                          <a:latin typeface="Calibri"/>
                        </a:rPr>
                        <a:t>Only for its own merchants; move first and lock in the habit</a:t>
                      </a:r>
                    </a:p>
                  </a:txBody>
                  <a:tcPr marL="54864" marR="54864" marT="27432" marB="27432">
                    <a:solidFill>
                      <a:srgbClr val="FFFFFF"/>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ANNEXURE A7</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400" b="1" i="0">
                <a:solidFill>
                  <a:srgbClr val="002E6E"/>
                </a:solidFill>
                <a:latin typeface="Calibri"/>
              </a:rPr>
              <a:t>What changed from Round 1 to Round 2, and why</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Round 1 column verified against Paytitude_ExecSummary.pdf (25 Sep 2026). Same track (B) and the same merchant base.</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A7</a:t>
            </a:r>
          </a:p>
        </p:txBody>
      </p:sp>
      <p:graphicFrame>
        <p:nvGraphicFramePr>
          <p:cNvPr id="7" name="a7_changes"/>
          <p:cNvGraphicFramePr>
            <a:graphicFrameLocks noGrp="1"/>
          </p:cNvGraphicFramePr>
          <p:nvPr/>
        </p:nvGraphicFramePr>
        <p:xfrm>
          <a:off x="548640" y="1691640"/>
          <a:ext cx="11091672" cy="3986784"/>
        </p:xfrm>
        <a:graphic>
          <a:graphicData uri="http://schemas.openxmlformats.org/drawingml/2006/table">
            <a:tbl>
              <a:tblPr firstRow="1">
                <a:tableStyleId>{5C22544A-7EE6-4342-B048-85BDC9FD1C3A}</a:tableStyleId>
              </a:tblPr>
              <a:tblGrid>
                <a:gridCol w="1463040"/>
                <a:gridCol w="3337560"/>
                <a:gridCol w="3429000"/>
                <a:gridCol w="2862072"/>
              </a:tblGrid>
              <a:tr h="329184">
                <a:tc>
                  <a:txBody>
                    <a:bodyPr wrap="square"/>
                    <a:lstStyle/>
                    <a:p>
                      <a:r>
                        <a:rPr sz="1200" b="1" i="0">
                          <a:solidFill>
                            <a:srgbClr val="FFFFFF"/>
                          </a:solidFill>
                          <a:latin typeface="Calibri"/>
                        </a:rPr>
                        <a:t>Area</a:t>
                      </a:r>
                    </a:p>
                  </a:txBody>
                  <a:tcPr marL="54864" marR="54864" marT="27432" marB="27432">
                    <a:solidFill>
                      <a:srgbClr val="002E6E"/>
                    </a:solidFill>
                  </a:tcPr>
                </a:tc>
                <a:tc>
                  <a:txBody>
                    <a:bodyPr wrap="square"/>
                    <a:lstStyle/>
                    <a:p>
                      <a:r>
                        <a:rPr sz="1200" b="1" i="0">
                          <a:solidFill>
                            <a:srgbClr val="FFFFFF"/>
                          </a:solidFill>
                          <a:latin typeface="Calibri"/>
                        </a:rPr>
                        <a:t>Round 1 (Paytitude_ExecSummary.pdf)</a:t>
                      </a:r>
                    </a:p>
                  </a:txBody>
                  <a:tcPr marL="54864" marR="54864" marT="27432" marB="27432">
                    <a:solidFill>
                      <a:srgbClr val="002E6E"/>
                    </a:solidFill>
                  </a:tcPr>
                </a:tc>
                <a:tc>
                  <a:txBody>
                    <a:bodyPr wrap="square"/>
                    <a:lstStyle/>
                    <a:p>
                      <a:r>
                        <a:rPr sz="1200" b="1" i="0">
                          <a:solidFill>
                            <a:srgbClr val="FFFFFF"/>
                          </a:solidFill>
                          <a:latin typeface="Calibri"/>
                        </a:rPr>
                        <a:t>Round 2</a:t>
                      </a:r>
                    </a:p>
                  </a:txBody>
                  <a:tcPr marL="54864" marR="54864" marT="27432" marB="27432">
                    <a:solidFill>
                      <a:srgbClr val="002E6E"/>
                    </a:solidFill>
                  </a:tcPr>
                </a:tc>
                <a:tc>
                  <a:txBody>
                    <a:bodyPr wrap="square"/>
                    <a:lstStyle/>
                    <a:p>
                      <a:r>
                        <a:rPr sz="1200" b="1" i="0">
                          <a:solidFill>
                            <a:srgbClr val="FFFFFF"/>
                          </a:solidFill>
                          <a:latin typeface="Calibri"/>
                        </a:rPr>
                        <a:t>Why</a:t>
                      </a:r>
                    </a:p>
                  </a:txBody>
                  <a:tcPr marL="54864" marR="54864" marT="27432" marB="27432">
                    <a:solidFill>
                      <a:srgbClr val="002E6E"/>
                    </a:solidFill>
                  </a:tcPr>
                </a:tc>
              </a:tr>
              <a:tr h="457200">
                <a:tc>
                  <a:txBody>
                    <a:bodyPr wrap="square"/>
                    <a:lstStyle/>
                    <a:p>
                      <a:r>
                        <a:rPr sz="1200" b="1" i="0">
                          <a:solidFill>
                            <a:srgbClr val="1B2733"/>
                          </a:solidFill>
                          <a:latin typeface="Calibri"/>
                        </a:rPr>
                        <a:t>Problem framing</a:t>
                      </a:r>
                    </a:p>
                  </a:txBody>
                  <a:tcPr marL="54864" marR="54864" marT="27432" marB="27432">
                    <a:solidFill>
                      <a:srgbClr val="FFFFFF"/>
                    </a:solidFill>
                  </a:tcPr>
                </a:tc>
                <a:tc>
                  <a:txBody>
                    <a:bodyPr wrap="square"/>
                    <a:lstStyle/>
                    <a:p>
                      <a:r>
                        <a:rPr sz="1200" b="0" i="0">
                          <a:solidFill>
                            <a:srgbClr val="1B2733"/>
                          </a:solidFill>
                          <a:latin typeface="Calibri"/>
                        </a:rPr>
                        <a:t>'Owns the counter, not the payout'; 0.4% MDR pushes payouts to NEFT and cash</a:t>
                      </a:r>
                    </a:p>
                  </a:txBody>
                  <a:tcPr marL="54864" marR="54864" marT="27432" marB="27432">
                    <a:solidFill>
                      <a:srgbClr val="FFFFFF"/>
                    </a:solidFill>
                  </a:tcPr>
                </a:tc>
                <a:tc>
                  <a:txBody>
                    <a:bodyPr wrap="square"/>
                    <a:lstStyle/>
                    <a:p>
                      <a:r>
                        <a:rPr sz="1200" b="0" i="0">
                          <a:solidFill>
                            <a:srgbClr val="1B2733"/>
                          </a:solidFill>
                          <a:latin typeface="Calibri"/>
                        </a:rPr>
                        <a:t>Owns money in, not money out; no MDR argument</a:t>
                      </a:r>
                    </a:p>
                  </a:txBody>
                  <a:tcPr marL="54864" marR="54864" marT="27432" marB="27432">
                    <a:solidFill>
                      <a:srgbClr val="FFFFFF"/>
                    </a:solidFill>
                  </a:tcPr>
                </a:tc>
                <a:tc>
                  <a:txBody>
                    <a:bodyPr wrap="square"/>
                    <a:lstStyle/>
                    <a:p>
                      <a:r>
                        <a:rPr sz="1200" b="0" i="0">
                          <a:solidFill>
                            <a:srgbClr val="1B2733"/>
                          </a:solidFill>
                          <a:latin typeface="Calibri"/>
                        </a:rPr>
                        <a:t>Fee isn't why merchants pick an app; MDR argument legally fragile</a:t>
                      </a:r>
                    </a:p>
                  </a:txBody>
                  <a:tcPr marL="54864" marR="54864" marT="27432" marB="27432">
                    <a:solidFill>
                      <a:srgbClr val="FFFFFF"/>
                    </a:solidFill>
                  </a:tcPr>
                </a:tc>
              </a:tr>
              <a:tr h="457200">
                <a:tc>
                  <a:txBody>
                    <a:bodyPr wrap="square"/>
                    <a:lstStyle/>
                    <a:p>
                      <a:r>
                        <a:rPr sz="1200" b="1" i="0">
                          <a:solidFill>
                            <a:srgbClr val="1B2733"/>
                          </a:solidFill>
                          <a:latin typeface="Calibri"/>
                        </a:rPr>
                        <a:t>Segment</a:t>
                      </a:r>
                    </a:p>
                  </a:txBody>
                  <a:tcPr marL="54864" marR="54864" marT="27432" marB="27432">
                    <a:solidFill>
                      <a:srgbClr val="EEF5FC"/>
                    </a:solidFill>
                  </a:tcPr>
                </a:tc>
                <a:tc>
                  <a:txBody>
                    <a:bodyPr wrap="square"/>
                    <a:lstStyle/>
                    <a:p>
                      <a:r>
                        <a:rPr sz="1200" b="0" i="0">
                          <a:solidFill>
                            <a:srgbClr val="1B2733"/>
                          </a:solidFill>
                          <a:latin typeface="Calibri"/>
                        </a:rPr>
                        <a:t>Paytm QR / Soundbox merchants, &gt;₹1 lakh a month UPI (≈24 lakh), Andheri</a:t>
                      </a:r>
                    </a:p>
                  </a:txBody>
                  <a:tcPr marL="54864" marR="54864" marT="27432" marB="27432">
                    <a:solidFill>
                      <a:srgbClr val="EEF5FC"/>
                    </a:solidFill>
                  </a:tcPr>
                </a:tc>
                <a:tc>
                  <a:txBody>
                    <a:bodyPr wrap="square"/>
                    <a:lstStyle/>
                    <a:p>
                      <a:r>
                        <a:rPr sz="1200" b="0" i="0">
                          <a:solidFill>
                            <a:srgbClr val="1B2733"/>
                          </a:solidFill>
                          <a:latin typeface="Calibri"/>
                        </a:rPr>
                        <a:t>Same base, re-cut: settlement timing, weekly vendor UPI, stated friction</a:t>
                      </a:r>
                    </a:p>
                  </a:txBody>
                  <a:tcPr marL="54864" marR="54864" marT="27432" marB="27432">
                    <a:solidFill>
                      <a:srgbClr val="EEF5FC"/>
                    </a:solidFill>
                  </a:tcPr>
                </a:tc>
                <a:tc>
                  <a:txBody>
                    <a:bodyPr wrap="square"/>
                    <a:lstStyle/>
                    <a:p>
                      <a:r>
                        <a:rPr sz="1200" b="0" i="0">
                          <a:solidFill>
                            <a:srgbClr val="1B2733"/>
                          </a:solidFill>
                          <a:latin typeface="Calibri"/>
                        </a:rPr>
                        <a:t>Removing a step only matters where the step exists</a:t>
                      </a:r>
                    </a:p>
                  </a:txBody>
                  <a:tcPr marL="54864" marR="54864" marT="27432" marB="27432">
                    <a:solidFill>
                      <a:srgbClr val="EEF5FC"/>
                    </a:solidFill>
                  </a:tcPr>
                </a:tc>
              </a:tr>
              <a:tr h="457200">
                <a:tc>
                  <a:txBody>
                    <a:bodyPr wrap="square"/>
                    <a:lstStyle/>
                    <a:p>
                      <a:r>
                        <a:rPr sz="1200" b="1" i="0">
                          <a:solidFill>
                            <a:srgbClr val="1B2733"/>
                          </a:solidFill>
                          <a:latin typeface="Calibri"/>
                        </a:rPr>
                        <a:t>Solution</a:t>
                      </a:r>
                    </a:p>
                  </a:txBody>
                  <a:tcPr marL="54864" marR="54864" marT="27432" marB="27432">
                    <a:solidFill>
                      <a:srgbClr val="FFFFFF"/>
                    </a:solidFill>
                  </a:tcPr>
                </a:tc>
                <a:tc>
                  <a:txBody>
                    <a:bodyPr wrap="square"/>
                    <a:lstStyle/>
                    <a:p>
                      <a:r>
                        <a:rPr sz="1200" b="0" i="0">
                          <a:solidFill>
                            <a:srgbClr val="1B2733"/>
                          </a:solidFill>
                          <a:latin typeface="Calibri"/>
                        </a:rPr>
                        <a:t>Supplier Pay: settlement-account pay, invoice receipts, due-date credit, Supplier Khata</a:t>
                      </a:r>
                    </a:p>
                  </a:txBody>
                  <a:tcPr marL="54864" marR="54864" marT="27432" marB="27432">
                    <a:solidFill>
                      <a:srgbClr val="FFFFFF"/>
                    </a:solidFill>
                  </a:tcPr>
                </a:tc>
                <a:tc>
                  <a:txBody>
                    <a:bodyPr wrap="square"/>
                    <a:lstStyle/>
                    <a:p>
                      <a:r>
                        <a:rPr sz="1200" b="0" i="0">
                          <a:solidFill>
                            <a:srgbClr val="1B2733"/>
                          </a:solidFill>
                          <a:latin typeface="Calibri"/>
                        </a:rPr>
                        <a:t>Settle &amp; Pay: settle received collections to own account, pay by UPI</a:t>
                      </a:r>
                    </a:p>
                  </a:txBody>
                  <a:tcPr marL="54864" marR="54864" marT="27432" marB="27432">
                    <a:solidFill>
                      <a:srgbClr val="FFFFFF"/>
                    </a:solidFill>
                  </a:tcPr>
                </a:tc>
                <a:tc>
                  <a:txBody>
                    <a:bodyPr wrap="square"/>
                    <a:lstStyle/>
                    <a:p>
                      <a:r>
                        <a:rPr sz="1200" b="0" i="0">
                          <a:solidFill>
                            <a:srgbClr val="1B2733"/>
                          </a:solidFill>
                          <a:latin typeface="Calibri"/>
                        </a:rPr>
                        <a:t>Settlement plus payment in one flow is Paytm's edge</a:t>
                      </a:r>
                    </a:p>
                  </a:txBody>
                  <a:tcPr marL="54864" marR="54864" marT="27432" marB="27432">
                    <a:solidFill>
                      <a:srgbClr val="FFFFFF"/>
                    </a:solidFill>
                  </a:tcPr>
                </a:tc>
              </a:tr>
              <a:tr h="457200">
                <a:tc>
                  <a:txBody>
                    <a:bodyPr wrap="square"/>
                    <a:lstStyle/>
                    <a:p>
                      <a:r>
                        <a:rPr sz="1200" b="1" i="0">
                          <a:solidFill>
                            <a:srgbClr val="1B2733"/>
                          </a:solidFill>
                          <a:latin typeface="Calibri"/>
                        </a:rPr>
                        <a:t>Credit</a:t>
                      </a:r>
                    </a:p>
                  </a:txBody>
                  <a:tcPr marL="54864" marR="54864" marT="27432" marB="27432">
                    <a:solidFill>
                      <a:srgbClr val="EEF5FC"/>
                    </a:solidFill>
                  </a:tcPr>
                </a:tc>
                <a:tc>
                  <a:txBody>
                    <a:bodyPr wrap="square"/>
                    <a:lstStyle/>
                    <a:p>
                      <a:r>
                        <a:rPr sz="1200" b="0" i="0">
                          <a:solidFill>
                            <a:srgbClr val="1B2733"/>
                          </a:solidFill>
                          <a:latin typeface="Calibri"/>
                        </a:rPr>
                        <a:t>30-day partner-lender credit</a:t>
                      </a:r>
                    </a:p>
                  </a:txBody>
                  <a:tcPr marL="54864" marR="54864" marT="27432" marB="27432">
                    <a:solidFill>
                      <a:srgbClr val="EEF5FC"/>
                    </a:solidFill>
                  </a:tcPr>
                </a:tc>
                <a:tc>
                  <a:txBody>
                    <a:bodyPr wrap="square"/>
                    <a:lstStyle/>
                    <a:p>
                      <a:r>
                        <a:rPr sz="1200" b="0" i="0">
                          <a:solidFill>
                            <a:srgbClr val="1B2733"/>
                          </a:solidFill>
                          <a:latin typeface="Calibri"/>
                        </a:rPr>
                        <a:t>Dropped</a:t>
                      </a:r>
                    </a:p>
                  </a:txBody>
                  <a:tcPr marL="54864" marR="54864" marT="27432" marB="27432">
                    <a:solidFill>
                      <a:srgbClr val="EEF5FC"/>
                    </a:solidFill>
                  </a:tcPr>
                </a:tc>
                <a:tc>
                  <a:txBody>
                    <a:bodyPr wrap="square"/>
                    <a:lstStyle/>
                    <a:p>
                      <a:r>
                        <a:rPr sz="1200" b="0" i="0">
                          <a:solidFill>
                            <a:srgbClr val="1B2733"/>
                          </a:solidFill>
                          <a:latin typeface="Calibri"/>
                        </a:rPr>
                        <a:t>No credit need in the evidence; thin economics</a:t>
                      </a:r>
                    </a:p>
                  </a:txBody>
                  <a:tcPr marL="54864" marR="54864" marT="27432" marB="27432">
                    <a:solidFill>
                      <a:srgbClr val="EEF5FC"/>
                    </a:solidFill>
                  </a:tcPr>
                </a:tc>
              </a:tr>
              <a:tr h="457200">
                <a:tc>
                  <a:txBody>
                    <a:bodyPr wrap="square"/>
                    <a:lstStyle/>
                    <a:p>
                      <a:r>
                        <a:rPr sz="1200" b="1" i="0">
                          <a:solidFill>
                            <a:srgbClr val="1B2733"/>
                          </a:solidFill>
                          <a:latin typeface="Calibri"/>
                        </a:rPr>
                        <a:t>Ledger</a:t>
                      </a:r>
                    </a:p>
                  </a:txBody>
                  <a:tcPr marL="54864" marR="54864" marT="27432" marB="27432">
                    <a:solidFill>
                      <a:srgbClr val="FFFFFF"/>
                    </a:solidFill>
                  </a:tcPr>
                </a:tc>
                <a:tc>
                  <a:txBody>
                    <a:bodyPr wrap="square"/>
                    <a:lstStyle/>
                    <a:p>
                      <a:r>
                        <a:rPr sz="1200" b="0" i="0">
                          <a:solidFill>
                            <a:srgbClr val="1B2733"/>
                          </a:solidFill>
                          <a:latin typeface="Calibri"/>
                        </a:rPr>
                        <a:t>Supplier Khata; invoice-matched receipts</a:t>
                      </a:r>
                    </a:p>
                  </a:txBody>
                  <a:tcPr marL="54864" marR="54864" marT="27432" marB="27432">
                    <a:solidFill>
                      <a:srgbClr val="FFFFFF"/>
                    </a:solidFill>
                  </a:tcPr>
                </a:tc>
                <a:tc>
                  <a:txBody>
                    <a:bodyPr wrap="square"/>
                    <a:lstStyle/>
                    <a:p>
                      <a:r>
                        <a:rPr sz="1200" b="0" i="0">
                          <a:solidFill>
                            <a:srgbClr val="1B2733"/>
                          </a:solidFill>
                          <a:latin typeface="Calibri"/>
                        </a:rPr>
                        <a:t>Dropped from the MVP</a:t>
                      </a:r>
                    </a:p>
                  </a:txBody>
                  <a:tcPr marL="54864" marR="54864" marT="27432" marB="27432">
                    <a:solidFill>
                      <a:srgbClr val="FFFFFF"/>
                    </a:solidFill>
                  </a:tcPr>
                </a:tc>
                <a:tc>
                  <a:txBody>
                    <a:bodyPr wrap="square"/>
                    <a:lstStyle/>
                    <a:p>
                      <a:r>
                        <a:rPr sz="1200" b="0" i="0">
                          <a:solidFill>
                            <a:srgbClr val="1B2733"/>
                          </a:solidFill>
                          <a:latin typeface="Calibri"/>
                        </a:rPr>
                        <a:t>Billing software already owns this</a:t>
                      </a:r>
                    </a:p>
                  </a:txBody>
                  <a:tcPr marL="54864" marR="54864" marT="27432" marB="27432">
                    <a:solidFill>
                      <a:srgbClr val="FFFFFF"/>
                    </a:solidFill>
                  </a:tcPr>
                </a:tc>
              </a:tr>
              <a:tr h="457200">
                <a:tc>
                  <a:txBody>
                    <a:bodyPr wrap="square"/>
                    <a:lstStyle/>
                    <a:p>
                      <a:r>
                        <a:rPr sz="1200" b="1" i="0">
                          <a:solidFill>
                            <a:srgbClr val="1B2733"/>
                          </a:solidFill>
                          <a:latin typeface="Calibri"/>
                        </a:rPr>
                        <a:t>Impact</a:t>
                      </a:r>
                    </a:p>
                  </a:txBody>
                  <a:tcPr marL="54864" marR="54864" marT="27432" marB="27432">
                    <a:solidFill>
                      <a:srgbClr val="EEF5FC"/>
                    </a:solidFill>
                  </a:tcPr>
                </a:tc>
                <a:tc>
                  <a:txBody>
                    <a:bodyPr wrap="square"/>
                    <a:lstStyle/>
                    <a:p>
                      <a:r>
                        <a:rPr sz="1200" b="0" i="0">
                          <a:solidFill>
                            <a:srgbClr val="1B2733"/>
                          </a:solidFill>
                          <a:latin typeface="Calibri"/>
                        </a:rPr>
                        <a:t>≈₹27,000 crore a year; +1–2 lakh payers</a:t>
                      </a:r>
                    </a:p>
                  </a:txBody>
                  <a:tcPr marL="54864" marR="54864" marT="27432" marB="27432">
                    <a:solidFill>
                      <a:srgbClr val="EEF5FC"/>
                    </a:solidFill>
                  </a:tcPr>
                </a:tc>
                <a:tc>
                  <a:txBody>
                    <a:bodyPr wrap="square"/>
                    <a:lstStyle/>
                    <a:p>
                      <a:r>
                        <a:rPr sz="1200" b="0" i="0">
                          <a:solidFill>
                            <a:srgbClr val="1B2733"/>
                          </a:solidFill>
                          <a:latin typeface="Calibri"/>
                        </a:rPr>
                        <a:t>₹2,660 crore base (₹240–19,400 crore); ≈78,000 MTU</a:t>
                      </a:r>
                    </a:p>
                  </a:txBody>
                  <a:tcPr marL="54864" marR="54864" marT="27432" marB="27432">
                    <a:solidFill>
                      <a:srgbClr val="EEF5FC"/>
                    </a:solidFill>
                  </a:tcPr>
                </a:tc>
                <a:tc>
                  <a:txBody>
                    <a:bodyPr wrap="square"/>
                    <a:lstStyle/>
                    <a:p>
                      <a:r>
                        <a:rPr sz="1200" b="0" i="0">
                          <a:solidFill>
                            <a:srgbClr val="1B2733"/>
                          </a:solidFill>
                          <a:latin typeface="Calibri"/>
                        </a:rPr>
                        <a:t>₹27,000 crore rested on simulated data and planned payments</a:t>
                      </a:r>
                    </a:p>
                  </a:txBody>
                  <a:tcPr marL="54864" marR="54864" marT="27432" marB="27432">
                    <a:solidFill>
                      <a:srgbClr val="EEF5FC"/>
                    </a:solidFill>
                  </a:tcPr>
                </a:tc>
              </a:tr>
              <a:tr h="457200">
                <a:tc>
                  <a:txBody>
                    <a:bodyPr wrap="square"/>
                    <a:lstStyle/>
                    <a:p>
                      <a:r>
                        <a:rPr sz="1200" b="1" i="0">
                          <a:solidFill>
                            <a:srgbClr val="1B2733"/>
                          </a:solidFill>
                          <a:latin typeface="Calibri"/>
                        </a:rPr>
                        <a:t>Pilot</a:t>
                      </a:r>
                    </a:p>
                  </a:txBody>
                  <a:tcPr marL="54864" marR="54864" marT="27432" marB="27432">
                    <a:solidFill>
                      <a:srgbClr val="FFFFFF"/>
                    </a:solidFill>
                  </a:tcPr>
                </a:tc>
                <a:tc>
                  <a:txBody>
                    <a:bodyPr wrap="square"/>
                    <a:lstStyle/>
                    <a:p>
                      <a:r>
                        <a:rPr sz="1200" b="0" i="0">
                          <a:solidFill>
                            <a:srgbClr val="1B2733"/>
                          </a:solidFill>
                          <a:latin typeface="Calibri"/>
                        </a:rPr>
                        <a:t>500 Andheri merchants vs control; 30% share by month 12</a:t>
                      </a:r>
                    </a:p>
                  </a:txBody>
                  <a:tcPr marL="54864" marR="54864" marT="27432" marB="27432">
                    <a:solidFill>
                      <a:srgbClr val="FFFFFF"/>
                    </a:solidFill>
                  </a:tcPr>
                </a:tc>
                <a:tc>
                  <a:txBody>
                    <a:bodyPr wrap="square"/>
                    <a:lstStyle/>
                    <a:p>
                      <a:r>
                        <a:rPr sz="1200" b="0" i="0">
                          <a:solidFill>
                            <a:srgbClr val="1B2733"/>
                          </a:solidFill>
                          <a:latin typeface="Calibri"/>
                        </a:rPr>
                        <a:t>90 days, territory-randomised, 3,000 vs 3,000; ITT +4–6 pts; gates</a:t>
                      </a:r>
                    </a:p>
                  </a:txBody>
                  <a:tcPr marL="54864" marR="54864" marT="27432" marB="27432">
                    <a:solidFill>
                      <a:srgbClr val="FFFFFF"/>
                    </a:solidFill>
                  </a:tcPr>
                </a:tc>
                <a:tc>
                  <a:txBody>
                    <a:bodyPr wrap="square"/>
                    <a:lstStyle/>
                    <a:p>
                      <a:r>
                        <a:rPr sz="1200" b="0" i="0">
                          <a:solidFill>
                            <a:srgbClr val="1B2733"/>
                          </a:solidFill>
                          <a:latin typeface="Calibri"/>
                        </a:rPr>
                        <a:t>Prove incrementality before scale</a:t>
                      </a:r>
                    </a:p>
                  </a:txBody>
                  <a:tcPr marL="54864" marR="54864" marT="27432" marB="27432">
                    <a:solidFill>
                      <a:srgbClr val="FFFFFF"/>
                    </a:solidFill>
                  </a:tcPr>
                </a:tc>
              </a:tr>
              <a:tr h="457200">
                <a:tc>
                  <a:txBody>
                    <a:bodyPr wrap="square"/>
                    <a:lstStyle/>
                    <a:p>
                      <a:r>
                        <a:rPr sz="1200" b="1" i="0">
                          <a:solidFill>
                            <a:srgbClr val="1B2733"/>
                          </a:solidFill>
                          <a:latin typeface="Calibri"/>
                        </a:rPr>
                        <a:t>Evidence</a:t>
                      </a:r>
                    </a:p>
                  </a:txBody>
                  <a:tcPr marL="54864" marR="54864" marT="27432" marB="27432">
                    <a:solidFill>
                      <a:srgbClr val="EEF5FC"/>
                    </a:solidFill>
                  </a:tcPr>
                </a:tc>
                <a:tc>
                  <a:txBody>
                    <a:bodyPr wrap="square"/>
                    <a:lstStyle/>
                    <a:p>
                      <a:r>
                        <a:rPr sz="1200" b="0" i="0">
                          <a:solidFill>
                            <a:srgbClr val="1B2733"/>
                          </a:solidFill>
                          <a:latin typeface="Calibri"/>
                        </a:rPr>
                        <a:t>'VOC dataset, n=50 Andheri merchants'</a:t>
                      </a:r>
                    </a:p>
                  </a:txBody>
                  <a:tcPr marL="54864" marR="54864" marT="27432" marB="27432">
                    <a:solidFill>
                      <a:srgbClr val="EEF5FC"/>
                    </a:solidFill>
                  </a:tcPr>
                </a:tc>
                <a:tc>
                  <a:txBody>
                    <a:bodyPr wrap="square"/>
                    <a:lstStyle/>
                    <a:p>
                      <a:r>
                        <a:rPr sz="1200" b="0" i="0">
                          <a:solidFill>
                            <a:srgbClr val="1B2733"/>
                          </a:solidFill>
                          <a:latin typeface="Calibri"/>
                        </a:rPr>
                        <a:t>Synthetic set disclosed as such; ≥20-user validation added</a:t>
                      </a:r>
                    </a:p>
                  </a:txBody>
                  <a:tcPr marL="54864" marR="54864" marT="27432" marB="27432">
                    <a:solidFill>
                      <a:srgbClr val="EEF5FC"/>
                    </a:solidFill>
                  </a:tcPr>
                </a:tc>
                <a:tc>
                  <a:txBody>
                    <a:bodyPr wrap="square"/>
                    <a:lstStyle/>
                    <a:p>
                      <a:r>
                        <a:rPr sz="1200" b="0" i="0">
                          <a:solidFill>
                            <a:srgbClr val="1B2733"/>
                          </a:solidFill>
                          <a:latin typeface="Calibri"/>
                        </a:rPr>
                        <a:t>Keep hypothesis and evidence separate</a:t>
                      </a:r>
                    </a:p>
                  </a:txBody>
                  <a:tcPr marL="54864" marR="54864" marT="27432" marB="27432">
                    <a:solidFill>
                      <a:srgbClr val="EEF5FC"/>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yebrow"/>
          <p:cNvSpPr txBox="1"/>
          <p:nvPr/>
        </p:nvSpPr>
        <p:spPr>
          <a:xfrm>
            <a:off x="548640" y="274320"/>
            <a:ext cx="8686800" cy="256032"/>
          </a:xfrm>
          <a:prstGeom prst="rect">
            <a:avLst/>
          </a:prstGeom>
          <a:noFill/>
        </p:spPr>
        <p:txBody>
          <a:bodyPr wrap="square" lIns="36576" rIns="36576" tIns="36576" bIns="36576" anchor="t">
            <a:noAutofit/>
          </a:bodyPr>
          <a:lstStyle/>
          <a:p>
            <a:pPr algn="l"/>
            <a:r>
              <a:rPr sz="1100" b="1" i="0">
                <a:solidFill>
                  <a:srgbClr val="5B6B7C"/>
                </a:solidFill>
                <a:latin typeface="Calibri"/>
              </a:rPr>
              <a:t>ANNEXURE A8</a:t>
            </a:r>
          </a:p>
        </p:txBody>
      </p:sp>
      <p:sp>
        <p:nvSpPr>
          <p:cNvPr id="3" name="Title"/>
          <p:cNvSpPr txBox="1"/>
          <p:nvPr/>
        </p:nvSpPr>
        <p:spPr>
          <a:xfrm>
            <a:off x="548640" y="548640"/>
            <a:ext cx="11091672" cy="1005840"/>
          </a:xfrm>
          <a:prstGeom prst="rect">
            <a:avLst/>
          </a:prstGeom>
          <a:noFill/>
        </p:spPr>
        <p:txBody>
          <a:bodyPr wrap="square" lIns="36576" rIns="36576" tIns="36576" bIns="36576" anchor="t">
            <a:noAutofit/>
          </a:bodyPr>
          <a:lstStyle/>
          <a:p>
            <a:pPr algn="l">
              <a:lnSpc>
                <a:spcPct val="95000"/>
              </a:lnSpc>
            </a:pPr>
            <a:r>
              <a:rPr sz="2400" b="1" i="0">
                <a:solidFill>
                  <a:srgbClr val="002E6E"/>
                </a:solidFill>
                <a:latin typeface="Calibri"/>
              </a:rPr>
              <a:t>Validation interview guide (≥20 target merchants)</a:t>
            </a:r>
          </a:p>
        </p:txBody>
      </p:sp>
      <p:sp>
        <p:nvSpPr>
          <p:cNvPr id="4" name="FooterTag"/>
          <p:cNvSpPr txBox="1"/>
          <p:nvPr/>
        </p:nvSpPr>
        <p:spPr>
          <a:xfrm>
            <a:off x="548640" y="6400800"/>
            <a:ext cx="1554480" cy="274320"/>
          </a:xfrm>
          <a:prstGeom prst="rect">
            <a:avLst/>
          </a:prstGeom>
          <a:noFill/>
        </p:spPr>
        <p:txBody>
          <a:bodyPr wrap="square" lIns="36576" rIns="36576" tIns="36576" bIns="36576" anchor="t">
            <a:noAutofit/>
          </a:bodyPr>
          <a:lstStyle/>
          <a:p>
            <a:pPr algn="l"/>
            <a:r>
              <a:rPr sz="900" b="1" i="0">
                <a:solidFill>
                  <a:srgbClr val="5B6B7C"/>
                </a:solidFill>
                <a:latin typeface="Calibri"/>
              </a:rPr>
              <a:t>Track B · Paytitude</a:t>
            </a:r>
          </a:p>
        </p:txBody>
      </p:sp>
      <p:sp>
        <p:nvSpPr>
          <p:cNvPr id="5" name="Sources"/>
          <p:cNvSpPr txBox="1"/>
          <p:nvPr/>
        </p:nvSpPr>
        <p:spPr>
          <a:xfrm>
            <a:off x="2148840" y="6382512"/>
            <a:ext cx="9144000" cy="384048"/>
          </a:xfrm>
          <a:prstGeom prst="rect">
            <a:avLst/>
          </a:prstGeom>
          <a:noFill/>
        </p:spPr>
        <p:txBody>
          <a:bodyPr wrap="square" lIns="36576" rIns="36576" tIns="36576" bIns="36576" anchor="t">
            <a:noAutofit/>
          </a:bodyPr>
          <a:lstStyle/>
          <a:p>
            <a:pPr algn="l"/>
            <a:r>
              <a:rPr sz="900" b="0" i="0">
                <a:solidFill>
                  <a:srgbClr val="5B6B7C"/>
                </a:solidFill>
                <a:latin typeface="Calibri"/>
              </a:rPr>
              <a:t>One row per merchant in workbook 'Validation_Log'. Only observed actions and explicit commitments count as 'did or committed'.</a:t>
            </a:r>
          </a:p>
        </p:txBody>
      </p:sp>
      <p:sp>
        <p:nvSpPr>
          <p:cNvPr id="6" name="SlideNo"/>
          <p:cNvSpPr txBox="1"/>
          <p:nvPr/>
        </p:nvSpPr>
        <p:spPr>
          <a:xfrm>
            <a:off x="11274552" y="6400800"/>
            <a:ext cx="365760" cy="274320"/>
          </a:xfrm>
          <a:prstGeom prst="rect">
            <a:avLst/>
          </a:prstGeom>
          <a:noFill/>
        </p:spPr>
        <p:txBody>
          <a:bodyPr wrap="square" lIns="36576" rIns="36576" tIns="36576" bIns="36576" anchor="t">
            <a:noAutofit/>
          </a:bodyPr>
          <a:lstStyle/>
          <a:p>
            <a:pPr algn="r"/>
            <a:r>
              <a:rPr sz="900" b="1" i="0">
                <a:solidFill>
                  <a:srgbClr val="5B6B7C"/>
                </a:solidFill>
                <a:latin typeface="Calibri"/>
              </a:rPr>
              <a:t>A8</a:t>
            </a:r>
          </a:p>
        </p:txBody>
      </p:sp>
      <p:graphicFrame>
        <p:nvGraphicFramePr>
          <p:cNvPr id="7" name="a8_guide"/>
          <p:cNvGraphicFramePr>
            <a:graphicFrameLocks noGrp="1"/>
          </p:cNvGraphicFramePr>
          <p:nvPr/>
        </p:nvGraphicFramePr>
        <p:xfrm>
          <a:off x="548640" y="1691640"/>
          <a:ext cx="11091671" cy="3950208"/>
        </p:xfrm>
        <a:graphic>
          <a:graphicData uri="http://schemas.openxmlformats.org/drawingml/2006/table">
            <a:tbl>
              <a:tblPr firstRow="1">
                <a:tableStyleId>{5C22544A-7EE6-4342-B048-85BDC9FD1C3A}</a:tableStyleId>
              </a:tblPr>
              <a:tblGrid>
                <a:gridCol w="2834640"/>
                <a:gridCol w="8257031"/>
              </a:tblGrid>
              <a:tr h="329184">
                <a:tc>
                  <a:txBody>
                    <a:bodyPr wrap="square"/>
                    <a:lstStyle/>
                    <a:p>
                      <a:r>
                        <a:rPr sz="1200" b="1" i="0">
                          <a:solidFill>
                            <a:srgbClr val="FFFFFF"/>
                          </a:solidFill>
                          <a:latin typeface="Calibri"/>
                        </a:rPr>
                        <a:t>Step</a:t>
                      </a:r>
                    </a:p>
                  </a:txBody>
                  <a:tcPr marL="54864" marR="54864" marT="27432" marB="27432">
                    <a:solidFill>
                      <a:srgbClr val="002E6E"/>
                    </a:solidFill>
                  </a:tcPr>
                </a:tc>
                <a:tc>
                  <a:txBody>
                    <a:bodyPr wrap="square"/>
                    <a:lstStyle/>
                    <a:p>
                      <a:r>
                        <a:rPr sz="1200" b="1" i="0">
                          <a:solidFill>
                            <a:srgbClr val="FFFFFF"/>
                          </a:solidFill>
                          <a:latin typeface="Calibri"/>
                        </a:rPr>
                        <a:t>What we do and record</a:t>
                      </a:r>
                    </a:p>
                  </a:txBody>
                  <a:tcPr marL="54864" marR="54864" marT="27432" marB="27432">
                    <a:solidFill>
                      <a:srgbClr val="002E6E"/>
                    </a:solidFill>
                  </a:tcPr>
                </a:tc>
              </a:tr>
              <a:tr h="402336">
                <a:tc>
                  <a:txBody>
                    <a:bodyPr wrap="square"/>
                    <a:lstStyle/>
                    <a:p>
                      <a:r>
                        <a:rPr sz="1200" b="1" i="0">
                          <a:solidFill>
                            <a:srgbClr val="1B2733"/>
                          </a:solidFill>
                          <a:latin typeface="Calibri"/>
                        </a:rPr>
                        <a:t>Screener (all true)</a:t>
                      </a:r>
                    </a:p>
                  </a:txBody>
                  <a:tcPr marL="54864" marR="54864" marT="27432" marB="27432">
                    <a:solidFill>
                      <a:srgbClr val="FFFFFF"/>
                    </a:solidFill>
                  </a:tcPr>
                </a:tc>
                <a:tc>
                  <a:txBody>
                    <a:bodyPr wrap="square"/>
                    <a:lstStyle/>
                    <a:p>
                      <a:r>
                        <a:rPr sz="1200" b="0" i="0">
                          <a:solidFill>
                            <a:srgbClr val="1B2733"/>
                          </a:solidFill>
                          <a:latin typeface="Calibri"/>
                        </a:rPr>
                        <a:t>Owner or app-chooser; collects on a Paytm QR or Soundbox; pays a vendor by UPI weekly; settlement profile recorded</a:t>
                      </a:r>
                    </a:p>
                  </a:txBody>
                  <a:tcPr marL="54864" marR="54864" marT="27432" marB="27432">
                    <a:solidFill>
                      <a:srgbClr val="FFFFFF"/>
                    </a:solidFill>
                  </a:tcPr>
                </a:tc>
              </a:tr>
              <a:tr h="402336">
                <a:tc>
                  <a:txBody>
                    <a:bodyPr wrap="square"/>
                    <a:lstStyle/>
                    <a:p>
                      <a:r>
                        <a:rPr sz="1200" b="1" i="0">
                          <a:solidFill>
                            <a:srgbClr val="1B2733"/>
                          </a:solidFill>
                          <a:latin typeface="Calibri"/>
                        </a:rPr>
                        <a:t>1 · Last five payments</a:t>
                      </a:r>
                    </a:p>
                  </a:txBody>
                  <a:tcPr marL="54864" marR="54864" marT="27432" marB="27432">
                    <a:solidFill>
                      <a:srgbClr val="EEF5FC"/>
                    </a:solidFill>
                  </a:tcPr>
                </a:tc>
                <a:tc>
                  <a:txBody>
                    <a:bodyPr wrap="square"/>
                    <a:lstStyle/>
                    <a:p>
                      <a:r>
                        <a:rPr sz="1200" b="0" i="0">
                          <a:solidFill>
                            <a:srgbClr val="1B2733"/>
                          </a:solidFill>
                          <a:latin typeface="Calibri"/>
                        </a:rPr>
                        <a:t>Open the phone's UPI history together: app, amount, payee, time, paying account (observed, not estimated)</a:t>
                      </a:r>
                    </a:p>
                  </a:txBody>
                  <a:tcPr marL="54864" marR="54864" marT="27432" marB="27432">
                    <a:solidFill>
                      <a:srgbClr val="EEF5FC"/>
                    </a:solidFill>
                  </a:tcPr>
                </a:tc>
              </a:tr>
              <a:tr h="402336">
                <a:tc>
                  <a:txBody>
                    <a:bodyPr wrap="square"/>
                    <a:lstStyle/>
                    <a:p>
                      <a:r>
                        <a:rPr sz="1200" b="1" i="0">
                          <a:solidFill>
                            <a:srgbClr val="1B2733"/>
                          </a:solidFill>
                          <a:latin typeface="Calibri"/>
                        </a:rPr>
                        <a:t>2 · Settlement reality</a:t>
                      </a:r>
                    </a:p>
                  </a:txBody>
                  <a:tcPr marL="54864" marR="54864" marT="27432" marB="27432">
                    <a:solidFill>
                      <a:srgbClr val="FFFFFF"/>
                    </a:solidFill>
                  </a:tcPr>
                </a:tc>
                <a:tc>
                  <a:txBody>
                    <a:bodyPr wrap="square"/>
                    <a:lstStyle/>
                    <a:p>
                      <a:r>
                        <a:rPr sz="1200" b="0" i="0">
                          <a:solidFill>
                            <a:srgbClr val="1B2733"/>
                          </a:solidFill>
                          <a:latin typeface="Calibri"/>
                        </a:rPr>
                        <a:t>When did yesterday's collections reach the bank? Ever settled instantly in Paytm for Business (last 30 days)?</a:t>
                      </a:r>
                    </a:p>
                  </a:txBody>
                  <a:tcPr marL="54864" marR="54864" marT="27432" marB="27432">
                    <a:solidFill>
                      <a:srgbClr val="FFFFFF"/>
                    </a:solidFill>
                  </a:tcPr>
                </a:tc>
              </a:tr>
              <a:tr h="402336">
                <a:tc>
                  <a:txBody>
                    <a:bodyPr wrap="square"/>
                    <a:lstStyle/>
                    <a:p>
                      <a:r>
                        <a:rPr sz="1200" b="1" i="0">
                          <a:solidFill>
                            <a:srgbClr val="1B2733"/>
                          </a:solidFill>
                          <a:latin typeface="Calibri"/>
                        </a:rPr>
                        <a:t>3 · Friction moment</a:t>
                      </a:r>
                    </a:p>
                  </a:txBody>
                  <a:tcPr marL="54864" marR="54864" marT="27432" marB="27432">
                    <a:solidFill>
                      <a:srgbClr val="EEF5FC"/>
                    </a:solidFill>
                  </a:tcPr>
                </a:tc>
                <a:tc>
                  <a:txBody>
                    <a:bodyPr wrap="square"/>
                    <a:lstStyle/>
                    <a:p>
                      <a:r>
                        <a:rPr sz="1200" b="0" i="0">
                          <a:solidFill>
                            <a:srgbClr val="1B2733"/>
                          </a:solidFill>
                          <a:latin typeface="Calibri"/>
                        </a:rPr>
                        <a:t>Last time a supplier had to be paid before the money was usable: date and workaround</a:t>
                      </a:r>
                    </a:p>
                  </a:txBody>
                  <a:tcPr marL="54864" marR="54864" marT="27432" marB="27432">
                    <a:solidFill>
                      <a:srgbClr val="EEF5FC"/>
                    </a:solidFill>
                  </a:tcPr>
                </a:tc>
              </a:tr>
              <a:tr h="402336">
                <a:tc>
                  <a:txBody>
                    <a:bodyPr wrap="square"/>
                    <a:lstStyle/>
                    <a:p>
                      <a:r>
                        <a:rPr sz="1200" b="1" i="0">
                          <a:solidFill>
                            <a:srgbClr val="1B2733"/>
                          </a:solidFill>
                          <a:latin typeface="Calibri"/>
                        </a:rPr>
                        <a:t>4 · Prototype task</a:t>
                      </a:r>
                    </a:p>
                  </a:txBody>
                  <a:tcPr marL="54864" marR="54864" marT="27432" marB="27432">
                    <a:solidFill>
                      <a:srgbClr val="FFFFFF"/>
                    </a:solidFill>
                  </a:tcPr>
                </a:tc>
                <a:tc>
                  <a:txBody>
                    <a:bodyPr wrap="square"/>
                    <a:lstStyle/>
                    <a:p>
                      <a:r>
                        <a:rPr sz="1200" b="0" i="0">
                          <a:solidFill>
                            <a:srgbClr val="1B2733"/>
                          </a:solidFill>
                          <a:latin typeface="Calibri"/>
                        </a:rPr>
                        <a:t>'Pay Sharma Traders ₹6,800 from today's collections': unaided completion Y/N, time, errors (observed)</a:t>
                      </a:r>
                    </a:p>
                  </a:txBody>
                  <a:tcPr marL="54864" marR="54864" marT="27432" marB="27432">
                    <a:solidFill>
                      <a:srgbClr val="FFFFFF"/>
                    </a:solidFill>
                  </a:tcPr>
                </a:tc>
              </a:tr>
              <a:tr h="402336">
                <a:tc>
                  <a:txBody>
                    <a:bodyPr wrap="square"/>
                    <a:lstStyle/>
                    <a:p>
                      <a:r>
                        <a:rPr sz="1200" b="1" i="0">
                          <a:solidFill>
                            <a:srgbClr val="1B2733"/>
                          </a:solidFill>
                          <a:latin typeface="Calibri"/>
                        </a:rPr>
                        <a:t>5 · Choice on real payments</a:t>
                      </a:r>
                    </a:p>
                  </a:txBody>
                  <a:tcPr marL="54864" marR="54864" marT="27432" marB="27432">
                    <a:solidFill>
                      <a:srgbClr val="EEF5FC"/>
                    </a:solidFill>
                  </a:tcPr>
                </a:tc>
                <a:tc>
                  <a:txBody>
                    <a:bodyPr wrap="square"/>
                    <a:lstStyle/>
                    <a:p>
                      <a:r>
                        <a:rPr sz="1200" b="0" i="0">
                          <a:solidFill>
                            <a:srgbClr val="1B2733"/>
                          </a:solidFill>
                          <a:latin typeface="Calibri"/>
                        </a:rPr>
                        <a:t>Of the last five payments, which would they make with Settle &amp; Pay? (count of five)</a:t>
                      </a:r>
                    </a:p>
                  </a:txBody>
                  <a:tcPr marL="54864" marR="54864" marT="27432" marB="27432">
                    <a:solidFill>
                      <a:srgbClr val="EEF5FC"/>
                    </a:solidFill>
                  </a:tcPr>
                </a:tc>
              </a:tr>
              <a:tr h="402336">
                <a:tc>
                  <a:txBody>
                    <a:bodyPr wrap="square"/>
                    <a:lstStyle/>
                    <a:p>
                      <a:r>
                        <a:rPr sz="1200" b="1" i="0">
                          <a:solidFill>
                            <a:srgbClr val="1B2733"/>
                          </a:solidFill>
                          <a:latin typeface="Calibri"/>
                        </a:rPr>
                        <a:t>6 · Commitment asks</a:t>
                      </a:r>
                    </a:p>
                  </a:txBody>
                  <a:tcPr marL="54864" marR="54864" marT="27432" marB="27432">
                    <a:solidFill>
                      <a:srgbClr val="FFFFFF"/>
                    </a:solidFill>
                  </a:tcPr>
                </a:tc>
                <a:tc>
                  <a:txBody>
                    <a:bodyPr wrap="square"/>
                    <a:lstStyle/>
                    <a:p>
                      <a:r>
                        <a:rPr sz="1200" b="0" i="0">
                          <a:solidFill>
                            <a:srgbClr val="1B2733"/>
                          </a:solidFill>
                          <a:latin typeface="Calibri"/>
                        </a:rPr>
                        <a:t>Name an upcoming supplier payment to move · agree to a 7-day follow-up · enable instant settlement now</a:t>
                      </a:r>
                    </a:p>
                  </a:txBody>
                  <a:tcPr marL="54864" marR="54864" marT="27432" marB="27432">
                    <a:solidFill>
                      <a:srgbClr val="FFFFFF"/>
                    </a:solidFill>
                  </a:tcPr>
                </a:tc>
              </a:tr>
              <a:tr h="402336">
                <a:tc>
                  <a:txBody>
                    <a:bodyPr wrap="square"/>
                    <a:lstStyle/>
                    <a:p>
                      <a:r>
                        <a:rPr sz="1200" b="1" i="0">
                          <a:solidFill>
                            <a:srgbClr val="1B2733"/>
                          </a:solidFill>
                          <a:latin typeface="Calibri"/>
                        </a:rPr>
                        <a:t>7 · Objections</a:t>
                      </a:r>
                    </a:p>
                  </a:txBody>
                  <a:tcPr marL="54864" marR="54864" marT="27432" marB="27432">
                    <a:solidFill>
                      <a:srgbClr val="EEF5FC"/>
                    </a:solidFill>
                  </a:tcPr>
                </a:tc>
                <a:tc>
                  <a:txBody>
                    <a:bodyPr wrap="square"/>
                    <a:lstStyle/>
                    <a:p>
                      <a:r>
                        <a:rPr sz="1200" b="0" i="0">
                          <a:solidFill>
                            <a:srgbClr val="1B2733"/>
                          </a:solidFill>
                          <a:latin typeface="Calibri"/>
                        </a:rPr>
                        <a:t>'What would stop you tomorrow?' coded: trust, habit, supplier, staff, account set-up, other</a:t>
                      </a:r>
                    </a:p>
                  </a:txBody>
                  <a:tcPr marL="54864" marR="54864" marT="27432" marB="27432">
                    <a:solidFill>
                      <a:srgbClr val="EEF5FC"/>
                    </a:solidFill>
                  </a:tcPr>
                </a:tc>
              </a:tr>
              <a:tr h="402336">
                <a:tc>
                  <a:txBody>
                    <a:bodyPr wrap="square"/>
                    <a:lstStyle/>
                    <a:p>
                      <a:r>
                        <a:rPr sz="1200" b="1" i="0">
                          <a:solidFill>
                            <a:srgbClr val="1B2733"/>
                          </a:solidFill>
                          <a:latin typeface="Calibri"/>
                        </a:rPr>
                        <a:t>Recording rules</a:t>
                      </a:r>
                    </a:p>
                  </a:txBody>
                  <a:tcPr marL="54864" marR="54864" marT="27432" marB="27432">
                    <a:solidFill>
                      <a:srgbClr val="FFFFFF"/>
                    </a:solidFill>
                  </a:tcPr>
                </a:tc>
                <a:tc>
                  <a:txBody>
                    <a:bodyPr wrap="square"/>
                    <a:lstStyle/>
                    <a:p>
                      <a:r>
                        <a:rPr sz="1200" b="0" i="0">
                          <a:solidFill>
                            <a:srgbClr val="1B2733"/>
                          </a:solidFill>
                          <a:latin typeface="Calibri"/>
                        </a:rPr>
                        <a:t>Each answer marked observed or stated; no incentives tied to answers; anonymised; one row per merchant</a:t>
                      </a:r>
                    </a:p>
                  </a:txBody>
                  <a:tcPr marL="54864" marR="54864" marT="27432" marB="27432">
                    <a:solidFill>
                      <a:srgbClr val="FFFFFF"/>
                    </a:solidFill>
                  </a:tcPr>
                </a:tc>
              </a:tr>
            </a:tbl>
          </a:graphicData>
        </a:graphic>
      </p:graphicFrame>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